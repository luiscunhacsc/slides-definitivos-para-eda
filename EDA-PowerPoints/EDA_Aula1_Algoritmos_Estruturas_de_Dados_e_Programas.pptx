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1. Apresentação do docente e da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prévio: os alunos ficam a saber, logo no início, as três partes da aula e como se ligam.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Pergunta-gancho (ativação de conhecimento prévio + curiosidade). Pedir votação de braço no ar. A resposta (D, ~20 passos com pesquisa binária) aparece no diapositivo "Mesmo problema, algoritmos diferentes".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 de Levitin (2011). Sublinhar as quatro palavras-chave a laranja; o diagrama mostra que o algoritmo é independente de quem o executa ("computador" entre aspas: pode ser uma pessoa).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concreta para ancorar o conceito abstrato (dual coding: palavra + estrutura visual). Perguntar: "o que acontece se a receita disser 'sal q.b.'?" → ambiguidade.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cartão = uma ideia (segmentação). As ideias 4 e 5 preparam o exemplo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à pergunta de abertura: D. Pesquisa sequencial: no pior caso n comparações. Pesquisa binária (lista ordenada): cerca de log2(n) ≈ 20 para 1 000 000. Não é preciso ainda formalizar a notação O — fica para o capítulo de complexidade.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de Levitin (2011, fig. 1.2). É iterativo: se a prova ou a análise falharem, voltamos atrás. Relacionar cada nota laranja com o passo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(retrieval practice). Dar 30 segundos para pensarem antes de revelar. Referência à frase de Dijkstra sobre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a mesma pilha de livros, desarrumada ou numa estante por ordem alfabética. O algoritmo de procura depende da arrumação.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apenas a forma de cada família; os detalhes chegam nas próximas semanas. Grafo: vértices (nós) + arestas (arcos). Árvore: grafo conexo e acíclico.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Niklaus Wirth deu este título a um livro em 1976. Erro comum: usar "algoritmo" e "programa" como sinónimos. O mesmo algoritmo pode dar origem a muitos programas (Java, Python, C…).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prática: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Agrupados por família para reduzir carga cognitiva: inteiros, reais, lógico, carácter. Notar: boolean representa 1 bit de informação, mas o espaço real ocupado depende da JVM. char guarda um carácter Unicode (UTF-16), não apenas ASCII.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antes do código (organizador prévio). Cores: laranja = estruturas; verde = ferramentas para as manipular.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mental visual de cada estrutura em memória. ArrayList usa internamente um array que é substituído por um maior quando enche (ligação ao exercício 3). LinkedList: cada nó guarda o valor e referências ao vizinho.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Análise e discussão guiada do projeto, package a package. Cada package acrescenta uma camada ao anterior (sequenciação do simples para o complexo).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crescente (scaffolding). O exercício 2 reutiliza o 1 com outra estrutura; o 3 obriga a perceber o que acontece "por dentro" de um ArrayList.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Visualizar o mecanismo antes de programar. Perguntas para discussão: quem guarda o número de elementos? Qual a diferença entre size e capacidade? O que acontece ao array antigo?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final. Pedir aos alunos que, sem olhar para os diapositivos, expliquem ao colega do lado a diferença entre algoritmo e programa (retrieval + elaboração).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é o manual de referência da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3schools.com/java/java_data_types.as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89720" y="960120"/>
            <a:ext cx="1188720" cy="64008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H="1">
            <a:off x="8275320" y="960120"/>
            <a:ext cx="914400" cy="9144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9646920" y="1600200"/>
            <a:ext cx="731520" cy="82296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874520"/>
            <a:ext cx="1371600" cy="54864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78440" y="1600200"/>
            <a:ext cx="731520" cy="100584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052560" y="822960"/>
            <a:ext cx="274320" cy="27432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0" y="1463040"/>
            <a:ext cx="274320" cy="27432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0" y="1737360"/>
            <a:ext cx="274320" cy="27432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0" y="2286000"/>
            <a:ext cx="274320" cy="2743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00" y="2468880"/>
            <a:ext cx="274320" cy="274320"/>
          </a:xfrm>
          <a:prstGeom prst="ellipse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Algoritmos, Estruturas de Dados e Programas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 ·  as três ideias que sustentam toda a UC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ideias, uma equação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que propriedades tem e como se concebe.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organizamos os dados para que os algoritmos trabalhem bem.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667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667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Programas em Java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duas ideias se juntam: tipos, arrays e listas.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pPr algn="ctr" indent="0" marL="0">
              <a:buNone/>
            </a:pPr>
            <a:r>
              <a:rPr lang="en-US" sz="26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</a:t>
            </a:r>
            <a:pPr algn="ctr" indent="0" marL="0">
              <a:buNone/>
            </a:pPr>
            <a:r>
              <a:rPr lang="en-US" sz="26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 uma lista ordenada com 1 000 000 de nomes.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passos precisa, no máximo, para encontrar o seu?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356616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1 000 000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64992" y="32918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356616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70832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500 000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1344" y="32918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9944" y="356616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9944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87184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696" y="32918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26296" y="356616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03536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 sua resposta. Voltamos a ela daqui a pouco.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antes da cozinha.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algoritmo?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8288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algoritmo é uma sequência de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instruções não ambíguas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resolver um problema, ou seja, para obter um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desejado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qualquer entrada legítima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num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finito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adaptado de Levitin (2011)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16459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89720" y="2286000"/>
            <a:ext cx="0" cy="50292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138160" y="27889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189720" y="3429000"/>
            <a:ext cx="0" cy="54864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138160" y="397764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8160" y="3977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"Computador"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83680" y="4370832"/>
            <a:ext cx="1554480" cy="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1051560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241280" y="4370832"/>
            <a:ext cx="1371600" cy="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58368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"computador" pode ser uma máquina… ou uma pessoa a seguir as instruções.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algoritmo é como uma receita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Ingredientes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(INPUT)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88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Farinha, ovos, açúcar…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977640" y="3017520"/>
            <a:ext cx="41148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16916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da receita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788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Bater 3 ovos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Juntar 200 g de açúcar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Forno a 180 °C, 30 min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63840" y="3017520"/>
            <a:ext cx="41148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321040" y="16916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Bolo pronto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(OUTPUT)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2788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desejado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receita — e um bom algoritmo — tem de ser: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5120640"/>
            <a:ext cx="2606040" cy="7315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120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ambígua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364992" y="5120640"/>
            <a:ext cx="2606040" cy="7315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64992" y="5120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bem definidas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181344" y="5120640"/>
            <a:ext cx="2606040" cy="7315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81344" y="5120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997696" y="5120640"/>
            <a:ext cx="2606040" cy="7315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97696" y="5120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ideias-chave sobre algoritmos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ambiguidade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194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tem de ter um único significado. Isto não é negociável.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42900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 bem definidas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3657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gama de entradas para as quais o algoritmo funciona tem de ser especificada com cuidado.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489204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4709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representações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algoritmo pode ser escrito em português, pseudocódigo, fluxograma ou código.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16459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soluções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194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existir vários algoritmos para resolver o mesmo problema.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31089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342900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465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Velocidades muito diferentes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3657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 diferentes podem resolver o mesmo problema a velocidades dramaticamente diferentes.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7920" y="45720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92240" y="4572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ideias 4 e 5 são a razão de ser desta UC: escolher o algoritmo certo.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problema, algoritmos diferentes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encontrar um nome numa lista ordenada com 1 000 000 de nomes.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sequencial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1.º nome, depois o 2.º, depois o 3.º… até encontrar.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258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830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402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46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11880" y="3566160"/>
            <a:ext cx="384048" cy="384048"/>
          </a:xfrm>
          <a:prstGeom prst="rect">
            <a:avLst/>
          </a:prstGeom>
          <a:solidFill>
            <a:srgbClr val="CFE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69080" y="3566160"/>
            <a:ext cx="384048" cy="384048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26280" y="3566160"/>
            <a:ext cx="384048" cy="384048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83480" y="3566160"/>
            <a:ext cx="384048" cy="384048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5840" y="4160520"/>
            <a:ext cx="3017520" cy="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868680" y="4389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</a:t>
            </a:r>
            <a:endParaRPr lang="en-US" sz="5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no pior caso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17920" y="21031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3796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binária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ao meio; descartar a metade errada; repetir.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537960" y="3520440"/>
            <a:ext cx="4572000" cy="128016"/>
          </a:xfrm>
          <a:prstGeom prst="rect">
            <a:avLst/>
          </a:prstGeom>
          <a:solidFill>
            <a:srgbClr val="F2C6A4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23960" y="3703320"/>
            <a:ext cx="2286000" cy="128016"/>
          </a:xfrm>
          <a:prstGeom prst="rect">
            <a:avLst/>
          </a:prstGeom>
          <a:solidFill>
            <a:srgbClr val="F2C6A4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823960" y="3886200"/>
            <a:ext cx="1143000" cy="128016"/>
          </a:xfrm>
          <a:prstGeom prst="rect">
            <a:avLst/>
          </a:prstGeom>
          <a:solidFill>
            <a:srgbClr val="F2C6A4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23960" y="4069080"/>
            <a:ext cx="566928" cy="128016"/>
          </a:xfrm>
          <a:prstGeom prst="rect">
            <a:avLst/>
          </a:prstGeom>
          <a:solidFill>
            <a:srgbClr val="E77A2D"/>
          </a:solidFill>
          <a:ln w="12700">
            <a:solidFill>
              <a:srgbClr val="F2C6A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37960" y="4389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</a:t>
            </a:r>
            <a:endParaRPr lang="en-US" sz="54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no pior caso  (2²⁰ ≈ 1 000 000)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concebe e analisa um algoritmo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E6F0EE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860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problema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249424" y="2542032"/>
            <a:ext cx="164592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2316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E6F0EE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532888" y="22860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Decidir: meios, exato vs. aproximado, técnica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123944" y="2542032"/>
            <a:ext cx="164592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9768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3484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07408" y="22860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Conceber o algoritmo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98464" y="2542032"/>
            <a:ext cx="164592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17220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81928" y="22860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a correção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872984" y="2542032"/>
            <a:ext cx="164592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04672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8388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156448" y="22860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algoritmo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747504" y="2542032"/>
            <a:ext cx="164592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92124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E6F0EE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0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030968" y="22860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371600" y="1600200"/>
            <a:ext cx="7498080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8869680" y="1600200"/>
            <a:ext cx="0" cy="320040"/>
          </a:xfrm>
          <a:prstGeom prst="line">
            <a:avLst/>
          </a:prstGeom>
          <a:noFill/>
          <a:ln w="15875">
            <a:solidFill>
              <a:srgbClr val="5B6B6E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1371600" y="1600200"/>
            <a:ext cx="0" cy="320040"/>
          </a:xfrm>
          <a:prstGeom prst="line">
            <a:avLst/>
          </a:prstGeom>
          <a:noFill/>
          <a:ln w="15875">
            <a:solidFill>
              <a:srgbClr val="5B6B6E"/>
            </a:solidFill>
            <a:prstDash val="dash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3657600" y="1371600"/>
            <a:ext cx="36576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se algo falhar, volta-se atrás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36576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508760" y="3913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Conceber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45720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+ Estruturas de Dados = Programas. A escolha da estrutura faz parte do desenho.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4297680" y="36576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572000" y="388620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720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257800" y="3913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Provar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0" y="45720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para algumas entradas não prova que o algoritmo está correto.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8046720" y="36576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8321040" y="388620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3210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9006840" y="3913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</a:t>
            </a:r>
            <a:endParaRPr lang="en-US" sz="2000" dirty="0"/>
          </a:p>
        </p:txBody>
      </p:sp>
      <p:sp>
        <p:nvSpPr>
          <p:cNvPr id="48" name="Text 45"/>
          <p:cNvSpPr txBox="1"/>
          <p:nvPr/>
        </p:nvSpPr>
        <p:spPr>
          <a:xfrm>
            <a:off x="8321040" y="45720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no tempo e no espaço, simplicidade e capacidade de generalização.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Testei o meu algoritmo com 50 entradas diferentes e deu sempre o resultado certo.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Posso concluir que está correto?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931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podem mostrar a presença de erros, mas não a sua ausência. A correção demonstra-se para todas as entradas legítimas — por exemplo, por indução matemática.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Arrumar bem para encontrar depressa.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estrutura de dados?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6459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estrutura de dados é </a:t>
            </a:r>
            <a:pPr indent="0" marL="0">
              <a:buNone/>
            </a:pPr>
            <a:r>
              <a:rPr lang="en-US" sz="24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esquema particular de organização de dados relacionados.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00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importa?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maioria dos algoritmos opera sobre dados. A forma como os organizamos determina o que o algoritmo consegue fazer — e a que velocidade.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92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dita a estrutura: desde tipos elementares (inteiros, caracteres) até estruturas complexas (uma matriz = um array de arrays).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09360" y="32004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098280" y="32004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0936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Desarrumado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8368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80960" y="4023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949440" y="4572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138160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381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29400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294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589520" y="5303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26880" y="3977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268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040112" y="3977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40112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753344" y="3977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753344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326880" y="47091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268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040112" y="47091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040112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753344" y="47091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753344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9098280" y="5440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"M"?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famílias fundamentais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7452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em sequência, um a seguir ao outro.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array, lista ligada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87452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 (nós) ligados por arestas (arcos).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redes sociais, mapas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164592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187452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conexos e sem ciclos: há uma hierarquia.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pastas, árvore genealógica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17320" y="2834640"/>
            <a:ext cx="228600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645920" y="2606040"/>
            <a:ext cx="457200" cy="45720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03120" y="2834640"/>
            <a:ext cx="228600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331720" y="2606040"/>
            <a:ext cx="457200" cy="45720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88920" y="2834640"/>
            <a:ext cx="228600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017520" y="2606040"/>
            <a:ext cx="457200" cy="45720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H="1">
            <a:off x="5010912" y="2267712"/>
            <a:ext cx="1188720" cy="9144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H="1">
            <a:off x="4736592" y="2359152"/>
            <a:ext cx="274320" cy="100584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5833872" y="2267712"/>
            <a:ext cx="365760" cy="100584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4736592" y="3273552"/>
            <a:ext cx="1097280" cy="9144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99632" y="2267712"/>
            <a:ext cx="640080" cy="73152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5833872" y="2999232"/>
            <a:ext cx="1005840" cy="27432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10912" y="2359152"/>
            <a:ext cx="822960" cy="9144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46320" y="2194560"/>
            <a:ext cx="329184" cy="32918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35040" y="2103120"/>
            <a:ext cx="329184" cy="32918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3200400"/>
            <a:ext cx="329184" cy="32918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0" y="3108960"/>
            <a:ext cx="329184" cy="32918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75120" y="2834640"/>
            <a:ext cx="329184" cy="329184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8933688" y="2212848"/>
            <a:ext cx="658368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592056" y="2212848"/>
            <a:ext cx="667512" cy="68580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H="1">
            <a:off x="8567928" y="2898648"/>
            <a:ext cx="365760" cy="59436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33688" y="2898648"/>
            <a:ext cx="365760" cy="59436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259568" y="2898648"/>
            <a:ext cx="0" cy="594360"/>
          </a:xfrm>
          <a:prstGeom prst="line">
            <a:avLst/>
          </a:prstGeom>
          <a:noFill/>
          <a:ln w="19050">
            <a:solidFill>
              <a:srgbClr val="2E7D7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436608" y="2057400"/>
            <a:ext cx="310896" cy="310896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78240" y="2743200"/>
            <a:ext cx="310896" cy="31089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104120" y="2743200"/>
            <a:ext cx="310896" cy="31089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412480" y="3337560"/>
            <a:ext cx="310896" cy="31089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44000" y="3337560"/>
            <a:ext cx="310896" cy="31089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104120" y="3337560"/>
            <a:ext cx="310896" cy="31089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algoritmo encontra a estrutura.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EQUAÇÃO DE WIRTH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≠ Programa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017520" cy="100584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645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657600" cy="100584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1645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8686800" y="1645920"/>
            <a:ext cx="2926080" cy="100584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Wirth, N. (1976). Algorithms + Data Structures = Programs.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53949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3383280"/>
            <a:ext cx="5394960" cy="2606040"/>
          </a:xfrm>
          <a:prstGeom prst="roundRect">
            <a:avLst>
              <a:gd name="adj" fmla="val 4211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1148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ideia: o método para resolver o problema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da linguagem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escrito em português ou pseudocódigo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41148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concretização: implementação específica do algoritmo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numa linguagem concreta (ex.: Java)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→ muitos programas possíveis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 Básicas em Java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ideias ao código.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 tipos de dados primitivos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280160"/>
                <a:gridCol w="6766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guarda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47548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byte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Inteiros de −128 a 127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short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Inteiros de −32 768 a 32 767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Inteiros de −2 147 483 648 a 2 147 483 647  (≈ ±2,1 mil milhões)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Inteiros até ≈ ±9,2 × 10¹⁸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decimais, ≈ 6 a 7 dígitos de precisão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decimais, ≈ 15 dígitos de precisão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ou false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Carácter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carácter Unicode (ex.: 'A', 'ç')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1 bit de informação; o espaço efetivamente ocupado depende da JVM.   ·   String não é primitivo: é uma classe.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do que vamos explorar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ESSENCIAIS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fixo, acesso direto por índice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v = new int[5];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5196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8056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que cresce automaticamente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06324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62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l = new ArrayList&lt;&gt;();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multidimensionais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453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listas (tabelas, matrizes)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5074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List&lt;List&lt;Integer&gt;&gt; m;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5196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48056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4453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ligados por referências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434840" y="5074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l = new LinkedList&lt;&gt;();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1838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183880" y="18745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genéricas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841248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List&lt;T&gt;, Collection&lt;T&gt;: programar para o "contrato", não para a implementação.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83880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1248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Iteradores e vistas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e observar coleções de forma segura e uniforme.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Array, ArrayList e LinkedList lado a lado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3816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6676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" y="2377440"/>
            <a:ext cx="566928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37744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389888" y="2377440"/>
            <a:ext cx="566928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389888" y="237744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956816" y="2377440"/>
            <a:ext cx="566928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56816" y="237744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956816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23744" y="2377440"/>
            <a:ext cx="566928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23744" y="237744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090672" y="2377440"/>
            <a:ext cx="566928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90672" y="237744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090672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fixo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0" y="2377440"/>
            <a:ext cx="502920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0" y="2377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074920" y="2377440"/>
            <a:ext cx="502920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74920" y="2377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577840" y="2377440"/>
            <a:ext cx="502920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77840" y="2377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080760" y="2377440"/>
            <a:ext cx="502920" cy="54864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080760" y="2377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83680" y="2377440"/>
            <a:ext cx="50292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CFE3DF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7086600" y="2377440"/>
            <a:ext cx="50292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CFE3DF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457200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interno com espaço livre; cresce quando enche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366760" y="237744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66760" y="2377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061704" y="2651760"/>
            <a:ext cx="347472" cy="0"/>
          </a:xfrm>
          <a:prstGeom prst="line">
            <a:avLst/>
          </a:prstGeom>
          <a:noFill/>
          <a:ln w="19050">
            <a:solidFill>
              <a:srgbClr val="0B3F3C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418320" y="237744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18320" y="2377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0113264" y="2651760"/>
            <a:ext cx="347472" cy="0"/>
          </a:xfrm>
          <a:prstGeom prst="line">
            <a:avLst/>
          </a:prstGeom>
          <a:noFill/>
          <a:ln w="19050">
            <a:solidFill>
              <a:srgbClr val="0B3F3C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0469880" y="237744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469880" y="2377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83667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ligados por referências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Dinâmico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Dinâmico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Aceder ao elemento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Percorre desde o início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Inserir no início/meio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Desloca elementos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Desloca elementos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religa referências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BasicDataStructures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analisar e discutir o projeto em quatro passos, do mais simples ao mais rico: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3063240"/>
            <a:ext cx="9966960" cy="0"/>
          </a:xfrm>
          <a:prstGeom prst="line">
            <a:avLst/>
          </a:prstGeom>
          <a:noFill/>
          <a:ln w="50800">
            <a:solidFill>
              <a:srgbClr val="CF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97480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434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primitivos e String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566160" y="2697480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383280" y="3749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61188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4434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400800" y="2697480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17920" y="3749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465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434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 e LinkedList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235440" y="2697480"/>
            <a:ext cx="731520" cy="7315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354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052560" y="3749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28116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example4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281160" y="4434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Interfaces, iteradores e vistas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Aquecimento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70992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programa em Java que encontre o valor mínimo e o valor máximo num array de inteiros e calcule a média de todos os valores.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29768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Transferência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5896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1500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7103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0" y="27889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o exercício anterior utilizando um ArrayList ou uma LinkedList. O que muda no código? O que fica igual?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804672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18972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20800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6404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20072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27889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a sua própria versão da classe ArrayList para Strings, com os métodos add, get e size. O array interno começa com 10 posições e cresce 5 posições sempre que fica cheio.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PARA O EXERCÍCIO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quando o array enche?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= 7, capacidade 10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1752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1208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73736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1737360"/>
            <a:ext cx="502920" cy="502920"/>
          </a:xfrm>
          <a:prstGeom prst="rect">
            <a:avLst/>
          </a:prstGeom>
          <a:solidFill>
            <a:srgbClr val="E6F0EE"/>
          </a:solidFill>
          <a:ln w="12700">
            <a:solidFill>
              <a:srgbClr val="CFE3DF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406640" y="1737360"/>
            <a:ext cx="502920" cy="502920"/>
          </a:xfrm>
          <a:prstGeom prst="rect">
            <a:avLst/>
          </a:prstGeom>
          <a:solidFill>
            <a:srgbClr val="E6F0EE"/>
          </a:solidFill>
          <a:ln w="12700">
            <a:solidFill>
              <a:srgbClr val="CFE3DF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7955280" y="1737360"/>
            <a:ext cx="502920" cy="502920"/>
          </a:xfrm>
          <a:prstGeom prst="rect">
            <a:avLst/>
          </a:prstGeom>
          <a:solidFill>
            <a:srgbClr val="E6F0EE"/>
          </a:solidFill>
          <a:ln w="12700">
            <a:solidFill>
              <a:srgbClr val="CFE3D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4864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= 10  →  cheio!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1208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936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55280" y="260604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add(): novo array de 15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01752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6616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1208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6072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0936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0664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55280" y="3474720"/>
            <a:ext cx="50292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503920" y="3474720"/>
            <a:ext cx="50292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52560" y="3474720"/>
            <a:ext cx="502920" cy="502920"/>
          </a:xfrm>
          <a:prstGeom prst="rect">
            <a:avLst/>
          </a:prstGeom>
          <a:solidFill>
            <a:srgbClr val="FCEBDD"/>
          </a:solidFill>
          <a:ln w="12700">
            <a:solidFill>
              <a:srgbClr val="E77A2D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9601200" y="3474720"/>
            <a:ext cx="502920" cy="502920"/>
          </a:xfrm>
          <a:prstGeom prst="rect">
            <a:avLst/>
          </a:prstGeom>
          <a:solidFill>
            <a:srgbClr val="FCEBDD"/>
          </a:solidFill>
          <a:ln w="12700">
            <a:solidFill>
              <a:srgbClr val="E77A2D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10149840" y="3474720"/>
            <a:ext cx="502920" cy="502920"/>
          </a:xfrm>
          <a:prstGeom prst="rect">
            <a:avLst/>
          </a:prstGeom>
          <a:solidFill>
            <a:srgbClr val="FCEBDD"/>
          </a:solidFill>
          <a:ln w="12700">
            <a:solidFill>
              <a:srgbClr val="E77A2D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10698480" y="3474720"/>
            <a:ext cx="502920" cy="502920"/>
          </a:xfrm>
          <a:prstGeom prst="rect">
            <a:avLst/>
          </a:prstGeom>
          <a:solidFill>
            <a:srgbClr val="FCEBDD"/>
          </a:solidFill>
          <a:ln w="12700">
            <a:solidFill>
              <a:srgbClr val="E77A2D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do add(x):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size == capacidade → criar array com capacidade + 5 e copiar os elementos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x na posição size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size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finita de instruções não ambíguas que resolve um problema para qualquer entrada legítima.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dados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organizar dados relacionados. A escolha certa torna o algoritmo mais simples e mais rápido.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concreta de algoritmos + estruturas de dados numa linguagem — em Java, nesta UC.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como medir a eficiência de um algoritmo.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71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Wirth, N. (1976).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+ Data Structures = Programs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Prentice-Hall.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42062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2062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Data Types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7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https://www.w3schools.com/java/java_data_types.asp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1: Algoritmos, Estruturas de Dados e Programas</dc:title>
  <dc:subject>PptxGenJS Presentation</dc:subject>
  <dc:creator>Luís Simões da Cunha</dc:creator>
  <cp:lastModifiedBy>Luís Simões da Cunha</cp:lastModifiedBy>
  <cp:revision>1</cp:revision>
  <dcterms:created xsi:type="dcterms:W3CDTF">2026-09-25T13:48:42Z</dcterms:created>
  <dcterms:modified xsi:type="dcterms:W3CDTF">2026-09-25T13:48:42Z</dcterms:modified>
</cp:coreProperties>
</file>