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minutos). Respostas: (1) O(n·m) (Aula 3: verificar se um texto contém uma palavra, por força bruta); (2) converte uma chave num número/índice (Aula 10); (3) o resto da divisão, % — mantém o número dentro de um intervalo (Aulas 7 e 10). As três ideias juntam-se hoje no Rabin-Karp.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de uso do original. Perguntar aos alunos quantas vezes por dia fazem Ctrl+F.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 do original. Notação: T = texto, de comprimento n; P = padrão, de comprimento m, com m ≤ n. O resultado é o índice onde o padrão começa (ou −1, se não existir). Índices a começar em 0, como em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 Liga à Aula 3 (força bruta).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 do original. É exatamente a força bruta da Aula 3: testa todas as n − m + 1 posições possíveis. Na versão que devolve só o primeiro índice, pára logo que encontra.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posição: a ≠ b, falha logo na 1.ª comparação. Segunda posição: b = b e c = c → encontrado no índice 1. Verde = coincide; vermelho =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Pior caso: em cada uma das n − m + 1 posições, compara até m caracteres → O((n − m + 1)·m) = O(n·m). Exemplo de pior caso: texto "AAAA…A" e padrão "AA…AB" — falha sempre no último carácter. Com n = 1000 e m = 10: (1000 − 10 + 1)·10 = 9910 comparações. No caso típico (texto "normal") falha quase sempre no 1.º ou 2.º carácter e é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 Liga à Aula 10 (funções de hash).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Rabin-Karp (1987). Em vez de comparar m caracteres, compara-se um único número: o hash da janela com o hash do padrão. Analogia: comparar impressões digitais — se forem diferentes, não é a mesma pessoa; se forem iguais, confirma-se a identidade (pode haver coincidências raras).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polinomial do original: cada carácter é um "algarismo" na base d. É como ler "123" em base 10: 1·10² + 2·10¹ + 3·10⁰. O mod q mantém o número pequeno. d = tamanho do alfabeto (256 para ASCII); q = um número primo.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 do original. O passo 4 é essencial: dois textos diferentes podem ter o mesmo hash (colisão), por isso um hash igual é só um "candidato" que tem de ser confirmado carácter a carácter.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 do original: hash_next = (d·(hash_current − T[i]·h) + T[i+m]) mod q, com h = d^(m−1) mod q. Três passos: retirar o carácter que sai (subtrair T[i]·h), "subir uma casa" (multiplicar por d), acrescentar o que entra (somar T[i+m]). Em base 10: de 123 para 234 = (123 − 1·100)·10 + 4. Custo O(1) por janela, em vez de O(m).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 Todos os valores foram verificados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do original, verificados: hash(bc) = (98·256 + 99) mod 101 = 25187 mod 101 = 38; hash(ab) = (97·256 + 98) mod 101 = 24930 mod 101 = 84. Códigos ASCII: a = 97, b = 98, c = 99, d =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do original, verificados: h = 256^(2−1) mod 101 = 256 mod 101 = 54. hash_next = (256·(84 − 97·54) + 99) mod 101 = −1319325 mod 101 = 38 (em aritmética modular, o resto é tomado positivo: somar q até ficar entre 0 e q − 1). Em Java, o operador % pode dar negativo: usar Math.floorMod ou somar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hash("bc") = 38 = hash do padrão → candidato → comparação carácter a carácter confirma: correspondência no índice 1. Porque é preciso confirmar? Com q = 101 há apenas 101 hashes possíveis: "kv", "mo", "oh", "qa" e "zt" também têm hash 38 (verificado). Um q maior torna as colisões mais raras.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ao original: O(n + m) é o tempo MÉDIO (esperado) do Rabin-Karp. No PIOR caso — muitas colisões ou muitas correspondências verdadeiras (ex.: texto "AAAA…", padrão "AA") — cada janela exige confirmação letra a letra e o custo volta a O(n·m), como no ingénuo. Com um q primo grande, as colisões são raras e o caso médio domina.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do exercício 2 (verificadas em código), com d = 256, q = 101: h = 256² mod 101 = 88; hash("llo") = 95. Hashes das janelas de "Hello, world!": Hel 81, ell 82, llo 95 ✓ (índice 2), lo, 89, "o, " 56, ", w" 63, " wo" 61, wor 16, orl 74, rld 6, ld! 90. Nenhuma colisão falsa neste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aos alunos que expliquem, sem ver os diapositivos, porque é que um hash igual não chega para concluir que há correspondência.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Levitin, secção 3.2 (string matching por força bruta). Karp &amp; Rabin (1987) é o artigo original do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9808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6384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59536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96112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6112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326880" y="822960"/>
            <a:ext cx="36576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2688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692640" y="822960"/>
            <a:ext cx="36576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058400" y="822960"/>
            <a:ext cx="36576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5840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424160" y="822960"/>
            <a:ext cx="36576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2416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0789920" y="822960"/>
            <a:ext cx="365760" cy="45720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78992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1155680" y="822960"/>
            <a:ext cx="365760" cy="457200"/>
          </a:xfrm>
          <a:prstGeom prst="rect">
            <a:avLst/>
          </a:prstGeom>
          <a:solidFill>
            <a:srgbClr val="2E7D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5568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26880" y="1417320"/>
            <a:ext cx="365760" cy="457200"/>
          </a:xfrm>
          <a:prstGeom prst="rect">
            <a:avLst/>
          </a:prstGeom>
          <a:solidFill>
            <a:srgbClr val="0B3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9692640" y="1417320"/>
            <a:ext cx="365760" cy="457200"/>
          </a:xfrm>
          <a:prstGeom prst="rect">
            <a:avLst/>
          </a:prstGeom>
          <a:solidFill>
            <a:srgbClr val="0B3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058400" y="1417320"/>
            <a:ext cx="365760" cy="457200"/>
          </a:xfrm>
          <a:prstGeom prst="rect">
            <a:avLst/>
          </a:prstGeom>
          <a:solidFill>
            <a:srgbClr val="0B3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05840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0424160" y="1417320"/>
            <a:ext cx="365760" cy="457200"/>
          </a:xfrm>
          <a:prstGeom prst="rect">
            <a:avLst/>
          </a:prstGeom>
          <a:solidFill>
            <a:srgbClr val="0B3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42416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10789920" y="1417320"/>
            <a:ext cx="365760" cy="457200"/>
          </a:xfrm>
          <a:prstGeom prst="rect">
            <a:avLst/>
          </a:prstGeom>
          <a:solidFill>
            <a:srgbClr val="0B3F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78992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Algoritmos de Correspondência de Strings</a:t>
            </a:r>
            <a:endParaRPr lang="en-US" sz="3600" dirty="0"/>
          </a:p>
        </p:txBody>
      </p:sp>
      <p:sp>
        <p:nvSpPr>
          <p:cNvPr id="40" name="Text 37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 ·  encontrar uma agulha num palheiro de texto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Aula 3: qual era a complexidade de verificar, por força bruta, se um texto contém uma palavra?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uma função de hash? (Aula 10)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o operador % (mod) nas tabelas de dispersão?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Carrega em Ctrl + F e escreve uma palavra. O que faz o computador por trás?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Editores de texto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"procurar e substituir"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64992" y="2651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Motores de busca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que contêm as palavras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344" y="2651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994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Bioinformática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 de ADN: GATTACA…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97696" y="265176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283464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6296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Deteção de plágio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trechos repetidos entre textos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genoma humano tem cerca de 3 mil milhões de letras. Procurar à força bruta pode sair caro — hoje vemos como fazer melhor.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ingénuo ao engenhoso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 padrão num texto.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ingénuo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bruta: testar todas as posições.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"impressões digitais" (hashes).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rolling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o hash sem recalcular tudo.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como comparar um bloco de texto inteiro com uma única comparação?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uma string curta numa string longa.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CORRESPONDÊNCIA DE STRINGS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aparece o padrão no texto?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Encontrar as ocorrências de um </a:t>
            </a:r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P</a:t>
            </a:r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(curto, comprimento m) dentro de um </a:t>
            </a:r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T</a:t>
            </a:r>
            <a:pPr indent="0" marL="0">
              <a:buNone/>
            </a:pPr>
            <a:r>
              <a:rPr lang="en-US" sz="2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(longo, comprimento n).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10312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0312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283464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3464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356616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56616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429768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02920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␣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760720" y="3063240"/>
            <a:ext cx="731520" cy="59436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76072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6492240" y="3063240"/>
            <a:ext cx="731520" cy="59436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7223760" y="3063240"/>
            <a:ext cx="731520" cy="59436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22376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7955280" y="3063240"/>
            <a:ext cx="731520" cy="59436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5528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8686800" y="3063240"/>
            <a:ext cx="731520" cy="594360"/>
          </a:xfrm>
          <a:prstGeom prst="rect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8680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9418320" y="3063240"/>
            <a:ext cx="731520" cy="59436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418320" y="306324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P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760720" y="3931920"/>
            <a:ext cx="731520" cy="59436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6072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2200" dirty="0"/>
          </a:p>
        </p:txBody>
      </p:sp>
      <p:sp>
        <p:nvSpPr>
          <p:cNvPr id="46" name="Shape 43"/>
          <p:cNvSpPr/>
          <p:nvPr/>
        </p:nvSpPr>
        <p:spPr>
          <a:xfrm>
            <a:off x="6492240" y="3931920"/>
            <a:ext cx="731520" cy="59436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9224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7223760" y="3931920"/>
            <a:ext cx="731520" cy="59436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22376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200" dirty="0"/>
          </a:p>
        </p:txBody>
      </p:sp>
      <p:sp>
        <p:nvSpPr>
          <p:cNvPr id="50" name="Shape 47"/>
          <p:cNvSpPr/>
          <p:nvPr/>
        </p:nvSpPr>
        <p:spPr>
          <a:xfrm>
            <a:off x="7955280" y="3931920"/>
            <a:ext cx="731520" cy="59436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95528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200" dirty="0"/>
          </a:p>
        </p:txBody>
      </p:sp>
      <p:sp>
        <p:nvSpPr>
          <p:cNvPr id="52" name="Shape 49"/>
          <p:cNvSpPr/>
          <p:nvPr/>
        </p:nvSpPr>
        <p:spPr>
          <a:xfrm>
            <a:off x="8686800" y="3931920"/>
            <a:ext cx="731520" cy="59436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68680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200" dirty="0"/>
          </a:p>
        </p:txBody>
      </p:sp>
      <p:sp>
        <p:nvSpPr>
          <p:cNvPr id="54" name="Shape 51"/>
          <p:cNvSpPr/>
          <p:nvPr/>
        </p:nvSpPr>
        <p:spPr>
          <a:xfrm>
            <a:off x="6126480" y="4663440"/>
            <a:ext cx="0" cy="41148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55" name="Text 52"/>
          <p:cNvSpPr txBox="1"/>
          <p:nvPr/>
        </p:nvSpPr>
        <p:spPr>
          <a:xfrm>
            <a:off x="4846320" y="5120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 no índice 5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548640" y="57150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48640" y="5715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141732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do texto (aqui 11)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6217920" y="571500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217920" y="5715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700" dirty="0"/>
          </a:p>
        </p:txBody>
      </p:sp>
      <p:sp>
        <p:nvSpPr>
          <p:cNvPr id="61" name="Text 58"/>
          <p:cNvSpPr txBox="1"/>
          <p:nvPr/>
        </p:nvSpPr>
        <p:spPr>
          <a:xfrm>
            <a:off x="708660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do padrão (aqui 5)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ingénuo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bruta: tentar em todas as posições.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INGÉNUO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Alinhar, comparar, deslizar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o padrão na primeira posição do texto.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172968" y="2743200"/>
            <a:ext cx="173736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64992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93592" y="178308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9359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325112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593592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o padrão com o texto, carácter a carácter.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989320" y="2743200"/>
            <a:ext cx="173736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181344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09944" y="178308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9944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41464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Registar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6409944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os caracteres coincidirem, é uma correspondência.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8805672" y="2743200"/>
            <a:ext cx="173736" cy="0"/>
          </a:xfrm>
          <a:prstGeom prst="line">
            <a:avLst/>
          </a:prstGeom>
          <a:noFill/>
          <a:ln w="254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997696" y="16002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226296" y="178308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26296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957816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Deslizar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9226296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o padrão uma posição e repetir até ao fim.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548640" y="411480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425196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ingenuo(String T, String P)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T.length(), m = P.length();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i &lt;= n - m; i++)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D1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0;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 &lt; m &amp;&amp; T.charAt(i+j) == P.charAt(j)) j++;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 == m) </a:t>
            </a:r>
            <a:pPr indent="0" marL="0">
              <a:buNone/>
            </a:pPr>
            <a:r>
              <a:rPr lang="en-US" sz="125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i;   </a:t>
            </a:r>
            <a:pPr indent="0" marL="0">
              <a:buNone/>
            </a:pPr>
            <a:r>
              <a:rPr lang="en-US" sz="1250" dirty="0">
                <a:solidFill>
                  <a:srgbClr val="7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encontrado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2B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INGÉNUO EM 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Procurar "bc" em "abcd"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0" y="178308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566160" y="178308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389120" y="178308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912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212080" y="178308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1783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743200" y="2743200"/>
            <a:ext cx="822960" cy="64008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3566160" y="2743200"/>
            <a:ext cx="822960" cy="640080"/>
          </a:xfrm>
          <a:prstGeom prst="rect">
            <a:avLst/>
          </a:prstGeom>
          <a:solidFill>
            <a:srgbClr val="EEF2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6616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3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2743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≠ b → falha; desliza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566160" y="3977640"/>
            <a:ext cx="822960" cy="64008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4389120" y="3977640"/>
            <a:ext cx="822960" cy="64008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8912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977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b, c = c → encontrado!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1, com 3 comparações de caracteres. Guarde este exemplo: vamos repeti-lo com o Rabin-Karp.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Simples, mas pode ficar lento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45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Pior caso: </a:t>
            </a:r>
            <a:pPr indent="0" marL="0">
              <a:buNone/>
            </a:pPr>
            <a:r>
              <a:rPr lang="en-US" sz="22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O((n − m + 1) · m)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m + 1 posições × até m comparações em cada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918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pior caso: falhar sempre no último carácter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5568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682496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82496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249424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49424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816352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16352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383280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950208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50208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17136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17136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84064" y="3749040"/>
            <a:ext cx="566928" cy="50292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84064" y="37490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8640" y="434340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3434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115568" y="434340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15568" y="43434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682496" y="434340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82496" y="43434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249424" y="4343400"/>
            <a:ext cx="566928" cy="45720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49424" y="434340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115568" y="489204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115568" y="4892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682496" y="489204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682496" y="4892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2249424" y="489204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249424" y="4892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2816352" y="4892040"/>
            <a:ext cx="566928" cy="45720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816352" y="489204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682496" y="544068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682496" y="5440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249424" y="544068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249424" y="5440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816352" y="5440680"/>
            <a:ext cx="566928" cy="45720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816352" y="5440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3383280" y="5440680"/>
            <a:ext cx="566928" cy="45720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383280" y="544068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6217920" y="155448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</a:t>
            </a:r>
            <a:endParaRPr lang="en-US" sz="1900" dirty="0"/>
          </a:p>
        </p:txBody>
      </p:sp>
      <p:sp>
        <p:nvSpPr>
          <p:cNvPr id="55" name="Text 52"/>
          <p:cNvSpPr txBox="1"/>
          <p:nvPr/>
        </p:nvSpPr>
        <p:spPr>
          <a:xfrm>
            <a:off x="6492240" y="2148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simples e intuitivo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memória extra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em textos "normais"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217920" y="406908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492240" y="4206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Desvantagens</a:t>
            </a:r>
            <a:endParaRPr lang="en-US" sz="1900" dirty="0"/>
          </a:p>
        </p:txBody>
      </p:sp>
      <p:sp>
        <p:nvSpPr>
          <p:cNvPr id="58" name="Text 55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com textos e padrões grandes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 comparar caracteres já vistos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impressões digitais em vez de letras.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números em vez de palavras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Ingénuo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2331720"/>
            <a:ext cx="68580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331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08760" y="2331720"/>
            <a:ext cx="68580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08760" y="2331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194560" y="2331720"/>
            <a:ext cx="68580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94560" y="2331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880360" y="2331720"/>
            <a:ext cx="68580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80360" y="2331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566160" y="2331720"/>
            <a:ext cx="685800" cy="54864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66160" y="23317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68580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063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508760" y="3063240"/>
            <a:ext cx="68580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08760" y="3063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194560" y="3063240"/>
            <a:ext cx="68580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94560" y="3063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2880360" y="3063240"/>
            <a:ext cx="68580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80360" y="3063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566160" y="3063240"/>
            <a:ext cx="685800" cy="54864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66160" y="3063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m comparações de caracteres por posição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5 → 5 comparações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6492240" y="233172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9224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h(mundo) = 59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492240" y="30632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9224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h(mundi) = 53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5039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só comparação de números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49224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diferentes → não coincide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649224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iguais? Confirma-se letra a letra (pode ser coincidência).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 HASH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string lida como um número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554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hash(S) = ( S[0]·d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m−1</a:t>
            </a:r>
            <a:pPr algn="ctr"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S[1]·d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m−2</a:t>
            </a:r>
            <a:pPr algn="ctr"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… + S[m−1]·d</a:t>
            </a:r>
            <a:pPr algn="ctr" indent="0" marL="0">
              <a:buNone/>
            </a:pPr>
            <a:r>
              <a:rPr lang="en-US" sz="2800" b="1" baseline="3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algn="ctr"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  mod q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0632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caracteres do alfabeto (256 no ASCII)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7490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primo, que mantém o hash pequeno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05840" cy="50292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434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S[i]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4434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do carácter (ex.: a = 97, b = 98)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301752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conhece esta ideia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"123" em base 10: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1·10² + 2·10¹ + 3·10⁰ = 123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"bc" em base 256: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98·256 + 99 = 25187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2578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carácter é um "algarismo" na base 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DO ALGORITMO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Calcular, deslizar, comparar, confirmar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5544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Calcular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55448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hash do padrão e o da primeira janela do texto.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788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651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Deslizar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6517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uma posição de cada vez.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886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7490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hash da nova janela com hash rolling — sem recomeçar do zero.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48463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8463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hashes forem iguais, comparar letra a letra (colisões!).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fim: registar as correspondências encontradas.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TRUQUE DO HASH ROLLING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Tirar um carácter, pôr outro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passar de 123 para 234, em base 10?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− 1·100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57400" y="2971800"/>
            <a:ext cx="45720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56032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o que sai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57400" y="3657600"/>
            <a:ext cx="45720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560320" y="3383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uma casa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0690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2057400" y="4343400"/>
            <a:ext cx="457200" cy="0"/>
          </a:xfrm>
          <a:prstGeom prst="line">
            <a:avLst/>
          </a:prstGeom>
          <a:noFill/>
          <a:ln w="1905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256032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pôr o que entra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675120" y="1463040"/>
            <a:ext cx="4937760" cy="2743200"/>
          </a:xfrm>
          <a:prstGeom prst="roundRect">
            <a:avLst>
              <a:gd name="adj" fmla="val 4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geral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indent="0" marL="0">
              <a:buNone/>
            </a:pPr>
            <a:r>
              <a:rPr lang="en-US" sz="1700" b="1" baseline="-400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 d · (hash</a:t>
            </a:r>
            <a:pPr indent="0" marL="0">
              <a:buNone/>
            </a:pPr>
            <a:r>
              <a:rPr lang="en-US" sz="1700" b="1" baseline="-400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</a:t>
            </a:r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T[i]·h) + T[i+m] ) mod q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31089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d</a:t>
            </a:r>
            <a:pPr indent="0" marL="0">
              <a:buNone/>
            </a:pPr>
            <a:r>
              <a:rPr lang="en-US" sz="16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m−1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 q   </a:t>
            </a:r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"peso" do carácter mais à esquerda)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675120" y="44348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F6D5D0"/>
          </a:solidFill>
          <a:ln w="12700">
            <a:solidFill>
              <a:srgbClr val="F6D5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75120" y="4434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T[i]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81812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que sai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9189720" y="44348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89720" y="4434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T[i+m]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033272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carácter que entra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rápido?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nova janela custa um punhado de operações — O(1) — em vez de recalcular os m caracteres.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negativo?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Soma-se q.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resolvido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"bc" em "abcd", com números.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RESOLVIDO: PASSOS 1 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Texto "abcd", padrão "bc", d = 256, q = 101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1737360"/>
            <a:ext cx="82296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645920" y="1737360"/>
            <a:ext cx="82296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4592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2468880" y="173736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6888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291840" y="173736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0" y="1737360"/>
            <a:ext cx="1097280" cy="640080"/>
          </a:xfrm>
          <a:prstGeom prst="roundRect">
            <a:avLst>
              <a:gd name="adj" fmla="val 4285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(m = 2)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400800" y="146304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75120" y="14630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256</a:t>
            </a:r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alfabeto ASCII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101</a:t>
            </a:r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número primo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48640" y="32918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600200" y="3520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do padrão "bc"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(98·256 + 99) mod 101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25187 mod 101 = </a:t>
            </a:r>
            <a:pPr indent="0" marL="0">
              <a:buNone/>
            </a:pPr>
            <a:r>
              <a:rPr lang="en-US" sz="40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217920" y="32918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492240" y="3520440"/>
            <a:ext cx="594360" cy="59436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922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35204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da 1.ª janela "ab"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492240" y="4297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(97·256 + 98) mod 101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6492240" y="4846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24930 mod 101 = </a:t>
            </a:r>
            <a:pPr indent="0" marL="0">
              <a:buNone/>
            </a:pPr>
            <a:r>
              <a:rPr lang="en-US" sz="40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RESOLVIDO: PASSO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Deslizar a janela de "ab" para "bc"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1737360"/>
            <a:ext cx="822960" cy="640080"/>
          </a:xfrm>
          <a:prstGeom prst="rect">
            <a:avLst/>
          </a:prstGeom>
          <a:solidFill>
            <a:srgbClr val="F6D5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2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645920" y="1737360"/>
            <a:ext cx="822960" cy="640080"/>
          </a:xfrm>
          <a:prstGeom prst="rect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4592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2468880" y="1737360"/>
            <a:ext cx="822960" cy="64008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46888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291840" y="1737360"/>
            <a:ext cx="822960" cy="640080"/>
          </a:xfrm>
          <a:prstGeom prst="rect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1737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0" y="146304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atual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(ab)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138160" y="146304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381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T[i]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41832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97</a:t>
            </a:r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carácter que sai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0" y="22402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0" y="2240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T[i+m]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85216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99</a:t>
            </a:r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carácter que entra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38160" y="224028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38160" y="22402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4183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mod 101 = 54</a:t>
            </a:r>
            <a:pPr indent="0" marL="0">
              <a:buNone/>
            </a:pPr>
            <a:r>
              <a:rPr lang="en-US" sz="11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32004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" y="32004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indent="0" marL="0">
              <a:spcAft>
                <a:spcPts val="600"/>
              </a:spcAft>
              <a:buNone/>
            </a:pPr>
            <a:r>
              <a:rPr lang="en-US" sz="2200" baseline="-400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(256 · (84 − 97·54) + 99) mod 101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−1 319 325 mod 101 = </a:t>
            </a:r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em Java: </a:t>
            </a:r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−1319325 % 101 dá −63! O resto matemático é 38 = −63 + 101. Use </a:t>
            </a:r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Math.floorMod</a:t>
            </a:r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some q.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RESOLVIDO: PASSO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igual? Confirmar letra a letra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"bc"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2286000"/>
            <a:ext cx="2103120" cy="594360"/>
          </a:xfrm>
          <a:prstGeom prst="roundRect">
            <a:avLst>
              <a:gd name="adj" fmla="val 46154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= 38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3566160" y="2286000"/>
            <a:ext cx="2103120" cy="594360"/>
          </a:xfrm>
          <a:prstGeom prst="roundRect">
            <a:avLst>
              <a:gd name="adj" fmla="val 46154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2286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= 38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22960" y="3200400"/>
            <a:ext cx="73152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554480" y="3200400"/>
            <a:ext cx="731520" cy="548640"/>
          </a:xfrm>
          <a:prstGeom prst="rect">
            <a:avLst/>
          </a:prstGeom>
          <a:solidFill>
            <a:srgbClr val="DD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544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22960" y="3794760"/>
            <a:ext cx="731520" cy="54864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554480" y="3794760"/>
            <a:ext cx="731520" cy="548640"/>
          </a:xfrm>
          <a:prstGeom prst="rect">
            <a:avLst/>
          </a:prstGeom>
          <a:solidFill>
            <a:srgbClr val="FCEB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54480" y="3794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474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 ✓   c = c ✓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800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Encontrado no índice 1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9224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Porque é preciso confirmar?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649224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 = 101 só há 101 hashes possíveis. Estas strings também têm hash 38: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92240" y="31089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52360" y="31089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412480" y="31089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372600" y="31089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37260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332720" y="3108960"/>
            <a:ext cx="8229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33272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49224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igual = </a:t>
            </a:r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talvez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diferente = </a:t>
            </a:r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certeza que não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q primo grande torna as colisões raras.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Verdadeiro ou falso?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hashes forem iguais, o padrão está de certeza naquela posição.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8745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20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uma colisão: confirma-se letra a letra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632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hashes forem diferentes, o padrão não está naquela posição.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</a:t>
            </a:r>
            <a:endParaRPr lang="en-US" sz="20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iguais têm sempre o mesmo hash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2519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hash rolling recalcula a janela inteira a cada passo.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251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20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tira um carácter e acrescenta outro: O(1)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a coluna da direita e peça a resposta antes de a mostrar.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Rápido em média, mas não sempre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Ingénuo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Rabin-Karp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médio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 em textos normais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Pior caso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· 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· 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passar à janela seguinte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recomeça do zero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com hash rolling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extra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forte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procurar vários padrões de uma vez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buNone/>
            </a:pPr>
            <a:r>
              <a:rPr lang="en-US" sz="15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+ m) é o tempo esperado. No pior caso (muitas colisões), o Rabin-Karp volta a O(n·m). Existem algoritmos garantidamente lineares, como o KMP.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é consigo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ingénuo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70992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199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algoritmo ingénuo. Devolve o índice onde o padrão começa, ou −1.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43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"abcd" / "bc" → 1; "abcd" / "xy" → −1.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9768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4068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 em papel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545896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71032" y="2304288"/>
            <a:ext cx="164592" cy="164592"/>
          </a:xfrm>
          <a:prstGeom prst="ellipse">
            <a:avLst/>
          </a:prstGeom>
          <a:solidFill>
            <a:srgbClr val="CFE3DF"/>
          </a:solidFill>
          <a:ln w="12700">
            <a:solidFill>
              <a:srgbClr val="CFE3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o Rabin-Karp para encontrar "llo" em "Hello, world!". Mostre todos os cálculos.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4343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 = 256 e q = 101. Pista: m = 3, logo h = 256² mod 101.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1600200"/>
            <a:ext cx="3474720" cy="4480560"/>
          </a:xfrm>
          <a:prstGeom prst="roundRect">
            <a:avLst>
              <a:gd name="adj" fmla="val 315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 em Java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208008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64040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20072" y="2304288"/>
            <a:ext cx="164592" cy="164592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21040" y="2743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em Java o Rabin-Karp. Devolve o índice onde o padrão começa, ou −1.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3434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esqueça de confirmar letra a letra e de usar Math.floorMod.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Ingénuo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todas as posições, letra a letra. Simples; pior caso O(n·m).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hashes: diferente → não; igual → confirmar letra a letra.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rolling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 carácter que sai, põe o que entra: O(1) por janela.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bruta (Aula 3) + funções de hash (Aula 10) = Rabin-Karp.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Levitin, A. (2011).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Design and Analysis of Algorithms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Karp, R. M., &amp; Rabin, M. O. (1987). Efficient randomized pattern-matching algorithms.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Journal of Research and Development, 31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(2), 249–260.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11: Algoritmos de Correspondência de Strings</dc:title>
  <dc:subject>PptxGenJS Presentation</dc:subject>
  <dc:creator>Luís Simões da Cunha</dc:creator>
  <cp:lastModifiedBy>Luís Simões da Cunha</cp:lastModifiedBy>
  <cp:revision>1</cp:revision>
  <dcterms:created xsi:type="dcterms:W3CDTF">2026-09-25T16:47:36Z</dcterms:created>
  <dcterms:modified xsi:type="dcterms:W3CDTF">2026-09-25T16:47:36Z</dcterms:modified>
</cp:coreProperties>
</file>