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7. Início do bloco de estruturas de dados avançadas.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minutos). Respostas: (1) LinkedList: só religa referências, O(1); ArrayList desloca elementos, O(n) (Aula 1); (2) o que acontece é StackOverflowError: a "pilha" de chamadas esgota-se — hoje percebemos o nome; (3) 1 2 3 4 5 7 8 9 (Aula 4). As três voltam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com situações familiares. Revelar os rótulos (PILHA, FILA, FILA DUPLA) só depois de os alunos responderem.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LIFO = Last-In-First-Out. Só se mexe no topo. Analogia: uma pilha de pratos — põe-se e tira-se sempre por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do original: push(A), push(B), push(C), pop() → C, push(D), pop() → D, pop() → B. Laranja = elemento no topo que acabou de entrar. Por baixo de cada pilha, o elemento devolvido pelo pop.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Basta um array e um índice "top" que indica a próxima posição livre (= número de elementos). push e pop mexem apenas no topo: O(1). O exercício 1 pede exatamente isto, com capacidade 1000. Atenção aos casos-limite: pop numa pilha vazia; push numa pilha cheia.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1 minuto. Estados: [1] → [1,2] → pop 2 → [1] → [1,3] → [1,3,4] → pop 4 → pop 3 → [1].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pilha de chamadas (call stack) liga às Aulas 4 e 5: cada chamada recursiva empilha um "registo" e, quando termina, desempilha-o. Sem caso base, a pilha enche: StackOverflowError. Verificar parênteses: empilha-se cada "(" e desempilha-se a cada ")"; no fim, a pilha tem de estar vazia.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FIFO = First-In-First-Out. Entra-se por trás (tail) e sai-se pela frente (head). Analogia: a fila da cantina.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do original: enqueue(A), enqueue(B), enqueue(C), dequeue() → A, enqueue(D), dequeue() → B. A frente está à esquerda; o fim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se a fila andar sempre para a direita no array, ao fazer dequeue ficam posições livres no início que nunca mais se usam; e deslocar tudo a cada dequeue custaria O(n). Solução: array circular — os índices "dão a volta" com o operador módulo. head = posição da frente; tail = próxima posição livre; count = número de elementos.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Filas aparecem sempre que há pedidos a atender por ordem de chegada. A pesquisa em largura (BFS) em grafos usa uma fila — veremos nas próximas aulas. Variante importante: a fila de prioridade, que já usámos em Huffman (Aula 6): sai o de maior prioridade, não o mais antigo.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Deque = double-ended queue. Generaliza a fila: pode adicionar-se e remover-se tanto na frente (head) como no fim (tail). Não segue uma regra fixa LIFO/FIFO: consoante as operações usadas, pode comportar-se como pilha ou como fila. (O diagrama do original repetia o da fila; aqui mostra-se o deque com as duas pontas.)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de exemplo: enqueueBack(A), enqueueBack(B), enqueueFront(C), dequeueBack() → B, enqueueFront(D), dequeueFront() → D. Laranja = elemento que acabou de entrar.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documentação do Java recomenda ArrayDeque em vez da antiga classe Stack. ArrayDeque e LinkedList implementam a interface Deque, que serve para pilhas, filas e filas duplas. offer/poll devolvem false/null em vez de lançar exceção (ao contrário de add/remove).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Tabela-síntese para consolidar as três estruturas antes dos exercícios.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2: com p = {1,2,3,4,5} (1 no topo), reverse(p, 3) → {3,2,1,4,5}. Pista: tirar os 3 primeiros para uma fila e voltar a empilhá-los. Ex. 4 é o Merge da Aula 4 aplicado a filas: [2,4,8,10] + [1,4,9] → [1,2,4,4,8,9,10].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5: a fila mantém-se ordenada — o enqueue insere na posição certa (é uma forma simples de fila de prioridade). Ex. 7: com LinkedList, as operações nas pontas são O(1) e deixa de haver capacidade máxima.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 cada aluno que dê um exemplo novo (não visto na aula) de pilha e de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Diagramas redesenhados a partir dos materiais de Miguel Areias (DCC-FCUP), usados no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cc.fc.up.pt/~miguel-areias/teaching/2324/ed/praticas/aula07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80960" y="1444752"/>
            <a:ext cx="822960" cy="347472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4447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1060704"/>
            <a:ext cx="822960" cy="347472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10607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80960" y="676656"/>
            <a:ext cx="822960" cy="347472"/>
          </a:xfrm>
          <a:prstGeom prst="rect">
            <a:avLst/>
          </a:prstGeom>
          <a:solidFill>
            <a:srgbClr val="E77A2D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6766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61120" y="1481328"/>
            <a:ext cx="530352" cy="347472"/>
          </a:xfrm>
          <a:prstGeom prst="rect">
            <a:avLst/>
          </a:prstGeom>
          <a:solidFill>
            <a:srgbClr val="E77A2D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0" y="14813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28048" y="1481328"/>
            <a:ext cx="530352" cy="347472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48" y="14813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094976" y="1481328"/>
            <a:ext cx="530352" cy="347472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94976" y="14813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661904" y="1481328"/>
            <a:ext cx="530352" cy="347472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661904" y="14813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Pilhas, Filas e Filas Duplas</a:t>
            </a:r>
            <a:endParaRPr lang="en-US" sz="38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 ·  Estruturas de dados avançadas, parte 1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no início: é mais barato numa ArrayList ou numa LinkedList? (Aula 1)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em Java a uma recursão sem caso base? (Aula 4)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o resultado de fundir 2 3 8 9 com 1 4 5 7? (Aula 4)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situações do dia a dia. Quem sai primeiro?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 + Z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três vezes. Que ações são desfeitas, e por que ordem?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a entrar é a primeira a sair.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754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fila da cantina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servido primeiro?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a chegar é o primeiro a sair.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475488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754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baralho de cartas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tirar ou pôr cartas por cima e por baixo.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 sai pelas duas pontas.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475488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4754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DUPLA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regras simples de entrada e saída. Hoje damos-lhes nome e implementamo-las.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entra, por onde sai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Pilhas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LIFO: o último a entrar é o primeiro a sair.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FIFO: o primeiro a entrar é o primeiro a sair.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 duplas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 sair pelas duas pontas.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Java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classes prontas e os exercícios.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como é que uma simples regra de acesso torna uma estrutura tão útil?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 (STACKS)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último a entrar é o primeiro a sair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554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LIFO</a:t>
            </a:r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Last In, First Out</a:t>
            </a:r>
            <a:endParaRPr lang="en-US" sz="30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se acede ao elemento do topo: o mais recente.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971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2971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x no topo.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749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37490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 devolve o elemento do topo (o mais recente).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52628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526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4526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Espreita o topo, sem o remover.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30352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303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 · isEmpty()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108960" y="5303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elementos há? Está vazia?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155448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pilha de pratos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75320" y="51206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5E5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75320" y="4736592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5E5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75320" y="4352544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5E5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5320" y="3968496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5E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75320" y="3584448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9050">
            <a:solidFill>
              <a:srgbClr val="155E5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41280" y="2377440"/>
            <a:ext cx="0" cy="86868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V="1">
            <a:off x="8869680" y="2377440"/>
            <a:ext cx="0" cy="86868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1033272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86384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põe-se e tira-se sempre por cima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EM 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operações, passo a passo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54480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39112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53512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39112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93976" y="3749040"/>
            <a:ext cx="804672" cy="420624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93976" y="37490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810512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push(A)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38144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52544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38144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93008" y="37490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93008" y="37490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493008" y="3291840"/>
            <a:ext cx="804672" cy="420624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93008" y="32918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209544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push(B)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37176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51576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37176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92040" y="37490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37490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892040" y="32918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92040" y="32918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4892040" y="2834640"/>
            <a:ext cx="804672" cy="420624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92040" y="28346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608576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push(C)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36208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50608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36208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291072" y="37490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291072" y="37490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291072" y="32918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291072" y="32918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6007608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 → C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464808" y="4846320"/>
            <a:ext cx="457200" cy="41148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64808" y="4846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6144768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635240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549640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35240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90104" y="37490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690104" y="37490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7690104" y="32918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690104" y="32918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7690104" y="2834640"/>
            <a:ext cx="804672" cy="420624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690104" y="28346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740664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push(D)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9034272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948672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034272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089136" y="37490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089136" y="37490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9089136" y="32918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089136" y="32918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8805672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 → D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9262872" y="4846320"/>
            <a:ext cx="457200" cy="41148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262872" y="4846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8942832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10433304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1347704" y="2286000"/>
            <a:ext cx="0" cy="192024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433304" y="4206240"/>
            <a:ext cx="914400" cy="0"/>
          </a:xfrm>
          <a:prstGeom prst="line">
            <a:avLst/>
          </a:prstGeom>
          <a:noFill/>
          <a:ln w="25400">
            <a:solidFill>
              <a:srgbClr val="0B3F3C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488168" y="3749040"/>
            <a:ext cx="804672" cy="420624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488168" y="374904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2" name="Text 69"/>
          <p:cNvSpPr txBox="1"/>
          <p:nvPr/>
        </p:nvSpPr>
        <p:spPr>
          <a:xfrm>
            <a:off x="10204704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 → B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0661904" y="4846320"/>
            <a:ext cx="457200" cy="41148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661904" y="4846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75" name="Text 72"/>
          <p:cNvSpPr txBox="1"/>
          <p:nvPr/>
        </p:nvSpPr>
        <p:spPr>
          <a:xfrm>
            <a:off x="10341864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</a:t>
            </a:r>
            <a:endParaRPr lang="en-US" sz="1100" dirty="0"/>
          </a:p>
        </p:txBody>
      </p:sp>
      <p:sp>
        <p:nvSpPr>
          <p:cNvPr id="76" name="Text 73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sai sempre o que está em cima — o mais recente.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pilha com um array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868680" cy="64008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91640" y="1828800"/>
            <a:ext cx="868680" cy="64008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9164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60320" y="1828800"/>
            <a:ext cx="868680" cy="64008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6032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29000" y="1828800"/>
            <a:ext cx="86868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2900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97680" y="1828800"/>
            <a:ext cx="86868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9768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66360" y="1828800"/>
            <a:ext cx="86868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6636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35040" y="1828800"/>
            <a:ext cx="86868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3504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 flipV="1">
            <a:off x="3858768" y="2542032"/>
            <a:ext cx="0" cy="612648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15468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3566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posição livre = número de elementos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023360"/>
            <a:ext cx="6675120" cy="2057400"/>
          </a:xfrm>
          <a:prstGeom prst="roundRect">
            <a:avLst>
              <a:gd name="adj" fmla="val 4444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416052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top == capacidade: erro (cheia)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A[top] ← x;  top ← top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top == 0: erro (vazia)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 ← top − 1;  devolver A[top]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589520" y="1508760"/>
            <a:ext cx="4023360" cy="4572000"/>
          </a:xfrm>
          <a:prstGeom prst="roundRect">
            <a:avLst>
              <a:gd name="adj" fmla="val 2727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638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50976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786384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950976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400" dirty="0"/>
          </a:p>
        </p:txBody>
      </p:sp>
      <p:sp>
        <p:nvSpPr>
          <p:cNvPr id="39" name="Text 36"/>
          <p:cNvSpPr txBox="1"/>
          <p:nvPr/>
        </p:nvSpPr>
        <p:spPr>
          <a:xfrm>
            <a:off x="786384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50976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7863840" y="4206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950976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400" dirty="0"/>
          </a:p>
        </p:txBody>
      </p:sp>
      <p:sp>
        <p:nvSpPr>
          <p:cNvPr id="43" name="Text 40"/>
          <p:cNvSpPr txBox="1"/>
          <p:nvPr/>
        </p:nvSpPr>
        <p:spPr>
          <a:xfrm>
            <a:off x="7863840" y="4937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mexe no topo: nunca é preciso deslocar elementos.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Numa pilha vazia faz-se: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push(1)  push(2)  pop()  push(3)  push(4)  pop()  pop()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valores saem, e por que ordem? O que fica na pilha?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3000" dirty="0">
                <a:solidFill>
                  <a:srgbClr val="C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Saem: </a:t>
            </a:r>
            <a:pPr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2, 4, 3</a:t>
            </a:r>
            <a:endParaRPr lang="en-US" sz="3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3000" dirty="0">
                <a:solidFill>
                  <a:srgbClr val="C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Fica: </a:t>
            </a:r>
            <a:pPr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7490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a pilha em cada passo: é a forma mais segura de não se enganar.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encontramos pilhas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Anular (Ctrl + Z)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é empilhada; anular desempilha a mais recente.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Chamadas de funções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"call stack" guarda as chamadas em curso. Recursão sem fim → StackOverflowError.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Parênteses equilibrados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[ { } ] ): empilha ao abrir, desempilha ao fechar e confirma o par.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7947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Botão "voltar" do browser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páginas visitadas ficam numa pilha; voltar desempilha a mais recente.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(QUEUES)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a entrar é o primeiro a sair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554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</a:t>
            </a:r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First In, First Out</a:t>
            </a:r>
            <a:endParaRPr lang="en-US" sz="30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Entra-se atrás; sai-se à frente: o mais antigo.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971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2971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x no fim da fila.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749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37490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 devolve o elemento da frente (o mais antigo).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52628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526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front()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4526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Espreita a frente, sem remover.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30352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303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 · isEmpty()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108960" y="5303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elementos há? Está vazia?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155448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da cantina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001000" y="3200400"/>
            <a:ext cx="502920" cy="5029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55280" y="3749040"/>
            <a:ext cx="594360" cy="731520"/>
          </a:xfrm>
          <a:prstGeom prst="roundRect">
            <a:avLst>
              <a:gd name="adj" fmla="val 30769"/>
            </a:avLst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0" y="3200400"/>
            <a:ext cx="502920" cy="5029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32520" y="3749040"/>
            <a:ext cx="594360" cy="731520"/>
          </a:xfrm>
          <a:prstGeom prst="roundRect">
            <a:avLst>
              <a:gd name="adj" fmla="val 30769"/>
            </a:avLst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555480" y="3200400"/>
            <a:ext cx="502920" cy="5029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09760" y="3749040"/>
            <a:ext cx="594360" cy="731520"/>
          </a:xfrm>
          <a:prstGeom prst="roundRect">
            <a:avLst>
              <a:gd name="adj" fmla="val 30769"/>
            </a:avLst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332720" y="3200400"/>
            <a:ext cx="502920" cy="5029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287000" y="3749040"/>
            <a:ext cx="594360" cy="731520"/>
          </a:xfrm>
          <a:prstGeom prst="roundRect">
            <a:avLst>
              <a:gd name="adj" fmla="val 30769"/>
            </a:avLst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7680960" y="4846320"/>
            <a:ext cx="45720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H="1">
            <a:off x="10881360" y="4846320"/>
            <a:ext cx="548640" cy="0"/>
          </a:xfrm>
          <a:prstGeom prst="line">
            <a:avLst/>
          </a:prstGeom>
          <a:noFill/>
          <a:ln w="2540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7680960" y="4983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(frente)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875520" y="4983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(fim)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primeiro é servido primeiro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EM 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operações, passo a passo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enqueue(A)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08960" y="214884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0896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enqueue(B)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108960" y="278892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0896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749040" y="278892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enqueue(C)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108960" y="342900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0896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749040" y="342900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4904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389120" y="342900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8912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 → 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108960" y="406908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0896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749040" y="406908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4904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 flipH="1">
            <a:off x="2697480" y="4297680"/>
            <a:ext cx="320040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760720" y="4069080"/>
            <a:ext cx="457200" cy="45720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7607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 pela frente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enqueue(D)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3108960" y="470916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10896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3749040" y="470916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74904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4389120" y="470916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38912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 → B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3108960" y="534924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10896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3749040" y="534924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74904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 flipH="1">
            <a:off x="2697480" y="5577840"/>
            <a:ext cx="320040" cy="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5760720" y="5349240"/>
            <a:ext cx="457200" cy="45720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7607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630936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 pela frente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8595360" y="1508760"/>
            <a:ext cx="3017520" cy="4206240"/>
          </a:xfrm>
          <a:prstGeom prst="roundRect">
            <a:avLst>
              <a:gd name="adj" fmla="val 3636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8239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8823960" y="21031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mesma sequência numa pilha, o primeiro a sair seria C. Na fila é A: o mais antigo.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8823960" y="4846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  ←  …  ←  fim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fila com um array circular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chega ao fim do array, o índice dá a volta ao início: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240280"/>
            <a:ext cx="914400" cy="6858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37360" y="2240280"/>
            <a:ext cx="914400" cy="68580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373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51760" y="2240280"/>
            <a:ext cx="914400" cy="68580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517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66160" y="2240280"/>
            <a:ext cx="914400" cy="6858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80560" y="2240280"/>
            <a:ext cx="914400" cy="6858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805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394960" y="2240280"/>
            <a:ext cx="914400" cy="6858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949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 flipV="1">
            <a:off x="4023360" y="2999232"/>
            <a:ext cx="0" cy="612648"/>
          </a:xfrm>
          <a:prstGeom prst="line">
            <a:avLst/>
          </a:prstGeom>
          <a:noFill/>
          <a:ln w="3175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329184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= 3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flipV="1">
            <a:off x="2194560" y="2999232"/>
            <a:ext cx="0" cy="612648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146304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= 1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Fila: B C D E  (E entrou na posição 0 depois de dar a volta)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572000"/>
            <a:ext cx="6949440" cy="1508760"/>
          </a:xfrm>
          <a:prstGeom prst="roundRect">
            <a:avLst>
              <a:gd name="adj" fmla="val 606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470916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enqueue(x):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A[tail] ← x;  tail ← (tail + 1) % cap;  count++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← A[head];  head ← (head + 1) % cap;  count−−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devolver x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863840" y="1508760"/>
            <a:ext cx="3749040" cy="4572000"/>
          </a:xfrm>
          <a:prstGeom prst="roundRect">
            <a:avLst>
              <a:gd name="adj" fmla="val 292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924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truque do módulo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092440" y="21031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capacidade 6: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 + 1) % 6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última posição vem a primeira, como num relógio.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092440" y="4937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enqueue e dequeue: O(1)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encontramos filas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38528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385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691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Impressora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2194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documentos são impressos por ordem de envio.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938528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9385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1691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Servidores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194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utilizadores atendidos por ordem de chegada.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2461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3630168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630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operativo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à espera de CPU ou de disco.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2461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92240" y="3630168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3630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em largura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um grafo "por camadas" (próximas aulas).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868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Lembra-se de Huffman (Aula 6)?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Usava uma fila de prioridade: sai o elemento mais "leve", não o mais antigo.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 duplas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 sair pelas duas pontas.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DUPLAS (DEQUES)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fila com duas portas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0" y="2103120"/>
            <a:ext cx="1005840" cy="82296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120640" y="2103120"/>
            <a:ext cx="1005840" cy="82296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26480" y="2103120"/>
            <a:ext cx="1005840" cy="82296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2648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132320" y="2103120"/>
            <a:ext cx="1005840" cy="82296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(frente)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(fim)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377440" y="2286000"/>
            <a:ext cx="1645920" cy="0"/>
          </a:xfrm>
          <a:prstGeom prst="line">
            <a:avLst/>
          </a:prstGeom>
          <a:noFill/>
          <a:ln w="3175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>
            <a:off x="2377440" y="2743200"/>
            <a:ext cx="164592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H="1">
            <a:off x="8229600" y="2286000"/>
            <a:ext cx="1645920" cy="0"/>
          </a:xfrm>
          <a:prstGeom prst="line">
            <a:avLst/>
          </a:prstGeom>
          <a:noFill/>
          <a:ln w="31750">
            <a:solidFill>
              <a:srgbClr val="155E5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229600" y="2743200"/>
            <a:ext cx="164592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3657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enqueueFront(x)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dequeueFront()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9669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enqueueBack(x)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9669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dequeueBack()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365760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29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pilha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389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só uma ponta: enqueueFront + dequeueFront.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297680" y="365760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57200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fila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0" y="4389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por uma ponta e sair pela outra: enqueueBack + dequeueFront.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46720" y="365760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coisas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389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histórico com limite — junta à frente e descarta o mais antigo atrás.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DUPLA EM 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Entradas e saídas nas duas pontas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enqueueBack(A)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023360" y="214884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2336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enqueueBack(B)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23360" y="278892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2336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278892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enqueueFront(C)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023360" y="342900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2336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663440" y="342900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6344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303520" y="342900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0352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dequeueBack() → B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023360" y="406908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2336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663440" y="406908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6344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492240" y="4069080"/>
            <a:ext cx="457200" cy="45720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92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 pelo fim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enqueueFront(D)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023360" y="4709160"/>
            <a:ext cx="64008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02336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663440" y="470916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6344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303520" y="470916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0352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dequeueFront() → D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4023360" y="534924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02336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4663440" y="5349240"/>
            <a:ext cx="640080" cy="45720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66344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6492240" y="5349240"/>
            <a:ext cx="457200" cy="45720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922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7040880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 pela frente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8961120" y="15087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18972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918972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operações são O(1)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918972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array circular ou com uma lista duplamente ligada.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classes que o Java já oferece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97680"/>
                <a:gridCol w="182880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Espreitar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Deque&lt;Integer&gt; p = new ArrayDeque&lt;&gt;();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Queue&lt;Integer&gt; f = new ArrayDeque&lt;&gt;();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offer(x)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poll()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dupla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Deque&lt;Integer&gt; d = new ArrayDeque&lt;&gt;();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offerFirst(x)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offerLast(x)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pollFirst()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pollLast()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peekFirst()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peekLast()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2628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ArrayDeque à classe Stack (antiga). Também pode usar LinkedList, que implementa Deque.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17920" y="452628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primeiro, faça à mão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exercícios 1 e 3 vai implementar as suas próprias classes com um array: é assim que se percebe o que está por dentro.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FRENTE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Pilha, fila e fila dupla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dupla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duas pontas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por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(tail)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 ou fim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por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 (head)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 ou fim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primeiro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mais recente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mais antigo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da ponta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pilha de pratos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da cantina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baralho de cartas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 (1 A 4)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 com array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pilha de inteiros com push(), pop() e size(), sobre um array de capacidade 1000.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a pilha cheia e a pilha vazia.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17920" y="15087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173736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Inverter n elementos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reverse(p, 3) sobre {1,2,3,4,5} (1 no topo) dá {3,2,1,4,5}.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uma fila auxiliar ajuda.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023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com array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fila de inteiros com enqueue(), dequeue() e size(), sobre um array de capacidade 1000.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array circular.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92240" y="4023360"/>
            <a:ext cx="594360" cy="59436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9224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4023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filas ordenadas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Fundir duas filas crescentes numa nova: [2,4,8,10] + [1,4,9] → [1,2,4,4,8,9,10].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649224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Merge da Aula 4!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 (5 A 7)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Variações sobre o mesmo tema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ordenada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do exercício 3 em que os elementos ficam guardados por ordem crescente.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389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é que o enqueue tem de inserir? Qual passa a ser o seu custo?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dupla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do exercício 3 com filas duplas: enqueueFront, enqueueBack, dequeueFront, dequeueBack.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389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circular continua a servir.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4672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8972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LinkedList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versões dos exercícios 1 e 3 usando uma lista duplamente ligada (LinkedList do Java).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4389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ganha? E o que perde?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 = LIFO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 pop no topo. Anular, chamadas de funções, parênteses.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= FIFO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atrás, sai à frente. Com array circular, tudo em O(1).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dupla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 sai pelas duas pontas; pode ser pilha ou fila. Em Java: ArrayDeque.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acesso é tudo: muda a regra e muda a estrutura.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971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Areias, M. (2023/24).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— Aula prática 7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DCC-FCUP. </a:t>
            </a:r>
            <a:pPr indent="0" marL="0">
              <a:buNone/>
            </a:pPr>
            <a:r>
              <a:rPr lang="en-US" sz="16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dcc.fc.up.pt/~miguel-areias/teaching/2324/ed/praticas/aula07.html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redesenhados a partir dos materiais de M. Areias.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7: Pilhas, Filas e Filas Duplas</dc:title>
  <dc:subject>PptxGenJS Presentation</dc:subject>
  <dc:creator>Luís Simões da Cunha</dc:creator>
  <cp:lastModifiedBy>Luís Simões da Cunha</cp:lastModifiedBy>
  <cp:revision>1</cp:revision>
  <dcterms:created xsi:type="dcterms:W3CDTF">2026-09-25T15:48:16Z</dcterms:created>
  <dcterms:modified xsi:type="dcterms:W3CDTF">2026-09-25T15:48:16Z</dcterms:modified>
</cp:coreProperties>
</file>