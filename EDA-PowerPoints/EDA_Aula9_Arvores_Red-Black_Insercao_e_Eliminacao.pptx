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9. A primeira metade do original repete a Aula 8; aqui a revisão da inserção foi condensada e o foco é a eliminação.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(2 minutos). Respostas: (1) vermelho, porque não altera o número de pretos em nenhum caminho; (2) recolorir: pai e tio pretos, avô vermelho, e repetir no avô; (3) duas rotações (primeiro em torno do pai, depois do avô).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Motivação: apagar um nó vermelho nunca estraga a contagem de pretos; apagar um preto estraga. É este o problema que a aula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 A revisão da inserção é breve: foi o tema da Aula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1: revisão rápida da Aula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da Aula 8. A regra 5 é a que a eliminação põe em risco. As folhas NIL (quadrados pretos) passam a aparecer nos desenhos desta aula, porque x pode ser uma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visual da inserção. Os exercícios 1 a 4 retomam a inserção.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2: eliminação numa árvore de pesquisa binária simples (sem cores).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passo da eliminação Red-Black: fazer como numa BST. Com dois filhos, troca-se pelo sucessor em ordem (o menor da subárvore direita) e elimina-se o sucessor, que tem no máximo um filho. (Também se pode usar o antecessor em ordem.)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Sucessor em ordem de z = o menor valor da subárvore direita: desce-se uma vez à direita e depois sempre à esquerda. Como é o menor, não tem filho esquerdo: tem no máximo um filho (o direito). É por isso que o caso "dois filhos" se reduz a "no máximo um filho".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Ideia-chave: remover um vermelho não muda a contagem de pretos. Remover um preto faz com que um caminho fique com menos um preto. O nó x (o que ocupa o lugar deixado) fica a "dever" um preto — por vezes diz-se que é "duplamente preto". Os casos 0 a 4 são formas de pagar essa dívida.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Notação do original: z = nó eliminado; substituto = quem ocupa o seu lugar (com dois filhos, o sucessor); x = nó que fica na posição "com dívida"; x.p = pai de x; w = irmão de x. Um filho NIL é a ausência de filho, mas conta como preto.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situações, tal como no original. Um filho NIL = ausência de filho.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do original. "Prossiga para o caso apropriado" = aplicar os casos 0 a 4 ao nó x. Nota: um substituto NIL conta como preto.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esconder as respostas com uma animação de entrada. A: substituto NIL → Regra 1. B: substituto vermelho → Regra 3. C: substituto NIL (preto) e x não é raiz → Regra 5. D: substituto (sucessor) preto → Regra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4. Convenção dos diagramas: x é filho esquerdo; se for direito, troca-se esquerda por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Terminologia útil: sobrinho próximo = filho de w do lado de x; sobrinho afastado = filho de w do lado oposto. Com x à esquerda: próximo = w.left, afastado = w.right. Caso 3 prepara o caso 4; o caso 1 prepara 2, 3 ou 4; o caso 2 empurra a dívida para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0: x é vermelho — pinta-se de preto e a dívida fica paga. Caso 1: w é vermelho — pinta-se w de preto, x.p de vermelho e roda-se x.p (à esquerda se x é filho esquerdo). O novo irmão de x é preto, e passa-se ao caso 2, 3 ou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Pinta-se w de vermelho: o lado de w perde um preto, ficando igual ao lado de x. Agora é o pai que "deve" um preto: x = x.p. Se o novo x for vermelho → caso 0. Se for a raiz → concluído. Senão, repete-se com o novo irmão.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x à esquerda: w.left vermelho, w.right preto. Pinta-se w.left de preto, w de vermelho e roda-se w à direita. O novo irmão de x tem agora um filho afastado vermelho: é o caso 4. (Como na inserção em triângulo: primeiro endireita-se.)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fica com a cor de x.p; x.p fica preto; o sobrinho afastado fica preto; roda-se x.p para o lado de x. O lado de x ganha um preto (x.p, agora preto, desceu para esse lado) e a dívida fica paga. Concluído — é o único caso que termina com uma rotação no pai.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caso faz trabalho constante. O caso 2 pode repetir-se, mas sobe sempre um nível: no máximo, a altura da árvore, O(log n). Os casos 1, 3 e 4 fazem rotações e terminam depressa: no total, uma eliminação faz no máximo 3 rotações; uma inserção no máximo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5. Exemplos de A. Chang (red-black-deletion-steps), redesenhados e verificados por simulação.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Eliminar 6: é vermelho e o substituto é NIL → Regra 1, concluído. Eliminar 1: é preto e o substituto (6) é vermelho → Regra 3: 6 sobe e fica preto. Laranja = nó eliminado (antes) ou x/substituto (depois).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a partir da árvore de partida. 17 tem dois filhos: o sucessor é 22 (vermelho), que ocupa o lugar de 17 e herda a sua cor; o 17 era vermelho e o substituto vermelho → Regra 1. 25 tem dois filhos: sucessor 27 (vermelho) → 25 era preto, substituto vermelho → Regra 3: 27 fica preto.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é vermelho e tem dois filhos. Sucessor: 22 (preto), com filho direito 26 → x = 26. Regra 2: o substituto 22 ocupa o lugar de 18 e fica vermelho (a cor de 18). Como x = 26 é vermelho → caso 0: 26 fica preto.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é vermelho com dois filhos; sucessor 4 (preto), filho direito NIL → x = NIL. Regra 2: 4 ocupa o lugar de 2 e fica vermelho. x (NIL, preto) tem irmão w = 1, preto, com filhos pretos → caso 2: 1 fica vermelho e x passa a ser o pai (4). Como 4 é vermelho → caso 0: 4 fica preto.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raiz 13 (preta) tem dois filhos; sucessor 15 (preto), filho direito NIL → x = NIL, sob 17. Regra 5: 15 ocupa a raiz (fica preto) e x não é a raiz. Irmão w = 25, preto, com sobrinho afastado 27 vermelho → caso 4: 25 fica com a cor de 17 (vermelho), 17 fica preto, 27 fica preto e roda-se 17 à esquerda.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exercícios 1 a 4 são os mesmos da Aula 8. Soluções dos exercícios 1 e 2 nas notas da Aula 8. A árvore do exercício 1 é o ponto de partida do exercício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verificadas por simulação (para o docente). Árvore de partida: 76(P); 30(V) com 13(P: 8V, 17V) e 61(P: 60V, 66V); 86(P). Eliminar 17: Regra 1. Eliminar 13: Regra 3 (8 sobe, preto). Eliminar 30: Regra 1 (sucessor 60, vermelho). Eliminar 76: Regra 5, casos 1, 3 e 4 → 60(P); 8(P); 66(V) com 61(P) e 86(P). Eliminar 86: Regra 5, caso 2 e caso 0 → 60(P); 8(P); 66(P) com 61(V).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aos alunos que reconstruam, de memória, o mapa dos casos 0 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exemplos de eliminação vêm do repositório de A. Chang, citado no original; aqui foram redesenhados e verificados por simulação.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enachang/red-black-deletion-steps" TargetMode="External"/><Relationship Id="rId2" Type="http://schemas.openxmlformats.org/officeDocument/2006/relationships/hyperlink" Target="https://www.cs.usfca.edu/~galles/visualization/RedBlack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 flipH="1">
            <a:off x="8138160" y="1188720"/>
            <a:ext cx="502920" cy="548640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41080" y="1188720"/>
            <a:ext cx="502920" cy="548640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8641080" y="640080"/>
            <a:ext cx="1005840" cy="548640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46920" y="640080"/>
            <a:ext cx="1005840" cy="548640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10149840" y="1188720"/>
            <a:ext cx="502920" cy="548640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52760" y="1188720"/>
            <a:ext cx="502920" cy="548640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155680" y="1737360"/>
            <a:ext cx="502920" cy="475488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0" y="155448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58200" y="1005840"/>
            <a:ext cx="365760" cy="36576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676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61120" y="155448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8696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464040" y="45720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7260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966960" y="155448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7552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469880" y="1005840"/>
            <a:ext cx="365760" cy="36576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37844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972800" y="155448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88136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581790" y="2212848"/>
            <a:ext cx="153619" cy="153619"/>
          </a:xfrm>
          <a:prstGeom prst="rect">
            <a:avLst/>
          </a:prstGeom>
          <a:solidFill>
            <a:srgbClr val="1F2A2E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Red-Black: Inserção e Eliminação</a:t>
            </a:r>
            <a:endParaRPr lang="en-US" sz="3600" dirty="0"/>
          </a:p>
        </p:txBody>
      </p:sp>
      <p:sp>
        <p:nvSpPr>
          <p:cNvPr id="30" name="Text 27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 ·  tirar um nó sem desequilibrar a árvore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A AULA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que cor é pintado um nó acabado de inserir? Porquê?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 vermelho e tio vermelho: o que se faz?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 vermelho, tio preto e o novo nó "em triângulo": quantas rotações?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apagarmos simplesmente o nó 15? O que se estraga?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7665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flipH="1">
            <a:off x="1188720" y="3666744"/>
            <a:ext cx="868680" cy="10515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3666744"/>
            <a:ext cx="868680" cy="10515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057400" y="2615184"/>
            <a:ext cx="1737360" cy="10515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2615184"/>
            <a:ext cx="1737360" cy="10515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4663440" y="3666744"/>
            <a:ext cx="868680" cy="10515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3666744"/>
            <a:ext cx="868680" cy="10515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443484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4348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73936" y="3383280"/>
            <a:ext cx="566928" cy="56692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82496" y="33832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42616" y="443484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51176" y="44348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11296" y="233172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19856" y="23317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79976" y="4434840"/>
            <a:ext cx="566928" cy="566928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88536" y="44348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13048" y="4389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apagar?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48656" y="3383280"/>
            <a:ext cx="566928" cy="56692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57216" y="33832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17336" y="443484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25896" y="44348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os nós pretos da raiz até cada folha.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89520" y="201168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25603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pretos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caminhos.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</a:t>
            </a:r>
            <a:pPr indent="0" marL="0">
              <a:buNone/>
            </a:pPr>
            <a:r>
              <a:rPr lang="en-US" sz="17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13 → 17 fica só com </a:t>
            </a:r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preto</a:t>
            </a:r>
            <a:pPr indent="0" marL="0">
              <a:buNone/>
            </a:pPr>
            <a:r>
              <a:rPr lang="en-US" sz="17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4754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5 violada! Apagar um preto deixa uma "dívida" de um preto.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sem desequilibrar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576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e inserção, num relance.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98064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26664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2666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26664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Remover numa BST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3026664" y="36576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Folha, um filho ou dois filhos.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47488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76088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7608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276088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5 regras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5276088" y="36576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sai, quem entra e de que cor.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296912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25512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25512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25512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casos 0 a 4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7525512" y="36576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a "dívida" de um preto.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546336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774936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7493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774936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9774936" y="36576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eliminações, passo a passo.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como tirar um nó preto sem estragar a contagem de pretos?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sabemos das árvores Red-Black.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DO JOGO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propriedades, duas que mandam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6766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5087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é vermelho ou preto.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6766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377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raiz é preta.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3246120"/>
            <a:ext cx="6766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2461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folhas NIL são pretas.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114800"/>
            <a:ext cx="6766560" cy="731520"/>
          </a:xfrm>
          <a:prstGeom prst="roundRect">
            <a:avLst>
              <a:gd name="adj" fmla="val 150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4114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vermelho não tem filhos vermelhos.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4983480"/>
            <a:ext cx="6766560" cy="731520"/>
          </a:xfrm>
          <a:prstGeom prst="roundRect">
            <a:avLst>
              <a:gd name="adj" fmla="val 150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5074920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463040" y="49834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caminhos de um nó até às folhas têm o mesmo número de pretos.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589520" y="150876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181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folhas NIL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 flipH="1">
            <a:off x="8092440" y="3451860"/>
            <a:ext cx="502920" cy="859536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95360" y="3451860"/>
            <a:ext cx="502920" cy="859536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>
            <a:off x="8595360" y="2491740"/>
            <a:ext cx="100584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601200" y="2491740"/>
            <a:ext cx="100584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10104120" y="3451860"/>
            <a:ext cx="502920" cy="859536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607040" y="3451860"/>
            <a:ext cx="502920" cy="859536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86827" y="4311396"/>
            <a:ext cx="211226" cy="211226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43900" y="3200400"/>
            <a:ext cx="502920" cy="5029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5246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992667" y="4311396"/>
            <a:ext cx="211226" cy="211226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349740" y="2240280"/>
            <a:ext cx="502920" cy="50292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258300" y="22402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9998507" y="4311396"/>
            <a:ext cx="211226" cy="211226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355580" y="3200400"/>
            <a:ext cx="502920" cy="5029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26414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1004347" y="4311396"/>
            <a:ext cx="211226" cy="211226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818120" y="4572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quadrados são as folhas NIL ("lugares vazios"). Contam como pretas.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NUM RELANCE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de decisão da Aula 8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como BST, pintar de vermelho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10128" y="1938528"/>
            <a:ext cx="60350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931920" y="155448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 é preto?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44768" y="1938528"/>
            <a:ext cx="69494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6172200" y="1554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155448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1554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0" y="2350008"/>
            <a:ext cx="0" cy="603504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12064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tio é vermelho?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3355848"/>
            <a:ext cx="69494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617220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58000" y="297180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2971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Recolorir: pai e tio pretos, avô vermelho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619488" y="3355848"/>
            <a:ext cx="530352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0149840" y="297180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149840" y="2971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no avô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029200" y="3767328"/>
            <a:ext cx="0" cy="603504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512064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(preto ou NIL)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931920" y="438912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931920" y="4389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linha ou em triângulo?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 flipH="1">
            <a:off x="3310128" y="4773168"/>
            <a:ext cx="60350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3337560" y="4389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43891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/ RR: 1 rotação + trocar cores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144768" y="4773168"/>
            <a:ext cx="69494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6126480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triângulo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858000" y="43891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RL: 2 rotações + trocar cores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548640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868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raiz ficou vermelha, pinta-se de preto.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Remover numa BST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das cores, a forma.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SITUAÇÕES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Folha, um filho ou dois filhos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Folha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Remove-se diretamente.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 flipH="1">
            <a:off x="1051560" y="2843784"/>
            <a:ext cx="50292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54480" y="2843784"/>
            <a:ext cx="50292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9536" y="3127248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" y="31272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362456" y="265176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71016" y="26517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865376" y="3127248"/>
            <a:ext cx="384048" cy="384048"/>
          </a:xfrm>
          <a:prstGeom prst="ellipse">
            <a:avLst/>
          </a:prstGeom>
          <a:solidFill>
            <a:srgbClr val="155E56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73936" y="31272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298448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66160" y="4206240"/>
            <a:ext cx="0" cy="41148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H="1">
            <a:off x="1463040" y="4855464"/>
            <a:ext cx="502920" cy="4114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71016" y="507492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79576" y="50749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773936" y="466344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682496" y="46634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97680" y="150876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filho</a:t>
            </a:r>
            <a:endParaRPr lang="en-US" sz="21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filho sobe para o lugar do nó.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 flipH="1">
            <a:off x="4800600" y="2843784"/>
            <a:ext cx="50292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03520" y="2843784"/>
            <a:ext cx="50292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06440" y="3319272"/>
            <a:ext cx="50292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08576" y="3127248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17136" y="31272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111496" y="265176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0056" y="26517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614416" y="3127248"/>
            <a:ext cx="384048" cy="384048"/>
          </a:xfrm>
          <a:prstGeom prst="ellipse">
            <a:avLst/>
          </a:prstGeom>
          <a:solidFill>
            <a:srgbClr val="155E56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522976" y="31272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47488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117336" y="3602736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025896" y="36027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315200" y="4206240"/>
            <a:ext cx="0" cy="41148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 flipH="1">
            <a:off x="5212080" y="4855464"/>
            <a:ext cx="502920" cy="4114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715000" y="4855464"/>
            <a:ext cx="502920" cy="4114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0056" y="507492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928616" y="50749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522976" y="466344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31536" y="46634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025896" y="5074920"/>
            <a:ext cx="384048" cy="384048"/>
          </a:xfrm>
          <a:prstGeom prst="ellipse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934456" y="50749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046720" y="150876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32104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filhos</a:t>
            </a:r>
            <a:endParaRPr lang="en-US" sz="2100" dirty="0"/>
          </a:p>
        </p:txBody>
      </p:sp>
      <p:sp>
        <p:nvSpPr>
          <p:cNvPr id="51" name="Text 48"/>
          <p:cNvSpPr txBox="1"/>
          <p:nvPr/>
        </p:nvSpPr>
        <p:spPr>
          <a:xfrm>
            <a:off x="832104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Troca-se pelo sucessor em ordem e remove-se o sucessor.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 flipH="1">
            <a:off x="8549640" y="2843784"/>
            <a:ext cx="50292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052560" y="2843784"/>
            <a:ext cx="100584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H="1">
            <a:off x="9555480" y="3319272"/>
            <a:ext cx="50292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058400" y="3319272"/>
            <a:ext cx="100584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H="1">
            <a:off x="10561320" y="3794760"/>
            <a:ext cx="50292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357616" y="3127248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66176" y="31272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8860536" y="265176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69096" y="26517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9363456" y="3602736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272016" y="36027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9866376" y="3127248"/>
            <a:ext cx="384048" cy="384048"/>
          </a:xfrm>
          <a:prstGeom prst="ellipse">
            <a:avLst/>
          </a:prstGeom>
          <a:solidFill>
            <a:srgbClr val="155E56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774936" y="31272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9299448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10369296" y="4078224"/>
            <a:ext cx="384048" cy="384048"/>
          </a:xfrm>
          <a:prstGeom prst="ellipse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0277856" y="40782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8" name="Text 65"/>
          <p:cNvSpPr txBox="1"/>
          <p:nvPr/>
        </p:nvSpPr>
        <p:spPr>
          <a:xfrm>
            <a:off x="9802368" y="40325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suc.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10872216" y="3602736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780776" y="36027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11064240" y="4206240"/>
            <a:ext cx="0" cy="41148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 flipH="1">
            <a:off x="8961120" y="4855464"/>
            <a:ext cx="502920" cy="4114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9464040" y="4855464"/>
            <a:ext cx="1005840" cy="4114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 flipH="1">
            <a:off x="9966960" y="5266944"/>
            <a:ext cx="502920" cy="4114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469880" y="5266944"/>
            <a:ext cx="502920" cy="4114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769096" y="507492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8677656" y="50749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9272016" y="466344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180576" y="46634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9774936" y="548640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9683496" y="54864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10277856" y="5074920"/>
            <a:ext cx="384048" cy="384048"/>
          </a:xfrm>
          <a:prstGeom prst="ellipse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10186416" y="50749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10780776" y="5486400"/>
            <a:ext cx="384048" cy="38404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10689336" y="54864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SUCESSOR EM ORDEM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o sucessor?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4400" y="3922776"/>
            <a:ext cx="658368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914400" y="2962656"/>
            <a:ext cx="1316736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31136" y="2962656"/>
            <a:ext cx="658368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2231136" y="2002536"/>
            <a:ext cx="1316736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7872" y="2002536"/>
            <a:ext cx="1316736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4206240" y="2962656"/>
            <a:ext cx="658368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64608" y="2962656"/>
            <a:ext cx="1316736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5522976" y="3922776"/>
            <a:ext cx="658368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1344" y="3922776"/>
            <a:ext cx="658368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" y="365760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7784" y="365760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307592" y="4617720"/>
            <a:ext cx="530352" cy="53035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16152" y="461772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965960" y="2697480"/>
            <a:ext cx="530352" cy="53035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874520" y="269748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624328" y="365760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32888" y="365760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282696" y="1737360"/>
            <a:ext cx="530352" cy="530352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191256" y="173736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715768" y="1691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941064" y="3657600"/>
            <a:ext cx="530352" cy="530352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49624" y="365760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374136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99432" y="2697480"/>
            <a:ext cx="530352" cy="53035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07992" y="269748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257800" y="4617720"/>
            <a:ext cx="530352" cy="53035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6360" y="461772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916168" y="365760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824728" y="365760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574536" y="4617720"/>
            <a:ext cx="530352" cy="53035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83096" y="461772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680960" y="1554480"/>
            <a:ext cx="3931920" cy="4480560"/>
          </a:xfrm>
          <a:prstGeom prst="roundRect">
            <a:avLst>
              <a:gd name="adj" fmla="val 2791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90956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13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7909560" y="21945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Uma vez à direita: 17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Sempre à esquerda: 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15 não tem filho esquerdo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sucessor é 15.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7909560" y="4846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sucessor tem, no máximo, um filho (o direito).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Eliminação Red-Black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sai, quem entra e de que cor.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INTUIÇÃO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Vermelho sai à vontade; preto deixa uma dívida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 um vermelho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caminho perde pretos. Normalmente não há nada a corrigir.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H="1">
            <a:off x="2011680" y="3337560"/>
            <a:ext cx="822960" cy="5486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34640" y="3337560"/>
            <a:ext cx="822960" cy="6400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15668" y="3886200"/>
            <a:ext cx="192024" cy="192024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06040" y="310896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51460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29000" y="3749040"/>
            <a:ext cx="457200" cy="45720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3756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15544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 um preto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caminho fica com menos um preto. Quem ocupa o lugar — x — fica a "dever" um preto.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 flipH="1">
            <a:off x="7772400" y="3337560"/>
            <a:ext cx="822960" cy="5486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95360" y="3337560"/>
            <a:ext cx="822960" cy="6400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76388" y="3886200"/>
            <a:ext cx="192024" cy="192024"/>
          </a:xfrm>
          <a:prstGeom prst="rect">
            <a:avLst/>
          </a:prstGeom>
          <a:solidFill>
            <a:srgbClr val="1F2A2E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76872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366760" y="3108960"/>
            <a:ext cx="457200" cy="45720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189720" y="374904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9828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868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pagar a dívida? 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x for vermelho, basta pintá-lo de preto. Se for preto, pede-se ajuda ao irmão w — e é daí que vêm os casos 1 a 4.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PERSONAGENS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quem na eliminação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flipH="1">
            <a:off x="914400" y="3383280"/>
            <a:ext cx="777240" cy="1042416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91640" y="3383280"/>
            <a:ext cx="777240" cy="1042416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1691640" y="2194560"/>
            <a:ext cx="1554480" cy="11887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2194560"/>
            <a:ext cx="1554480" cy="11887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4023360" y="3383280"/>
            <a:ext cx="777240" cy="11887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3383280"/>
            <a:ext cx="777240" cy="11887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0781" y="4425696"/>
            <a:ext cx="307238" cy="307238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25880" y="3017520"/>
            <a:ext cx="731520" cy="731520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34440" y="3017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315261" y="4425696"/>
            <a:ext cx="307238" cy="307238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80360" y="1828800"/>
            <a:ext cx="731520" cy="731520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8892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x.p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3657600" y="4206240"/>
            <a:ext cx="731520" cy="731520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4206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434840" y="3017520"/>
            <a:ext cx="731520" cy="73152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43400" y="3017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212080" y="4206240"/>
            <a:ext cx="731520" cy="731520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120640" y="4206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309360" y="160020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nó que queremos eliminar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309360" y="242316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0936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substituto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04672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ocupa o lugar de z (com 2 filhos: o sucessor)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309360" y="324612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0936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046720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nó que fica com a "dívida" de um preto (pode ser NIL)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309360" y="406908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8C9A98"/>
          </a:solidFill>
          <a:ln w="12700">
            <a:solidFill>
              <a:srgbClr val="8C9A9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0936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x.p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04672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 de x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309360" y="489204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09360" y="4892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804672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irmão de x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309360" y="5760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Cinzento = pode ser de qualquer cor.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SUBSTITUIÇÃO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x?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tem 2 filhos NIL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é NIL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 flipH="1">
            <a:off x="1371600" y="3657600"/>
            <a:ext cx="566928" cy="6400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3657600"/>
            <a:ext cx="566928" cy="6400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75588" y="4297680"/>
            <a:ext cx="192024" cy="192024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09928" y="3429000"/>
            <a:ext cx="457200" cy="457200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18488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409444" y="4297680"/>
            <a:ext cx="192024" cy="192024"/>
          </a:xfrm>
          <a:prstGeom prst="rect">
            <a:avLst/>
          </a:prstGeom>
          <a:solidFill>
            <a:srgbClr val="1F2A2E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09928" y="4114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297680" y="150876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0" y="173736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tem 1 filho NIL e 1 não-NIL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é o filho não-NIL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 flipH="1">
            <a:off x="5120640" y="3657600"/>
            <a:ext cx="566928" cy="6400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87568" y="3657600"/>
            <a:ext cx="566928" cy="7315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4628" y="4297680"/>
            <a:ext cx="192024" cy="192024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58968" y="3429000"/>
            <a:ext cx="457200" cy="457200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67528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25896" y="4160520"/>
            <a:ext cx="457200" cy="45720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34456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58968" y="4114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046720" y="150876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21040" y="1737360"/>
            <a:ext cx="594360" cy="59436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2104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05256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tem 2 filhos não-NIL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832104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é o filho direito do sucessor, antes de este ser removido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 flipH="1">
            <a:off x="8869680" y="3657600"/>
            <a:ext cx="566928" cy="7315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436608" y="3657600"/>
            <a:ext cx="2267712" cy="7315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H="1">
            <a:off x="10003536" y="5120640"/>
            <a:ext cx="566928" cy="6400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570464" y="5120640"/>
            <a:ext cx="566928" cy="6400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>
            <a:off x="10570464" y="4389120"/>
            <a:ext cx="1133856" cy="7315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41080" y="4160520"/>
            <a:ext cx="457200" cy="457200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54964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9208008" y="3429000"/>
            <a:ext cx="457200" cy="457200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116568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9907524" y="5760720"/>
            <a:ext cx="192024" cy="192024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341864" y="4892040"/>
            <a:ext cx="457200" cy="457200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250424" y="4892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11041380" y="5760720"/>
            <a:ext cx="192024" cy="192024"/>
          </a:xfrm>
          <a:prstGeom prst="rect">
            <a:avLst/>
          </a:prstGeom>
          <a:solidFill>
            <a:srgbClr val="1F2A2E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341864" y="5577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11475720" y="4160520"/>
            <a:ext cx="457200" cy="457200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38428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REGRAS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Olhar para a cor de quem sai e de quem entra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2194560"/>
                <a:gridCol w="1920240"/>
                <a:gridCol w="42062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Nó eliminado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 condição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vermelho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vermelho ou NIL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vermelho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 (não-NIL)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Pintar substituto de vermelho → caso de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vermelho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Pintar substituto de preto. Concluído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é a raiz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não é a raiz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para o caso de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166360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1, 3, 4: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— termina logo.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17920" y="5166360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9224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2 e 5: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dívida a pagar → casos.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RÁPIDA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regra se aplica?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39112"/>
            <a:ext cx="512064" cy="512064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39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um vermelho que é folha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9202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53512"/>
            <a:ext cx="512064" cy="512064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53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3464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um preto com um único filho vermelho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28346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867912"/>
            <a:ext cx="512064" cy="512064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67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4904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um preto que é folha (e não é a raiz)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7490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782312"/>
            <a:ext cx="512064" cy="512064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66344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um vermelho com 2 filhos, cujo sucessor é preto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6634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2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a coluna da direita e peça a resposta antes de a mostrar.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casos especiais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formas de pagar a dívida de um preto.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DOS CASOS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caso se aplica ao nó x?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é vermelho?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944368" y="1920240"/>
            <a:ext cx="621792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2926080" y="1572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6160" y="155448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0: pintar x de preto. Fim.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737360" y="2304288"/>
            <a:ext cx="0" cy="512064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1828800" y="2377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irmão w é vermelho?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944368" y="3200400"/>
            <a:ext cx="621792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926080" y="2852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66160" y="283464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2834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1: tornar w preto (rodar) e voltar a perguntar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737360" y="3584448"/>
            <a:ext cx="0" cy="512064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182880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11480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filhos de w são pretos?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944368" y="4480560"/>
            <a:ext cx="621792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2926080" y="4133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566160" y="411480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66160" y="4114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2: w vermelho; a dívida sobe para x.p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737360" y="4864608"/>
            <a:ext cx="0" cy="512064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1828800" y="4937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539496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5394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sobrinho afastado é vermelho?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944368" y="5760720"/>
            <a:ext cx="621792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2926080" y="54132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566160" y="539496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566160" y="5394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3: rodar w → vira caso 4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876288" y="5760720"/>
            <a:ext cx="530352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406640" y="539496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06640" y="5394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4: rodar x.p e trocar cores. Fim.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406640" y="4983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(afastado vermelho) → diretamente para o caso 4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406640" y="155448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63524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Sobrinhos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 flipH="1">
            <a:off x="8046720" y="2377440"/>
            <a:ext cx="713232" cy="8229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759952" y="2377440"/>
            <a:ext cx="1426464" cy="8229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H="1">
            <a:off x="9473184" y="3200400"/>
            <a:ext cx="713232" cy="8229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186416" y="3200400"/>
            <a:ext cx="713232" cy="82296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818120" y="297180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72668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8531352" y="2148840"/>
            <a:ext cx="457200" cy="457200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439912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244584" y="3794760"/>
            <a:ext cx="457200" cy="457200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153144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9957816" y="297180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866376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10671048" y="3794760"/>
            <a:ext cx="457200" cy="457200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579608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7635240" y="4343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próximo (do lado de x)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afastado (lado oposto)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0 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vermelho; ou irmão vermelho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291840" cy="4526280"/>
          </a:xfrm>
          <a:prstGeom prst="roundRect">
            <a:avLst>
              <a:gd name="adj" fmla="val 3333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0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é vermelho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88720" y="2651760"/>
            <a:ext cx="548640" cy="54864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103120" y="2926080"/>
            <a:ext cx="548640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743200" y="2651760"/>
            <a:ext cx="548640" cy="54864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51760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57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Pintar x de preto.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114800" y="1508760"/>
            <a:ext cx="74980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34340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preto, irmão w vermelho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 flipH="1">
            <a:off x="4572000" y="2779776"/>
            <a:ext cx="56692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38928" y="2779776"/>
            <a:ext cx="1133856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5705856" y="3557016"/>
            <a:ext cx="56692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72784" y="3557016"/>
            <a:ext cx="56692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52544" y="3337560"/>
            <a:ext cx="438912" cy="438912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61104" y="333756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19472" y="256032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28032" y="256032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0" y="411480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94960" y="411480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53328" y="3337560"/>
            <a:ext cx="438912" cy="43891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61888" y="333756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620256" y="411480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28816" y="411480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223760" y="3291840"/>
            <a:ext cx="548640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H="1">
            <a:off x="8138160" y="3557016"/>
            <a:ext cx="56692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05088" y="3557016"/>
            <a:ext cx="56692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H="1">
            <a:off x="8705088" y="2779776"/>
            <a:ext cx="1133856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838944" y="2779776"/>
            <a:ext cx="56692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918704" y="4114800"/>
            <a:ext cx="438912" cy="438912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827264" y="411480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485632" y="3337560"/>
            <a:ext cx="438912" cy="43891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394192" y="333756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052560" y="411480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961120" y="411480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485632" y="4069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w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619488" y="256032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528048" y="256032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10186416" y="333756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094976" y="333756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343400" y="5074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 → preto   2. x.p → vermelho   3. rodar x.p para o lado de x   4. novo w = irmão de x   5. ir para o caso 2, 3 ou 4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Sobrinhos pretos: a dívida sobe para o pai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63640" y="150876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flipH="1">
            <a:off x="1737360" y="24140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95728" y="2414016"/>
            <a:ext cx="1316736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3054096" y="33284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12464" y="33284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72184" y="3063240"/>
            <a:ext cx="530352" cy="530352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80744" y="30632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" y="3017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130552" y="2148840"/>
            <a:ext cx="530352" cy="530352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39112" y="21488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788920" y="39776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39776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447288" y="30632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55848" y="30632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105656" y="39776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14216" y="39776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 flipH="1">
            <a:off x="7452360" y="24140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10728" y="2414016"/>
            <a:ext cx="1316736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8769096" y="33284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427464" y="33284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87184" y="30632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95744" y="30632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845552" y="2148840"/>
            <a:ext cx="530352" cy="530352"/>
          </a:xfrm>
          <a:prstGeom prst="ellipse">
            <a:avLst/>
          </a:prstGeom>
          <a:solidFill>
            <a:srgbClr val="8C9A98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54112" y="21488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278624" y="2103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x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503920" y="39776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0" y="39776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162288" y="3063240"/>
            <a:ext cx="530352" cy="53035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070848" y="30632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820656" y="39776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729216" y="39776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916168" y="3291840"/>
            <a:ext cx="32918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548640" y="5349240"/>
            <a:ext cx="3474720" cy="685800"/>
          </a:xfrm>
          <a:prstGeom prst="roundRect">
            <a:avLst>
              <a:gd name="adj" fmla="val 4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48640" y="5349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Pintar w de vermelho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297680" y="5349240"/>
            <a:ext cx="3474720" cy="685800"/>
          </a:xfrm>
          <a:prstGeom prst="roundRect">
            <a:avLst>
              <a:gd name="adj" fmla="val 4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297680" y="5349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x = x.p (a dívida sobe)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8046720" y="5349240"/>
            <a:ext cx="3474720" cy="685800"/>
          </a:xfrm>
          <a:prstGeom prst="roundRect">
            <a:avLst>
              <a:gd name="adj" fmla="val 4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046720" y="5349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x vermelho → caso 0; x raiz → fim; senão → casos 1 a 4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Sobrinho próximo vermelho, afastado preto: endireitar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63640" y="150876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agora é caso 4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flipH="1">
            <a:off x="1737360" y="2414016"/>
            <a:ext cx="65836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95728" y="2414016"/>
            <a:ext cx="1316736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3054096" y="3191256"/>
            <a:ext cx="65836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12464" y="3191256"/>
            <a:ext cx="65836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72184" y="2926080"/>
            <a:ext cx="530352" cy="530352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80744" y="292608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130552" y="2148840"/>
            <a:ext cx="530352" cy="530352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39112" y="21488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788920" y="3703320"/>
            <a:ext cx="530352" cy="53035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370332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47288" y="292608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55848" y="292608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105656" y="370332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14216" y="370332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 flipH="1">
            <a:off x="7452360" y="2414016"/>
            <a:ext cx="65836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10728" y="2414016"/>
            <a:ext cx="65836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769096" y="3191256"/>
            <a:ext cx="65836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427464" y="3968496"/>
            <a:ext cx="65836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87184" y="2926080"/>
            <a:ext cx="530352" cy="530352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95744" y="292608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620256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845552" y="2148840"/>
            <a:ext cx="530352" cy="530352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54112" y="21488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8503920" y="292608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0" y="292608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936992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w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9162288" y="3703320"/>
            <a:ext cx="530352" cy="53035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070848" y="370332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9820656" y="448056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729216" y="448056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916168" y="3291840"/>
            <a:ext cx="32918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548640" y="5349240"/>
            <a:ext cx="2606040" cy="685800"/>
          </a:xfrm>
          <a:prstGeom prst="roundRect">
            <a:avLst>
              <a:gd name="adj" fmla="val 4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8640" y="5349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Pintar o sobrinho próximo de preto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3364992" y="5349240"/>
            <a:ext cx="2606040" cy="685800"/>
          </a:xfrm>
          <a:prstGeom prst="roundRect">
            <a:avLst>
              <a:gd name="adj" fmla="val 4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364992" y="5349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Pintar w de vermelho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6181344" y="5349240"/>
            <a:ext cx="2606040" cy="685800"/>
          </a:xfrm>
          <a:prstGeom prst="roundRect">
            <a:avLst>
              <a:gd name="adj" fmla="val 4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181344" y="5349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Rodar w (para o lado oposto a x)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8997696" y="5349240"/>
            <a:ext cx="2606040" cy="685800"/>
          </a:xfrm>
          <a:prstGeom prst="roundRect">
            <a:avLst>
              <a:gd name="adj" fmla="val 4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997696" y="5349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Novo w; ir para o caso 4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Sobrinho afastado vermelho: rodar e fechar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63640" y="150876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dívida paga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flipH="1">
            <a:off x="1737360" y="24140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95728" y="2414016"/>
            <a:ext cx="1316736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3054096" y="33284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12464" y="33284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72184" y="3063240"/>
            <a:ext cx="530352" cy="530352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80744" y="30632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" y="3017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130552" y="2148840"/>
            <a:ext cx="530352" cy="530352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39112" y="21488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788920" y="3977640"/>
            <a:ext cx="530352" cy="530352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39776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47288" y="30632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55848" y="30632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105656" y="3977640"/>
            <a:ext cx="530352" cy="53035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14216" y="39776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 flipH="1">
            <a:off x="7223760" y="33284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82128" y="33284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7882128" y="2414016"/>
            <a:ext cx="1316736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198864" y="2414016"/>
            <a:ext cx="65836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58584" y="39776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67144" y="39776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616952" y="30632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25512" y="30632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275320" y="3977640"/>
            <a:ext cx="530352" cy="530352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183880" y="39776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933688" y="2148840"/>
            <a:ext cx="530352" cy="530352"/>
          </a:xfrm>
          <a:prstGeom prst="ellipse">
            <a:avLst/>
          </a:prstGeom>
          <a:solidFill>
            <a:srgbClr val="8C9A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842248" y="21488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9592056" y="3063240"/>
            <a:ext cx="530352" cy="53035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500616" y="306324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916168" y="3291840"/>
            <a:ext cx="32918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548640" y="5349240"/>
            <a:ext cx="2606040" cy="685800"/>
          </a:xfrm>
          <a:prstGeom prst="roundRect">
            <a:avLst>
              <a:gd name="adj" fmla="val 4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8640" y="5349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 ← cor de x.p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3364992" y="5349240"/>
            <a:ext cx="2606040" cy="685800"/>
          </a:xfrm>
          <a:prstGeom prst="roundRect">
            <a:avLst>
              <a:gd name="adj" fmla="val 4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364992" y="5349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x.p → preto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181344" y="5349240"/>
            <a:ext cx="2606040" cy="685800"/>
          </a:xfrm>
          <a:prstGeom prst="roundRect">
            <a:avLst>
              <a:gd name="adj" fmla="val 4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181344" y="5349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Sobrinho afastado → preto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8997696" y="5349240"/>
            <a:ext cx="2606040" cy="685800"/>
          </a:xfrm>
          <a:prstGeom prst="roundRect">
            <a:avLst>
              <a:gd name="adj" fmla="val 4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997696" y="5349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Rodar x.p. Fim!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com tantos casos, continua O(log n)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6517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(pior caso)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Rotações, no máximo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a conhecer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regras + 5 casos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6667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4389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vale a pena? </a:t>
            </a:r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complexidade dos casos está toda na implementação, feita uma vez. Quem usa um TreeMap em Java tem pesquisa, inserção e eliminação garantidas em O(log n), sempre.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resolvidos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eliminações, passo a passo.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1 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6 (Regra 1) e eliminar 1 (Regra 3)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931920" cy="4526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partida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4005072"/>
            <a:ext cx="35661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868680" y="3136392"/>
            <a:ext cx="71323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912" y="3136392"/>
            <a:ext cx="35661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1581912" y="2267712"/>
            <a:ext cx="71323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95144" y="2267712"/>
            <a:ext cx="71323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2651760" y="3136392"/>
            <a:ext cx="35661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08376" y="3136392"/>
            <a:ext cx="71323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3364992" y="4005072"/>
            <a:ext cx="35661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21608" y="4005072"/>
            <a:ext cx="35661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4088" y="3840480"/>
            <a:ext cx="329184" cy="329184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2648" y="384048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60704" y="4709160"/>
            <a:ext cx="329184" cy="32918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" y="47091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417320" y="2971800"/>
            <a:ext cx="329184" cy="32918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25880" y="297180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773936" y="3840480"/>
            <a:ext cx="329184" cy="329184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682496" y="384048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30552" y="2103120"/>
            <a:ext cx="329184" cy="329184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039112" y="210312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487168" y="3840480"/>
            <a:ext cx="329184" cy="329184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95728" y="384048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843784" y="2971800"/>
            <a:ext cx="329184" cy="32918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752344" y="297180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00400" y="4709160"/>
            <a:ext cx="329184" cy="32918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108960" y="47091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557016" y="3840480"/>
            <a:ext cx="329184" cy="329184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65576" y="384048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913632" y="4709160"/>
            <a:ext cx="329184" cy="32918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822192" y="47091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63440" y="1508760"/>
            <a:ext cx="3383280" cy="4526280"/>
          </a:xfrm>
          <a:prstGeom prst="roundRect">
            <a:avLst>
              <a:gd name="adj" fmla="val 3243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89204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6  </a:t>
            </a:r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1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4892040" y="3995928"/>
            <a:ext cx="274320" cy="806501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>
            <a:off x="4892040" y="3127248"/>
            <a:ext cx="5486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440680" y="3127248"/>
            <a:ext cx="27432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H="1">
            <a:off x="5440680" y="2258568"/>
            <a:ext cx="5486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89320" y="2258568"/>
            <a:ext cx="5486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H="1">
            <a:off x="6263640" y="3127248"/>
            <a:ext cx="27432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37960" y="3127248"/>
            <a:ext cx="5486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H="1">
            <a:off x="6812280" y="3995928"/>
            <a:ext cx="27432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086600" y="3995928"/>
            <a:ext cx="27432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736592" y="3840480"/>
            <a:ext cx="310896" cy="310896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645152" y="384048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5101072" y="4802429"/>
            <a:ext cx="130576" cy="130576"/>
          </a:xfrm>
          <a:prstGeom prst="rect">
            <a:avLst/>
          </a:prstGeom>
          <a:solidFill>
            <a:srgbClr val="1F2A2E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443984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285232" y="2971800"/>
            <a:ext cx="310896" cy="310896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193792" y="297180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559552" y="3840480"/>
            <a:ext cx="310896" cy="310896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468112" y="384048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5833872" y="2103120"/>
            <a:ext cx="310896" cy="310896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742432" y="210312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6108192" y="3840480"/>
            <a:ext cx="310896" cy="310896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016752" y="384048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382512" y="2971800"/>
            <a:ext cx="310896" cy="310896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291072" y="297180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6656832" y="4709160"/>
            <a:ext cx="310896" cy="310896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565392" y="47091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6931152" y="3840480"/>
            <a:ext cx="310896" cy="310896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839712" y="384048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7205472" y="4709160"/>
            <a:ext cx="310896" cy="310896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7114032" y="47091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9" name="Text 66"/>
          <p:cNvSpPr txBox="1"/>
          <p:nvPr/>
        </p:nvSpPr>
        <p:spPr>
          <a:xfrm>
            <a:off x="489204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era vermelho, substituto NIL. Nada a corrigir.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8229600" y="1508760"/>
            <a:ext cx="3383280" cy="4526280"/>
          </a:xfrm>
          <a:prstGeom prst="roundRect">
            <a:avLst>
              <a:gd name="adj" fmla="val 3243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45820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1  </a:t>
            </a:r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3</a:t>
            </a:r>
            <a:endParaRPr lang="en-US" sz="1500" dirty="0"/>
          </a:p>
        </p:txBody>
      </p:sp>
      <p:sp>
        <p:nvSpPr>
          <p:cNvPr id="72" name="Shape 69"/>
          <p:cNvSpPr/>
          <p:nvPr/>
        </p:nvSpPr>
        <p:spPr>
          <a:xfrm flipH="1">
            <a:off x="8503920" y="3127248"/>
            <a:ext cx="31089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814816" y="3127248"/>
            <a:ext cx="31089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 flipH="1">
            <a:off x="8814816" y="2258568"/>
            <a:ext cx="62179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436608" y="2258568"/>
            <a:ext cx="62179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 flipH="1">
            <a:off x="9747504" y="3127248"/>
            <a:ext cx="31089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058400" y="3127248"/>
            <a:ext cx="62179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 flipH="1">
            <a:off x="10369296" y="3995928"/>
            <a:ext cx="31089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0680192" y="3995928"/>
            <a:ext cx="31089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348472" y="3840480"/>
            <a:ext cx="310896" cy="310896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8257032" y="384048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2" name="Text 79"/>
          <p:cNvSpPr txBox="1"/>
          <p:nvPr/>
        </p:nvSpPr>
        <p:spPr>
          <a:xfrm>
            <a:off x="7781544" y="3794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100" dirty="0"/>
          </a:p>
        </p:txBody>
      </p:sp>
      <p:sp>
        <p:nvSpPr>
          <p:cNvPr id="83" name="Shape 80"/>
          <p:cNvSpPr/>
          <p:nvPr/>
        </p:nvSpPr>
        <p:spPr>
          <a:xfrm>
            <a:off x="8659368" y="2971800"/>
            <a:ext cx="310896" cy="310896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8567928" y="297180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8970264" y="3840480"/>
            <a:ext cx="310896" cy="310896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8878824" y="384048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9281160" y="2103120"/>
            <a:ext cx="310896" cy="310896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189720" y="210312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9592056" y="3840480"/>
            <a:ext cx="310896" cy="310896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9500616" y="384048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9902952" y="2971800"/>
            <a:ext cx="310896" cy="310896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9811512" y="297180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10213848" y="4709160"/>
            <a:ext cx="310896" cy="310896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0122408" y="47091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10524744" y="3840480"/>
            <a:ext cx="310896" cy="310896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10433304" y="384048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10835640" y="4709160"/>
            <a:ext cx="310896" cy="310896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10744200" y="47091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99" name="Text 96"/>
          <p:cNvSpPr txBox="1"/>
          <p:nvPr/>
        </p:nvSpPr>
        <p:spPr>
          <a:xfrm>
            <a:off x="845820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era preto, substituto 6 vermelho: 6 sobe e fica preto.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3 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17 (Regra 1) e eliminar 25 (Regra 3)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17  </a:t>
            </a:r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1 (sucessor 22)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4078224"/>
            <a:ext cx="4572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914400" y="3209544"/>
            <a:ext cx="9144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0" y="3209544"/>
            <a:ext cx="4572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1828800" y="2340864"/>
            <a:ext cx="9144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0" y="2340864"/>
            <a:ext cx="9144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3200400" y="3209544"/>
            <a:ext cx="4572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0" y="3209544"/>
            <a:ext cx="9144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4114800" y="4078224"/>
            <a:ext cx="457200" cy="79187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4078224"/>
            <a:ext cx="4572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" y="38862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79576" y="475488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8136" y="47548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636776" y="301752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545336" y="3017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093976" y="38862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02536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551176" y="214884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459736" y="2148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008376" y="38862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916936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465576" y="3017520"/>
            <a:ext cx="384048" cy="384048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374136" y="3017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034150" y="4870094"/>
            <a:ext cx="161300" cy="161300"/>
          </a:xfrm>
          <a:prstGeom prst="rect">
            <a:avLst/>
          </a:prstGeom>
          <a:solidFill>
            <a:srgbClr val="1F2A2E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355848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379976" y="38862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288536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37176" y="475488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45736" y="47548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" y="5257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ocupa o lugar de 17 e fica vermelho. Nada mais a fazer.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217920" y="150876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25  </a:t>
            </a:r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3 (sucessor 27)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6583680" y="4078224"/>
            <a:ext cx="4572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H="1">
            <a:off x="6583680" y="3209544"/>
            <a:ext cx="9144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98080" y="3209544"/>
            <a:ext cx="4572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H="1">
            <a:off x="7498080" y="2340864"/>
            <a:ext cx="9144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412480" y="2340864"/>
            <a:ext cx="9144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H="1">
            <a:off x="8869680" y="3209544"/>
            <a:ext cx="4572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326880" y="3209544"/>
            <a:ext cx="9144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H="1">
            <a:off x="9784080" y="4078224"/>
            <a:ext cx="45720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241280" y="4078224"/>
            <a:ext cx="457200" cy="79187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91656" y="38862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300216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848856" y="475488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757416" y="47548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306056" y="301752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214616" y="3017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7763256" y="38862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671816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8220456" y="214884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129016" y="2148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8677656" y="38862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586216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9134856" y="301752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043416" y="3017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9592056" y="475488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500616" y="47548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10049256" y="3886200"/>
            <a:ext cx="384048" cy="384048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957816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10617830" y="4870094"/>
            <a:ext cx="161300" cy="161300"/>
          </a:xfrm>
          <a:prstGeom prst="rect">
            <a:avLst/>
          </a:prstGeom>
          <a:solidFill>
            <a:srgbClr val="1F2A2E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939528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ocupa o lugar de 25 e fica preto. Concluído.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18: Regra 2 e caso 0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63640" y="150876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flipH="1">
            <a:off x="1005840" y="2368296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72768" y="2368296"/>
            <a:ext cx="226771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2139696" y="4105656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06624" y="4105656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2706624" y="3236976"/>
            <a:ext cx="113385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0" y="3236976"/>
            <a:ext cx="113385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4407408" y="4105656"/>
            <a:ext cx="566928" cy="78089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74336" y="4105656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01752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4944" y="301752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353312" y="214884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1872" y="214884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920240" y="4754880"/>
            <a:ext cx="438912" cy="43891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28800" y="475488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487168" y="388620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395728" y="388620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054096" y="4754880"/>
            <a:ext cx="438912" cy="43891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962656" y="475488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621024" y="3017520"/>
            <a:ext cx="438912" cy="438912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529584" y="301752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054096" y="2971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315236" y="4886554"/>
            <a:ext cx="184343" cy="184343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54880" y="388620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63440" y="388620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187952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321808" y="4754880"/>
            <a:ext cx="438912" cy="43891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30368" y="475488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7548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 flipH="1">
            <a:off x="6766560" y="2368296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333488" y="2368296"/>
            <a:ext cx="226771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>
            <a:off x="7900416" y="4105656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467344" y="4105656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H="1">
            <a:off x="8467344" y="3236976"/>
            <a:ext cx="113385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601200" y="3236976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47104" y="301752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55664" y="301752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114032" y="214884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022592" y="214884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7680960" y="4754880"/>
            <a:ext cx="438912" cy="43891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589520" y="475488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8247888" y="3886200"/>
            <a:ext cx="438912" cy="438912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156448" y="388620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8814816" y="4754880"/>
            <a:ext cx="438912" cy="43891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723376" y="475488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9381744" y="3017520"/>
            <a:ext cx="438912" cy="43891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290304" y="301752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9948672" y="3886200"/>
            <a:ext cx="438912" cy="438912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857232" y="388620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9381744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5916168" y="3291840"/>
            <a:ext cx="32918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61" name="Shape 58"/>
          <p:cNvSpPr/>
          <p:nvPr/>
        </p:nvSpPr>
        <p:spPr>
          <a:xfrm>
            <a:off x="548640" y="5486400"/>
            <a:ext cx="3474720" cy="594360"/>
          </a:xfrm>
          <a:prstGeom prst="roundRect">
            <a:avLst>
              <a:gd name="adj" fmla="val 46154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48640" y="5486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Sucessor de 18: 22 → x = 26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4297680" y="5486400"/>
            <a:ext cx="3474720" cy="594360"/>
          </a:xfrm>
          <a:prstGeom prst="roundRect">
            <a:avLst>
              <a:gd name="adj" fmla="val 46154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297680" y="5486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2: 22 sobe e fica vermelho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8046720" y="5486400"/>
            <a:ext cx="3474720" cy="594360"/>
          </a:xfrm>
          <a:prstGeom prst="roundRect">
            <a:avLst>
              <a:gd name="adj" fmla="val 46154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046720" y="5486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0: x vermelho → preto. Fim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2: Regra 2 e caso 2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63640" y="150876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flipH="1">
            <a:off x="1005840" y="3246120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72768" y="3246120"/>
            <a:ext cx="113385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2139696" y="4114800"/>
            <a:ext cx="56692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06624" y="4114800"/>
            <a:ext cx="56692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1572768" y="2377440"/>
            <a:ext cx="2267712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0" y="2377440"/>
            <a:ext cx="113385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4407408" y="3246120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74336" y="3246120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344168" y="3017520"/>
            <a:ext cx="457200" cy="45720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52728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2971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043684" y="4892040"/>
            <a:ext cx="192024" cy="192024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478024" y="388620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386584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911096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177540" y="4892040"/>
            <a:ext cx="192024" cy="192024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478024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611880" y="214884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204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178808" y="3886200"/>
            <a:ext cx="457200" cy="45720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087368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745736" y="301752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54296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312664" y="3886200"/>
            <a:ext cx="457200" cy="45720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21224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 flipH="1">
            <a:off x="6812280" y="3246120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79208" y="3246120"/>
            <a:ext cx="56692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H="1">
            <a:off x="7379208" y="2377440"/>
            <a:ext cx="113385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13064" y="2377440"/>
            <a:ext cx="113385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H="1">
            <a:off x="9079992" y="3246120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646920" y="3246120"/>
            <a:ext cx="56692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83680" y="3886200"/>
            <a:ext cx="457200" cy="45720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92240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016752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150608" y="3017520"/>
            <a:ext cx="457200" cy="457200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059168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6583680" y="2971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7850124" y="4023360"/>
            <a:ext cx="192024" cy="192024"/>
          </a:xfrm>
          <a:prstGeom prst="rect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284464" y="214884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193024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8851392" y="3886200"/>
            <a:ext cx="457200" cy="45720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759952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9418320" y="3017520"/>
            <a:ext cx="457200" cy="45720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326880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9985248" y="3886200"/>
            <a:ext cx="457200" cy="45720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893808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5916168" y="3291840"/>
            <a:ext cx="32918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548640" y="5486400"/>
            <a:ext cx="3474720" cy="594360"/>
          </a:xfrm>
          <a:prstGeom prst="roundRect">
            <a:avLst>
              <a:gd name="adj" fmla="val 46154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48640" y="5486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2: 4 sobe e fica vermelho</a:t>
            </a:r>
            <a:endParaRPr lang="en-US" sz="1350" dirty="0"/>
          </a:p>
        </p:txBody>
      </p:sp>
      <p:sp>
        <p:nvSpPr>
          <p:cNvPr id="62" name="Shape 59"/>
          <p:cNvSpPr/>
          <p:nvPr/>
        </p:nvSpPr>
        <p:spPr>
          <a:xfrm>
            <a:off x="4297680" y="5486400"/>
            <a:ext cx="3474720" cy="594360"/>
          </a:xfrm>
          <a:prstGeom prst="roundRect">
            <a:avLst>
              <a:gd name="adj" fmla="val 46154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297680" y="5486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2: w = 1 → vermelho; x = 4</a:t>
            </a:r>
            <a:endParaRPr lang="en-US" sz="1350" dirty="0"/>
          </a:p>
        </p:txBody>
      </p:sp>
      <p:sp>
        <p:nvSpPr>
          <p:cNvPr id="64" name="Shape 61"/>
          <p:cNvSpPr/>
          <p:nvPr/>
        </p:nvSpPr>
        <p:spPr>
          <a:xfrm>
            <a:off x="8046720" y="5486400"/>
            <a:ext cx="3474720" cy="594360"/>
          </a:xfrm>
          <a:prstGeom prst="roundRect">
            <a:avLst>
              <a:gd name="adj" fmla="val 46154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046720" y="5486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0: x = 4 vermelho → preto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13: Regra 5 e caso 4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80390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914400" y="302666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7904" y="302666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1517904" y="224942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224942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2423160" y="302666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24912" y="302666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3026664" y="380390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28416" y="380390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6656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069848" y="443484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78408" y="44348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371600" y="288036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280160" y="28803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673352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581912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975104" y="2103120"/>
            <a:ext cx="292608" cy="292608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883664" y="21031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408176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276856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85416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709928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578608" y="288036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487168" y="28803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880360" y="443484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788920" y="44348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182112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090672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483864" y="443484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392424" y="44348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041648" y="3291840"/>
            <a:ext cx="23774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4297680" y="15087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44805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 (Regra 5)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663440" y="380390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H="1">
            <a:off x="4663440" y="302666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266944" y="302666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H="1">
            <a:off x="5266944" y="224942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70448" y="224942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H="1">
            <a:off x="6172200" y="3026664"/>
            <a:ext cx="301752" cy="71871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473952" y="302666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H="1">
            <a:off x="6775704" y="380390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077456" y="380390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517136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425696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818888" y="443484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27448" y="44348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120640" y="288036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029200" y="28803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5422392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330952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5724144" y="210312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632704" y="21031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6110752" y="3745382"/>
            <a:ext cx="122895" cy="122895"/>
          </a:xfrm>
          <a:prstGeom prst="rect">
            <a:avLst/>
          </a:prstGeom>
          <a:solidFill>
            <a:srgbClr val="1F2A2E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458968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6327648" y="288036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236208" y="28803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6629400" y="443484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537960" y="44348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6931152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839712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6364224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7232904" y="443484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141464" y="44348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7790688" y="3291840"/>
            <a:ext cx="23774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74" name="Shape 71"/>
          <p:cNvSpPr/>
          <p:nvPr/>
        </p:nvSpPr>
        <p:spPr>
          <a:xfrm>
            <a:off x="8046720" y="15087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822960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caso 4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8412480" y="380390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 flipH="1">
            <a:off x="8412480" y="302666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015984" y="302666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 flipH="1">
            <a:off x="9015984" y="224942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619488" y="2249424"/>
            <a:ext cx="1207008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flipH="1">
            <a:off x="9921240" y="3803904"/>
            <a:ext cx="301752" cy="71871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222992" y="380390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 flipH="1">
            <a:off x="10222992" y="3026664"/>
            <a:ext cx="603504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826496" y="3026664"/>
            <a:ext cx="301752" cy="7772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266176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8174736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8567928" y="443484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8476488" y="44348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8869680" y="288036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8778240" y="28803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9171432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9079992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9473184" y="210312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381744" y="21031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9859792" y="4522622"/>
            <a:ext cx="122895" cy="122895"/>
          </a:xfrm>
          <a:prstGeom prst="rect">
            <a:avLst/>
          </a:prstGeom>
          <a:solidFill>
            <a:srgbClr val="1F2A2E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9208008" y="4389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10076688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9985248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10378440" y="443484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10287000" y="44348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10680192" y="288036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10588752" y="28803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10981944" y="3657600"/>
            <a:ext cx="292608" cy="29260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10890504" y="3657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548640" y="5532120"/>
            <a:ext cx="3474720" cy="566928"/>
          </a:xfrm>
          <a:prstGeom prst="roundRect">
            <a:avLst>
              <a:gd name="adj" fmla="val 4838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548640" y="55321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Sucessor 15 → x = NIL</a:t>
            </a:r>
            <a:endParaRPr lang="en-US" sz="1300" dirty="0"/>
          </a:p>
        </p:txBody>
      </p:sp>
      <p:sp>
        <p:nvSpPr>
          <p:cNvPr id="107" name="Shape 104"/>
          <p:cNvSpPr/>
          <p:nvPr/>
        </p:nvSpPr>
        <p:spPr>
          <a:xfrm>
            <a:off x="4297680" y="5532120"/>
            <a:ext cx="3474720" cy="566928"/>
          </a:xfrm>
          <a:prstGeom prst="roundRect">
            <a:avLst>
              <a:gd name="adj" fmla="val 4838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4297680" y="55321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5: 15 na raiz, x não é raiz</a:t>
            </a:r>
            <a:endParaRPr lang="en-US" sz="1300" dirty="0"/>
          </a:p>
        </p:txBody>
      </p:sp>
      <p:sp>
        <p:nvSpPr>
          <p:cNvPr id="109" name="Shape 106"/>
          <p:cNvSpPr/>
          <p:nvPr/>
        </p:nvSpPr>
        <p:spPr>
          <a:xfrm>
            <a:off x="8046720" y="5532120"/>
            <a:ext cx="3474720" cy="566928"/>
          </a:xfrm>
          <a:prstGeom prst="roundRect">
            <a:avLst>
              <a:gd name="adj" fmla="val 48387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0" name="Text 107"/>
          <p:cNvSpPr txBox="1"/>
          <p:nvPr/>
        </p:nvSpPr>
        <p:spPr>
          <a:xfrm>
            <a:off x="8046720" y="55321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4: recolorir e rodar 17. Fim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 (1 A 4)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Inserção: retomar a Aula 8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1783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Inserir, em papel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30, 86, 76, 8, 60, 13, 66, 61, 17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178308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1783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Inserir, em papel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96, 78, 6, 18, 7, 54, 25, 53, 36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4023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Analisar o código Java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disponível no Moodle: testar com os exemplos dos diapositivos.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7947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92240" y="402336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269480" y="4023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Mostrar a árvore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que imprime a árvore com ├── e └── (ver Aula 8).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DE APLICAÇÃO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a sua vez de eliminar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737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Partindo da árvore do exercício 1, elimine, por esta ordem: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743200"/>
            <a:ext cx="868680" cy="8686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801368" y="3172968"/>
            <a:ext cx="237744" cy="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057400" y="2743200"/>
            <a:ext cx="868680" cy="8686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57400" y="2743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944368" y="3172968"/>
            <a:ext cx="237744" cy="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200400" y="2743200"/>
            <a:ext cx="868680" cy="8686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00400" y="2743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087368" y="3172968"/>
            <a:ext cx="237744" cy="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343400" y="2743200"/>
            <a:ext cx="868680" cy="8686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43400" y="2743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230368" y="3172968"/>
            <a:ext cx="237744" cy="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486400" y="2743200"/>
            <a:ext cx="868680" cy="8686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0" y="2743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39319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eliminação indique a regra e os casos especiais que usou.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9377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um dos valores obriga a passar por três casos seguidos. Qual?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223760" y="1554480"/>
            <a:ext cx="4389120" cy="4480560"/>
          </a:xfrm>
          <a:prstGeom prst="roundRect">
            <a:avLst>
              <a:gd name="adj" fmla="val 25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5236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partida (ex. 1)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 flipH="1">
            <a:off x="7589520" y="4306824"/>
            <a:ext cx="420624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10144" y="4306824"/>
            <a:ext cx="420624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>
            <a:off x="8010144" y="3392424"/>
            <a:ext cx="84124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51392" y="3392424"/>
            <a:ext cx="841248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9272016" y="4306824"/>
            <a:ext cx="420624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692640" y="4306824"/>
            <a:ext cx="420624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8851392" y="2478024"/>
            <a:ext cx="1682496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533888" y="2478024"/>
            <a:ext cx="420624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97496" y="502920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06056" y="5029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818120" y="41148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26680" y="41148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238744" y="502920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147304" y="5029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659368" y="320040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567928" y="32004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079992" y="502920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988552" y="5029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9500616" y="41148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409176" y="41148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9921240" y="5029200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829800" y="5029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341864" y="22860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250424" y="22860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10762488" y="320040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671048" y="32004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7452360" y="5394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no simulador de Galles.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Primeiro, a BST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ou um filho: remove-se. Dois filhos: troca-se pelo sucessor em ordem.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Depois, as cores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um vermelho: tudo bem. Sai um preto: x fica a dever um preto (regras 2 e 5).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Pagar a dívida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vermelho → preto (caso 0). Senão, pede-se ajuda ao irmão w (casos 1 a 4).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Pesquisar, inserir e eliminar: sempre O(log n).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38528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Weiss, M. A. (2012). </a:t>
            </a:r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 Analysis in Java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127248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926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Chang, A. </a:t>
            </a:r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red-black-deletion-steps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GitHub. </a:t>
            </a:r>
            <a:pPr indent="0" marL="0">
              <a:buNone/>
            </a:pPr>
            <a:r>
              <a:rPr lang="en-US" sz="1600" u="sng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github.com/alenachang/red-black-deletion-steps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4315968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41148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Galles, D. </a:t>
            </a:r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Red/Black Tree Visualization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University of San Francisco. </a:t>
            </a:r>
            <a:pPr indent="0" marL="0">
              <a:buNone/>
            </a:pPr>
            <a:r>
              <a:rPr lang="en-US" sz="1600" u="sng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cs.usfca.edu/~galles/visualization/RedBlack.html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9: Árvores Red-Black — Inserção e Eliminação</dc:title>
  <dc:subject>PptxGenJS Presentation</dc:subject>
  <dc:creator>Luís Simões da Cunha</dc:creator>
  <cp:lastModifiedBy>Luís Simões da Cunha</cp:lastModifiedBy>
  <cp:revision>1</cp:revision>
  <dcterms:created xsi:type="dcterms:W3CDTF">2026-09-25T16:14:01Z</dcterms:created>
  <dcterms:modified xsi:type="dcterms:W3CDTF">2026-09-25T16:14:01Z</dcterms:modified>
</cp:coreProperties>
</file>