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 da Aula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Prática de recuperação (2 minutos). Respostas: (1) O(log n), num array ORDENADO (Aula 2); (2) O(n), porque é preciso deslocar os elementos (Aula 1); (3) um grafo conexo e sem ciclos (Aula 1). As três preparam a pergunta de hoje: como ter pesquisa rápida E inserção rápida?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Motivação: nenhuma das estruturas já estudadas é boa nas duas operações. A árvore equilibrada é o compromisso ideal.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Organizador prévio da aula. A remoção em Red-Black fica para a próxima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Árvore: estrutura hierárquica de nós, com um nó designado como raiz. Profundidade de um nó = número de arestas desde a raiz. Altura da árvore = maior profundidade. Nesta árvore, a altura é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Exemplos do original. O de compressão liga à Aula 6 (Huffman). Nos índices de bases de dados usam-se sobretudo árvores B, uma generalização das árvores de pesquisa.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cada nó: todos os valores da subárvore esquerda são menores; todos os da direita são maiores. Pesquisar 12: 12 &gt; 10 → direita; 12 &lt; 15 → esquerda; encontrado. Cada comparação desce um nível — é a pesquisa binária da Aula 2, mas numa árvore.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Inserir 13: 13 &gt; 10 → direita; 13 &lt; 15 → esquerda; 13 &gt; 12 → direita, que está vazia: é aí que fica, como folha. Bónus: percorrer a árvore "em ordem" (esquerda, nó, direita) dá os valores ordenados.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forma da árvore depende da ORDEM de inserção. Inserir valores já ordenados (10, 15, 20, 30, …) produz uma "árvore" que é, na prática, uma lista ligada: a pesquisa passa a O(n). O original dizia apenas "O(log n)" para a BST; isso só é garantido se a árvore estiver equilibrada.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Relembrar a regra prática da Aula 2: multiplicar n por 1000 acrescenta cerca de 10 passos numa estrutura logarítmica.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Manter a árvore PERFEITAMENTE equilibrada (subárvores com a mesma profundidade) seria demasiado caro em cada inserção e remoção. Aceita-se um equilíbrio aproximado, suficiente para garantir O(log n). Duas famílias clássicas: AVL (mais rígida) e Red-Black (mais flexível, menos reorganizações). A classe TreeMap do Java é uma árvore Red-Black.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Árvore de pesquisa binária autoequilibrada: reequilibra-se com rotações e mudanças de cor. As folhas "nulas" (NIL) contam como pretas — esta regra estava implícita no original. A regra 5 conta os nós pretos até às folhas NIL.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Árvore do original, verificada por simulação. Verificação da regra 5: qualquer caminho da raiz até uma folha passa por exatamente 2 nós pretos (16 e um de 7, 15, 18 ou 40). Regra 4: os vermelhos (10, 25, 30, 60) têm todos filhos pretos ou NIL.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todos os caminhos têm o mesmo número b de pretos (regra 5) e não há vermelhos seguidos (regra 4), o caminho mais curto tem b nós (só pretos) e o mais longo no máximo 2b (preto, vermelho, preto, vermelho…). Daqui resulta que a altura é no máximo 2·log2(n + 1): pesquisa, inserção e remoção em O(log n), garantido.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da Parte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Porquê vermelho? Um nó vermelho novo não altera o número de pretos em nenhum caminho (regra 5 intacta). O único risco é violar a regra 4, se o pai também for vermelho. Exceção: se for a raiz, pinta-se de preto.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Nomes a usar: N = novo nó; P = pai; G = avô (grandparent); T = tio (irmão do pai). Como o pai é vermelho, não é a raiz; logo, o avô existe e é preto. Tudo depende da cor do tio.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 e tio passam a pretos, o avô passa a vermelho. O número de pretos em cada caminho mantém-se. Mas o avô, agora vermelho, pode ter um pai vermelho: repete-se a verificação a partir do avô. Se o avô for a raiz, volta a pintar-se de preto.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LL: novo nó à esquerda do pai, pai à esquerda do avô → rotação à direita em torno do avô; o pai passa a preto e o avô a vermelho. RR é o espelho: rotação à esquerda. A rotação preserva a ordem da BST (esquerda &lt; nó &lt; direita).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LR: pai à esquerda do avô, novo nó à direita do pai (forma de triângulo). 1.º rotação à esquerda em torno do pai → fica em linha (LL). 2.º rotação à direita em torno do avô e troca de cores: o novo nó fica preto no topo, pai e avô vermelhos. RL é o espelho.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visual para usar nos exercícios. No fim de tudo: se a raiz ficou vermelha, pinta-se de preto (passo 4 do original).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Sequência verificada por simulação, escolhida para passar por todos os casos: 20 (pai preto), 30 (RR: rotação à esquerda), 15 (tio vermelho: recolorir; a raiz volta a preto), 25 (pai preto), 27 (tio preto/NIL em triângulo, LR em relação a 30: 25 é filho esquerdo de 30 e 27 é filho direito de 25 → rotação à esquerda em 25 e à direita em 30). Anel laranja = nó acabado de inserir.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Simulador de David Galles (University of San Francisco): permite inserir valores e ver passo a passo as recolorações e rotações. Sugestão: repetir no simulador o exemplo resolvido e os exercícios 1 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verificadas por simulação (para o docente). Ex. 1 — árvore final: raiz 76 (P); 30 (V) com 13 (P: filhos 8 V, 17 V) e 61 (P: filhos 60 V, 66 V); 86 (P). Ex. 2 — árvore final: raiz 25 (P); 7 (V) com 6 (P) e 18 (P); 78 (V) com 53 (P: filhos 36 V, 54 V) e 96 (P).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Ex. 3: o código Java de uma árvore Red-Black está no Moodle (inserção e pesquisa). Ex. 4: sugerir um método recursivo com um prefixo (String) que vai crescendo: "├── " para filhos que não são o último, "└── " para o último, e "│   " na indentação.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Síntese. Pedir aos alunos que, sem olhar, desenhem o mapa de decisão da inserção.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Weiss é o manual de referência para este bloco. O simulador de Galles é o recomendado no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s.usfca.edu/~galles/visualization/RedBlack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s.usfca.edu/~galles/visualization/RedBlack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3200400" cy="75941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4805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Licenciatura em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Informática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349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letivo 2026/2027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 flipH="1">
            <a:off x="8138160" y="1261872"/>
            <a:ext cx="502920" cy="566928"/>
          </a:xfrm>
          <a:prstGeom prst="line">
            <a:avLst/>
          </a:prstGeom>
          <a:noFill/>
          <a:ln w="19050">
            <a:solidFill>
              <a:srgbClr val="3E6B6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41080" y="1261872"/>
            <a:ext cx="502920" cy="566928"/>
          </a:xfrm>
          <a:prstGeom prst="line">
            <a:avLst/>
          </a:prstGeom>
          <a:noFill/>
          <a:ln w="19050">
            <a:solidFill>
              <a:srgbClr val="3E6B6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H="1">
            <a:off x="8641080" y="694944"/>
            <a:ext cx="1005840" cy="566928"/>
          </a:xfrm>
          <a:prstGeom prst="line">
            <a:avLst/>
          </a:prstGeom>
          <a:noFill/>
          <a:ln w="19050">
            <a:solidFill>
              <a:srgbClr val="3E6B6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46920" y="694944"/>
            <a:ext cx="1005840" cy="566928"/>
          </a:xfrm>
          <a:prstGeom prst="line">
            <a:avLst/>
          </a:prstGeom>
          <a:noFill/>
          <a:ln w="19050">
            <a:solidFill>
              <a:srgbClr val="3E6B6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10149840" y="1261872"/>
            <a:ext cx="502920" cy="566928"/>
          </a:xfrm>
          <a:prstGeom prst="line">
            <a:avLst/>
          </a:prstGeom>
          <a:noFill/>
          <a:ln w="19050">
            <a:solidFill>
              <a:srgbClr val="3E6B6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652760" y="1261872"/>
            <a:ext cx="502920" cy="566928"/>
          </a:xfrm>
          <a:prstGeom prst="line">
            <a:avLst/>
          </a:prstGeom>
          <a:noFill/>
          <a:ln w="19050">
            <a:solidFill>
              <a:srgbClr val="3E6B6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946136" y="1636776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54696" y="16367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449056" y="1069848"/>
            <a:ext cx="384048" cy="38404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57616" y="10698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951976" y="1636776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860536" y="16367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454896" y="502920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63456" y="50292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9957816" y="1636776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866376" y="16367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460736" y="1069848"/>
            <a:ext cx="384048" cy="38404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369296" y="1069848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0963656" y="1636776"/>
            <a:ext cx="384048" cy="38404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872216" y="1636776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846320" y="2651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846320" y="306324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Árvores de Pesquisa Binária e Árvores Red-Black</a:t>
            </a:r>
            <a:endParaRPr lang="en-US" sz="3400" dirty="0"/>
          </a:p>
        </p:txBody>
      </p:sp>
      <p:sp>
        <p:nvSpPr>
          <p:cNvPr id="28" name="Text 25"/>
          <p:cNvSpPr txBox="1"/>
          <p:nvPr/>
        </p:nvSpPr>
        <p:spPr>
          <a:xfrm>
            <a:off x="4846320" y="45262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  ·  Estruturas de dados avançadas, parte 2 — inserção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4846320" y="53949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perguntas para aquecer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86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828800" y="16916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a complexidade da pesquisa binária? Que condição exige? (Aula 2)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548640" y="30632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32918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8680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828800" y="30632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 custa inserir um elemento no meio de um array ordenado? (Aula 1)</a:t>
            </a:r>
            <a:endParaRPr lang="en-US" sz="2100" dirty="0"/>
          </a:p>
        </p:txBody>
      </p:sp>
      <p:sp>
        <p:nvSpPr>
          <p:cNvPr id="15" name="Shape 12"/>
          <p:cNvSpPr/>
          <p:nvPr/>
        </p:nvSpPr>
        <p:spPr>
          <a:xfrm>
            <a:off x="548640" y="4434840"/>
            <a:ext cx="110642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68680" y="466344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" y="4663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828800" y="4434840"/>
            <a:ext cx="9509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árvore, segundo a definição da Aula 1?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sem olhar para os apontamentos: recordar é o que consolida a memória.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milhão de alunos, com matrículas a entrar e a sair todos os dias. Que estrutura usar?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7498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237744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Pesquisar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Inserir / remover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F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 ordenado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ligada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A12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5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O(1)*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B3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equilibrada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55E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1206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depois de encontrar a posição, o que já custa O(n)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412480" y="2651760"/>
            <a:ext cx="3200400" cy="2377440"/>
          </a:xfrm>
          <a:prstGeom prst="roundRect">
            <a:avLst>
              <a:gd name="adj" fmla="val 4615"/>
            </a:avLst>
          </a:prstGeom>
          <a:solidFill>
            <a:srgbClr val="0B3F3C"/>
          </a:solidFill>
          <a:ln w="9525">
            <a:solidFill>
              <a:srgbClr val="0B3F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41080" y="2788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melhor dos dois mundos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41080" y="35204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a árvore que pesquisa como um array ordenado e insere quase tão bem como uma lista.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…mas só se a árvore estiver equilibrada. É esse o desafio da aula.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HOJE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árvore à árvore que se equilibra sozinha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Árvores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 e onde se usam.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364992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39312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39312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639312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 binária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Esquerda menor, direita maior — e o risco de "degenerar".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81344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55664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55664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55664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Red-Black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6455664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regras que garantem o equilíbrio.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997696" y="173736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72016" y="20116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272016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9272016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Inserção</a:t>
            </a:r>
            <a:endParaRPr lang="en-US" sz="2100" dirty="0"/>
          </a:p>
        </p:txBody>
      </p:sp>
      <p:sp>
        <p:nvSpPr>
          <p:cNvPr id="26" name="Text 23"/>
          <p:cNvSpPr txBox="1"/>
          <p:nvPr/>
        </p:nvSpPr>
        <p:spPr>
          <a:xfrm>
            <a:off x="9272016" y="352044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Recolorir e rodar, caso a caso.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Pergunta-guia: como garantir que uma árvore nunca fica "torta"?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hierárquicas.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VOCABULÁRIO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peças de uma árvore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 flipH="1">
            <a:off x="1005840" y="3931920"/>
            <a:ext cx="731520" cy="10058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H="1">
            <a:off x="1737360" y="2926080"/>
            <a:ext cx="731520" cy="10058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68880" y="2926080"/>
            <a:ext cx="731520" cy="10058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2468880" y="1920240"/>
            <a:ext cx="1463040" cy="10058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31920" y="1920240"/>
            <a:ext cx="1463040" cy="10058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4663440" y="2926080"/>
            <a:ext cx="731520" cy="10058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94960" y="2926080"/>
            <a:ext cx="731520" cy="10058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6634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463040" y="3657600"/>
            <a:ext cx="548640" cy="548640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371600" y="3657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194560" y="2651760"/>
            <a:ext cx="548640" cy="548640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103120" y="2651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2926080" y="3657600"/>
            <a:ext cx="548640" cy="548640"/>
          </a:xfrm>
          <a:prstGeom prst="ellipse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834640" y="3657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657600" y="1645920"/>
            <a:ext cx="548640" cy="548640"/>
          </a:xfrm>
          <a:prstGeom prst="ellipse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6616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389120" y="3657600"/>
            <a:ext cx="548640" cy="548640"/>
          </a:xfrm>
          <a:prstGeom prst="ellipse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97680" y="3657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120640" y="2651760"/>
            <a:ext cx="548640" cy="548640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029200" y="265176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852160" y="3657600"/>
            <a:ext cx="548640" cy="548640"/>
          </a:xfrm>
          <a:prstGeom prst="ellipse">
            <a:avLst/>
          </a:prstGeom>
          <a:solidFill>
            <a:srgbClr val="E6F0E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760720" y="36576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0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667512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1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675120" y="37490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2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6675120" y="4754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 3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412480" y="1554480"/>
            <a:ext cx="32004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8595360" y="1874520"/>
            <a:ext cx="320040" cy="32004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052560" y="16276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Raiz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9052560" y="19659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nó do topo (A). Não tem pai.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8412480" y="2651760"/>
            <a:ext cx="32004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8595360" y="2971800"/>
            <a:ext cx="320040" cy="3200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052560" y="27249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 e filho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9052560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ligados por uma aresta: B é pai de D e E.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8412480" y="3749040"/>
            <a:ext cx="32004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8595360" y="4069080"/>
            <a:ext cx="320040" cy="320040"/>
          </a:xfrm>
          <a:prstGeom prst="ellipse">
            <a:avLst/>
          </a:prstGeom>
          <a:solidFill>
            <a:srgbClr val="E6F0EE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052560" y="38221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Folha</a:t>
            </a:r>
            <a:endParaRPr lang="en-US" sz="1600" dirty="0"/>
          </a:p>
        </p:txBody>
      </p:sp>
      <p:sp>
        <p:nvSpPr>
          <p:cNvPr id="45" name="Text 42"/>
          <p:cNvSpPr txBox="1"/>
          <p:nvPr/>
        </p:nvSpPr>
        <p:spPr>
          <a:xfrm>
            <a:off x="905256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sem filhos (H, E, F, G).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8412480" y="4846320"/>
            <a:ext cx="32004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8595360" y="5166360"/>
            <a:ext cx="320040" cy="320040"/>
          </a:xfrm>
          <a:prstGeom prst="ellipse">
            <a:avLst/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9052560" y="49194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Altura</a:t>
            </a:r>
            <a:endParaRPr lang="en-US" sz="1600" dirty="0"/>
          </a:p>
        </p:txBody>
      </p:sp>
      <p:sp>
        <p:nvSpPr>
          <p:cNvPr id="49" name="Text 46"/>
          <p:cNvSpPr txBox="1"/>
          <p:nvPr/>
        </p:nvSpPr>
        <p:spPr>
          <a:xfrm>
            <a:off x="9052560" y="5257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níveis abaixo da raiz: aqui, 3.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SE USAM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Árvores por todo o lado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de ficheiros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64592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Pastas dentro de pastas.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3154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Bases de dados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1645920" y="3611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Índices para encontrar registos depressa.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44805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77240" y="480060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800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645920" y="4617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e XML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1645920" y="5074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página web é uma árvore de elementos (DOM).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17920" y="155448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46520" y="187452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465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0" y="1691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operativos</a:t>
            </a:r>
            <a:endParaRPr lang="en-US" sz="1900" dirty="0"/>
          </a:p>
        </p:txBody>
      </p:sp>
      <p:sp>
        <p:nvSpPr>
          <p:cNvPr id="26" name="Text 23"/>
          <p:cNvSpPr txBox="1"/>
          <p:nvPr/>
        </p:nvSpPr>
        <p:spPr>
          <a:xfrm>
            <a:off x="731520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escalonamento de processos.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217920" y="301752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46520" y="333756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4652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0" y="3154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Compressão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7315200" y="36118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árvore de Huffman (Aula 6)!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217920" y="4480560"/>
            <a:ext cx="5394960" cy="1280160"/>
          </a:xfrm>
          <a:prstGeom prst="roundRect">
            <a:avLst>
              <a:gd name="adj" fmla="val 8571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92240" y="448056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que há hierarquia ou necessidade de encontrar coisas depressa, há uma árvore escondida.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Árvores de pesquisa binária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Menores à esquerda, maiores à direita.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ÁRVORE DE PESQUISA BINÁRIA (BST)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regra simples em cada nó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 flipH="1">
            <a:off x="1097280" y="3849624"/>
            <a:ext cx="86868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H="1">
            <a:off x="1965960" y="2889504"/>
            <a:ext cx="86868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34640" y="2889504"/>
            <a:ext cx="86868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2834640" y="1929384"/>
            <a:ext cx="173736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0" y="1929384"/>
            <a:ext cx="173736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H="1">
            <a:off x="5440680" y="2889504"/>
            <a:ext cx="86868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889504"/>
            <a:ext cx="86868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13816" y="4526280"/>
            <a:ext cx="566928" cy="56692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2376" y="45262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682496" y="3566160"/>
            <a:ext cx="566928" cy="56692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591056" y="35661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2551176" y="2606040"/>
            <a:ext cx="566928" cy="56692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459736" y="26060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419856" y="3566160"/>
            <a:ext cx="566928" cy="56692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328416" y="35661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288536" y="1645920"/>
            <a:ext cx="566928" cy="566928"/>
          </a:xfrm>
          <a:prstGeom prst="ellipse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197096" y="16459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157216" y="3566160"/>
            <a:ext cx="566928" cy="566928"/>
          </a:xfrm>
          <a:prstGeom prst="ellipse">
            <a:avLst/>
          </a:prstGeom>
          <a:solidFill>
            <a:srgbClr val="E77A2D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065776" y="35661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892040" y="4133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encontrado!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25896" y="2606040"/>
            <a:ext cx="566928" cy="566928"/>
          </a:xfrm>
          <a:prstGeom prst="ellipse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934456" y="26060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894576" y="3566160"/>
            <a:ext cx="566928" cy="56692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803136" y="35661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589520" y="155448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772400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esquerda  &lt;  nó  &lt;  direita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777240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todos os nós da árvore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7589520" y="33832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Pesquisar 12</a:t>
            </a:r>
            <a:endParaRPr lang="en-US" sz="1800" dirty="0"/>
          </a:p>
        </p:txBody>
      </p:sp>
      <p:sp>
        <p:nvSpPr>
          <p:cNvPr id="35" name="Shape 32"/>
          <p:cNvSpPr/>
          <p:nvPr/>
        </p:nvSpPr>
        <p:spPr>
          <a:xfrm>
            <a:off x="7589520" y="388620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589520" y="388620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&gt; 10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9281160" y="3886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direita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7589520" y="443484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589520" y="443484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&lt; 15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9281160" y="44348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esquerda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7589520" y="4983480"/>
            <a:ext cx="1554480" cy="438912"/>
          </a:xfrm>
          <a:prstGeom prst="roundRect">
            <a:avLst>
              <a:gd name="adj" fmla="val 50000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589520" y="49834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= 12</a:t>
            </a:r>
            <a:endParaRPr lang="en-US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9281160" y="498348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encontrado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7589520" y="5623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comparações para 8 elementos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NUMA BST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Pesquisar até cair num lugar vazio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 flipH="1">
            <a:off x="1005840" y="3849624"/>
            <a:ext cx="77724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H="1">
            <a:off x="1783080" y="2889504"/>
            <a:ext cx="77724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60320" y="2889504"/>
            <a:ext cx="77724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2560320" y="1929384"/>
            <a:ext cx="155448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0" y="1929384"/>
            <a:ext cx="233172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3849624"/>
            <a:ext cx="77724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4892040" y="2889504"/>
            <a:ext cx="155448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2889504"/>
            <a:ext cx="777240" cy="96012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2376" y="4526280"/>
            <a:ext cx="566928" cy="56692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0936" y="45262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499616" y="3566160"/>
            <a:ext cx="566928" cy="56692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408176" y="35661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276856" y="2606040"/>
            <a:ext cx="566928" cy="56692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185416" y="26060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054096" y="3566160"/>
            <a:ext cx="566928" cy="56692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962656" y="35661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31336" y="1645920"/>
            <a:ext cx="566928" cy="56692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739896" y="16459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608576" y="3566160"/>
            <a:ext cx="566928" cy="56692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17136" y="35661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385816" y="4526280"/>
            <a:ext cx="566928" cy="566928"/>
          </a:xfrm>
          <a:prstGeom prst="ellipse">
            <a:avLst/>
          </a:prstGeom>
          <a:solidFill>
            <a:srgbClr val="E77A2D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294376" y="45262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5120640" y="50932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63056" y="2606040"/>
            <a:ext cx="566928" cy="56692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071616" y="26060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6940296" y="3566160"/>
            <a:ext cx="566928" cy="56692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48856" y="35661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772400" y="155448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00100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13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8001000" y="21031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&gt; 10 → direita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&lt; 15 → esquerda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&gt; 12 → direita (vazio)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aqui, como folha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7772400" y="3840480"/>
            <a:ext cx="3840480" cy="2194560"/>
          </a:xfrm>
          <a:prstGeom prst="roundRect">
            <a:avLst>
              <a:gd name="adj" fmla="val 5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001000" y="3977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Bónus: percurso em ordem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8001000" y="43891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esquerda → nó → direita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8001000" y="4846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3 5 7 8 10 12 13 15 20</a:t>
            </a:r>
            <a:endParaRPr lang="en-US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8001000" y="5349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tudo ordenado!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regra, duas árvores muito diferentes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Equilibrada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023360" y="1691640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02336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 flipH="1">
            <a:off x="914400" y="3483864"/>
            <a:ext cx="65836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572768" y="3483864"/>
            <a:ext cx="65836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1572768" y="2615184"/>
            <a:ext cx="131673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89504" y="2615184"/>
            <a:ext cx="1975104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47872" y="4352544"/>
            <a:ext cx="65836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 flipH="1">
            <a:off x="3547872" y="3483864"/>
            <a:ext cx="1316736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64608" y="3483864"/>
            <a:ext cx="658368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6656" y="4114800"/>
            <a:ext cx="475488" cy="47548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" y="411480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335024" y="3246120"/>
            <a:ext cx="475488" cy="47548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43584" y="324612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993392" y="4114800"/>
            <a:ext cx="475488" cy="47548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901952" y="411480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651760" y="2377440"/>
            <a:ext cx="475488" cy="47548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560320" y="237744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310128" y="4114800"/>
            <a:ext cx="475488" cy="47548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218688" y="411480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3968496" y="4983480"/>
            <a:ext cx="475488" cy="47548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877056" y="498348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626864" y="3246120"/>
            <a:ext cx="475488" cy="47548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35424" y="324612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285232" y="4114800"/>
            <a:ext cx="475488" cy="475488"/>
          </a:xfrm>
          <a:prstGeom prst="ellipse">
            <a:avLst/>
          </a:prstGeom>
          <a:solidFill>
            <a:srgbClr val="155E5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93792" y="411480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486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3 para 8 valores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9224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Degenerada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9692640" y="1691640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A12C22"/>
          </a:solidFill>
          <a:ln w="12700">
            <a:solidFill>
              <a:srgbClr val="A12C22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692640" y="1691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757416" y="2505456"/>
            <a:ext cx="548640" cy="38404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83680" y="2331720"/>
            <a:ext cx="347472" cy="347472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492240" y="233172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306056" y="2889504"/>
            <a:ext cx="548640" cy="38404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132320" y="2715768"/>
            <a:ext cx="347472" cy="347472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040880" y="271576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854696" y="3273552"/>
            <a:ext cx="548640" cy="38404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80960" y="3099816"/>
            <a:ext cx="347472" cy="347472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589520" y="3099816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403336" y="3657600"/>
            <a:ext cx="548640" cy="38404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229600" y="3483864"/>
            <a:ext cx="347472" cy="347472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138160" y="3483864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8951976" y="4041648"/>
            <a:ext cx="548640" cy="38404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778240" y="3867912"/>
            <a:ext cx="347472" cy="347472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686800" y="3867912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500616" y="4425696"/>
            <a:ext cx="548640" cy="38404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9326880" y="4251960"/>
            <a:ext cx="347472" cy="347472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9235440" y="4251960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10049256" y="4809744"/>
            <a:ext cx="548640" cy="38404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875520" y="4636008"/>
            <a:ext cx="347472" cy="347472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784080" y="4636008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10424160" y="5020056"/>
            <a:ext cx="347472" cy="347472"/>
          </a:xfrm>
          <a:prstGeom prst="ellipse">
            <a:avLst/>
          </a:prstGeom>
          <a:solidFill>
            <a:srgbClr val="155E5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10332720" y="5020056"/>
            <a:ext cx="530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6492240" y="5486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por ordem: 10, 15, 20, 30…  →  é uma lista!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5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RÁPIDA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BST com 1 000 000 de valores. Quantas comparações, no pior caso, para encontrar um valor?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6032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estiver equilibrada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480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log₂ 1 000 000 ≈ 20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56032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743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estiver degenerada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329184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1 000 000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480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percorre tudo, como uma lista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não está nos dados — está na forma da árvore.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Árvores que se equilibram sozinhas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12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Perfeitamente equilibrada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240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Subárvores sempre com a mesma profundidade.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926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 de manter em cada inserção e remoção.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0" y="1554480"/>
            <a:ext cx="5394960" cy="2194560"/>
          </a:xfrm>
          <a:prstGeom prst="roundRect">
            <a:avLst>
              <a:gd name="adj" fmla="val 5000"/>
            </a:avLst>
          </a:prstGeom>
          <a:solidFill>
            <a:srgbClr val="DDEFE9"/>
          </a:solidFill>
          <a:ln w="9525">
            <a:solidFill>
              <a:srgbClr val="DDEFE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1691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Quase equilibrada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240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pequenas e controladas entre caminhos.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2926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Barato de manter e ainda garante O(log n).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023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soluções clássicas de equilíbrio aproximado: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548640" y="4572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22960" y="4572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Árvores AVL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Controlam a diferença de alturas em cada nó.</a:t>
            </a:r>
            <a:endParaRPr lang="en-US" sz="1900" dirty="0"/>
          </a:p>
        </p:txBody>
      </p:sp>
      <p:sp>
        <p:nvSpPr>
          <p:cNvPr id="18" name="Shape 15"/>
          <p:cNvSpPr/>
          <p:nvPr/>
        </p:nvSpPr>
        <p:spPr>
          <a:xfrm>
            <a:off x="6217920" y="45720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92240" y="4572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7A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Árvores Red-Black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Controlam o equilíbrio com cores. É a de hoje — e a do TreeMap do Java.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Árvores Red-Black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regras e duas cores.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regras do jogo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73152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1618488"/>
            <a:ext cx="548640" cy="548640"/>
          </a:xfrm>
          <a:prstGeom prst="ellipse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618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150876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nó é vermelho ou preto.</a:t>
            </a:r>
            <a:endParaRPr lang="en-US" sz="155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1508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cores.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404872"/>
            <a:ext cx="73152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514600"/>
            <a:ext cx="548640" cy="548640"/>
          </a:xfrm>
          <a:prstGeom prst="ellipse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240487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raiz é sempre preta.</a:t>
            </a:r>
            <a:endParaRPr lang="en-US" sz="1550" dirty="0"/>
          </a:p>
        </p:txBody>
      </p:sp>
      <p:sp>
        <p:nvSpPr>
          <p:cNvPr id="16" name="Text 13"/>
          <p:cNvSpPr txBox="1"/>
          <p:nvPr/>
        </p:nvSpPr>
        <p:spPr>
          <a:xfrm>
            <a:off x="5669280" y="240487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Começa-se sempre pelo preto.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3300984"/>
            <a:ext cx="73152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3410712"/>
            <a:ext cx="548640" cy="548640"/>
          </a:xfrm>
          <a:prstGeom prst="ellipse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463040" y="330098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folhas nulas (NIL) são pretas.</a:t>
            </a:r>
            <a:endParaRPr lang="en-US" sz="1550" dirty="0"/>
          </a:p>
        </p:txBody>
      </p:sp>
      <p:sp>
        <p:nvSpPr>
          <p:cNvPr id="21" name="Text 18"/>
          <p:cNvSpPr txBox="1"/>
          <p:nvPr/>
        </p:nvSpPr>
        <p:spPr>
          <a:xfrm>
            <a:off x="5669280" y="330098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"lugares vazios" contam como pretos.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48640" y="4197096"/>
            <a:ext cx="7315200" cy="777240"/>
          </a:xfrm>
          <a:prstGeom prst="roundRect">
            <a:avLst>
              <a:gd name="adj" fmla="val 14118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31520" y="4306824"/>
            <a:ext cx="548640" cy="54864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3068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463040" y="4197096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nó vermelho não tem filhos vermelhos.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5669280" y="41970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dois vermelhos seguidos.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5093208"/>
            <a:ext cx="7315200" cy="777240"/>
          </a:xfrm>
          <a:prstGeom prst="roundRect">
            <a:avLst>
              <a:gd name="adj" fmla="val 14118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31520" y="5202936"/>
            <a:ext cx="548640" cy="54864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52029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1463040" y="509320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caminhos de um nó até às folhas têm o mesmo número de nós pretos.</a:t>
            </a:r>
            <a:endParaRPr lang="en-US" sz="1550" dirty="0"/>
          </a:p>
        </p:txBody>
      </p:sp>
      <p:sp>
        <p:nvSpPr>
          <p:cNvPr id="31" name="Text 28"/>
          <p:cNvSpPr txBox="1"/>
          <p:nvPr/>
        </p:nvSpPr>
        <p:spPr>
          <a:xfrm>
            <a:off x="5669280" y="509320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"altura preta" é igual em todo o lado.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138160" y="15087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0B3F3C"/>
          </a:solidFill>
          <a:ln w="9525">
            <a:solidFill>
              <a:srgbClr val="0B3F3C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36676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duas que importam</a:t>
            </a:r>
            <a:endParaRPr lang="en-US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8366760" y="2194560"/>
            <a:ext cx="3017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4: </a:t>
            </a:r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dois vermelhos seguidos.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5: </a:t>
            </a:r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pretos é igual em todos os caminhos.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Juntas, impedem a árvore de ficar torta.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EXEMPLO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Inserindo 10, 18, 7, 15, 16, 30, 25, 40, 60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 flipH="1">
            <a:off x="822960" y="3063240"/>
            <a:ext cx="777240" cy="10972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00200" y="3063240"/>
            <a:ext cx="777240" cy="10972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H="1">
            <a:off x="1600200" y="1965960"/>
            <a:ext cx="1554480" cy="10972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54680" y="1965960"/>
            <a:ext cx="1554480" cy="10972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H="1">
            <a:off x="3931920" y="3063240"/>
            <a:ext cx="777240" cy="10972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3063240"/>
            <a:ext cx="1554480" cy="10972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H="1">
            <a:off x="5486400" y="4160520"/>
            <a:ext cx="777240" cy="10972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4160520"/>
            <a:ext cx="777240" cy="10972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" y="3840480"/>
            <a:ext cx="640080" cy="64008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1480" y="3840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280160" y="2743200"/>
            <a:ext cx="640080" cy="6400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88720" y="2743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2057400" y="3840480"/>
            <a:ext cx="640080" cy="64008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965960" y="3840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834640" y="1645920"/>
            <a:ext cx="640080" cy="64008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743200" y="16459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611880" y="3840480"/>
            <a:ext cx="640080" cy="64008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20440" y="3840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389120" y="2743200"/>
            <a:ext cx="640080" cy="6400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297680" y="2743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166360" y="4937760"/>
            <a:ext cx="640080" cy="6400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074920" y="49377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943600" y="3840480"/>
            <a:ext cx="640080" cy="64008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852160" y="3840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6720840" y="4937760"/>
            <a:ext cx="640080" cy="6400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29400" y="49377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7589520" y="1554480"/>
            <a:ext cx="4023360" cy="4480560"/>
          </a:xfrm>
          <a:prstGeom prst="roundRect">
            <a:avLst>
              <a:gd name="adj" fmla="val 2727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81812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as regras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7818120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preta?</a:t>
            </a:r>
            <a:endParaRPr lang="en-US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7818120" y="258775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✓</a:t>
            </a:r>
            <a:endParaRPr lang="en-US" sz="1900" dirty="0"/>
          </a:p>
        </p:txBody>
      </p:sp>
      <p:sp>
        <p:nvSpPr>
          <p:cNvPr id="37" name="Text 34"/>
          <p:cNvSpPr txBox="1"/>
          <p:nvPr/>
        </p:nvSpPr>
        <p:spPr>
          <a:xfrm>
            <a:off x="781812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vermelhos seguidos?</a:t>
            </a:r>
            <a:endParaRPr lang="en-US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7818120" y="35478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✓</a:t>
            </a:r>
            <a:endParaRPr lang="en-US" sz="1900" dirty="0"/>
          </a:p>
        </p:txBody>
      </p:sp>
      <p:sp>
        <p:nvSpPr>
          <p:cNvPr id="39" name="Text 36"/>
          <p:cNvSpPr txBox="1"/>
          <p:nvPr/>
        </p:nvSpPr>
        <p:spPr>
          <a:xfrm>
            <a:off x="7818120" y="41605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Pretos por caminho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7818120" y="45079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em todos ✓</a:t>
            </a:r>
            <a:endParaRPr lang="en-US" sz="1900" dirty="0"/>
          </a:p>
        </p:txBody>
      </p:sp>
      <p:sp>
        <p:nvSpPr>
          <p:cNvPr id="41" name="Text 38"/>
          <p:cNvSpPr txBox="1"/>
          <p:nvPr/>
        </p:nvSpPr>
        <p:spPr>
          <a:xfrm>
            <a:off x="7818120" y="52120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16 → 25 → 40 → 30 passa por 16 e 40: dois pretos.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FUNCIONA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mais longo nunca passa do dobro do mais curto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3 nós pretos em cada caminho: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curto: 3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834640" y="2103120"/>
            <a:ext cx="548640" cy="548640"/>
          </a:xfrm>
          <a:prstGeom prst="ellipse">
            <a:avLst/>
          </a:prstGeom>
          <a:solidFill>
            <a:srgbClr val="1F2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2103120"/>
            <a:ext cx="548640" cy="548640"/>
          </a:xfrm>
          <a:prstGeom prst="ellipse">
            <a:avLst/>
          </a:prstGeom>
          <a:solidFill>
            <a:srgbClr val="1F2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2377440"/>
            <a:ext cx="137160" cy="914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06240" y="2103120"/>
            <a:ext cx="548640" cy="548640"/>
          </a:xfrm>
          <a:prstGeom prst="ellipse">
            <a:avLst/>
          </a:prstGeom>
          <a:solidFill>
            <a:srgbClr val="1F2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069080" y="2377440"/>
            <a:ext cx="137160" cy="914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longo: 6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834640" y="2926080"/>
            <a:ext cx="548640" cy="548640"/>
          </a:xfrm>
          <a:prstGeom prst="ellipse">
            <a:avLst/>
          </a:prstGeom>
          <a:solidFill>
            <a:srgbClr val="1F2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20440" y="292608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83280" y="3200400"/>
            <a:ext cx="137160" cy="914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06240" y="2926080"/>
            <a:ext cx="548640" cy="548640"/>
          </a:xfrm>
          <a:prstGeom prst="ellipse">
            <a:avLst/>
          </a:prstGeom>
          <a:solidFill>
            <a:srgbClr val="1F2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69080" y="3200400"/>
            <a:ext cx="137160" cy="914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92040" y="292608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54880" y="3200400"/>
            <a:ext cx="137160" cy="914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77840" y="2926080"/>
            <a:ext cx="548640" cy="548640"/>
          </a:xfrm>
          <a:prstGeom prst="ellipse">
            <a:avLst/>
          </a:prstGeom>
          <a:solidFill>
            <a:srgbClr val="1F2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40680" y="3200400"/>
            <a:ext cx="137160" cy="914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92608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26480" y="3200400"/>
            <a:ext cx="137160" cy="914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" y="3931920"/>
            <a:ext cx="7132320" cy="2103120"/>
          </a:xfrm>
          <a:prstGeom prst="roundRect">
            <a:avLst>
              <a:gd name="adj" fmla="val 5217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22960" y="40690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altura  ≤  2 · log</a:t>
            </a:r>
            <a:pPr indent="0" marL="0">
              <a:buNone/>
            </a:pPr>
            <a:r>
              <a:rPr lang="en-US" sz="2800" b="1" baseline="-40000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28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 + 1)</a:t>
            </a:r>
            <a:endParaRPr lang="en-US" sz="28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" y="48920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pesquisar, inserir e remover custam sempre O(log n) — mesmo no pior caso.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046720" y="1554480"/>
            <a:ext cx="3566160" cy="4480560"/>
          </a:xfrm>
          <a:prstGeom prst="roundRect">
            <a:avLst>
              <a:gd name="adj" fmla="val 3077"/>
            </a:avLst>
          </a:prstGeom>
          <a:solidFill>
            <a:srgbClr val="0B3F3C"/>
          </a:solidFill>
          <a:ln w="9525">
            <a:solidFill>
              <a:srgbClr val="0B3F3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75320" y="1737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1 000 000 de nós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8275320" y="22860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40</a:t>
            </a:r>
            <a:endParaRPr lang="en-US" sz="5600" dirty="0"/>
          </a:p>
        </p:txBody>
      </p:sp>
      <p:sp>
        <p:nvSpPr>
          <p:cNvPr id="32" name="Text 29"/>
          <p:cNvSpPr txBox="1"/>
          <p:nvPr/>
        </p:nvSpPr>
        <p:spPr>
          <a:xfrm>
            <a:off x="8275320" y="3291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níveis, no máximo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41148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FE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árvore degenerada poderia ter 1 000 000.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0" b="1" dirty="0">
                <a:solidFill>
                  <a:srgbClr val="155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023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Inserção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Recolorir e rodar, caso a caso.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INSERÇÃO: PRIMEIROS PASSOS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Inserir como numa BST — e pintar de vermelho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651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Inserir como numa BST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200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Desce-se pela árvore e o novo nó fica como folha, no lugar certo.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97680" y="160020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1828800"/>
            <a:ext cx="685800" cy="6858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0" y="2651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Pintar de vermelho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0" y="3200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novo nó é sempre vermelho (se for a raiz, fica preto).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046720" y="160020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21040" y="1828800"/>
            <a:ext cx="685800" cy="685800"/>
          </a:xfrm>
          <a:prstGeom prst="ellipse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210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321040" y="2651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pai é preto?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8321040" y="32004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está tudo bem: não há nada a corrigir.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526280"/>
            <a:ext cx="11064240" cy="1508760"/>
          </a:xfrm>
          <a:prstGeom prst="roundRect">
            <a:avLst>
              <a:gd name="adj" fmla="val 7273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68680" y="4526280"/>
            <a:ext cx="10515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Porquê vermelho? </a:t>
            </a:r>
            <a:pPr indent="0" marL="0">
              <a:buNone/>
            </a:pPr>
            <a:r>
              <a:rPr lang="en-US" sz="17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vermelho não muda o número de pretos em nenhum caminho: a regra 5 fica garantida. O único problema possível é o pai também ser vermelho — dois vermelhos seguidos.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 VERMELHO-VERMELHO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pai é vermelho, olha-se para o tio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 flipH="1">
            <a:off x="1463040" y="3337560"/>
            <a:ext cx="1188720" cy="12344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H="1">
            <a:off x="2651760" y="2103120"/>
            <a:ext cx="1188720" cy="12344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40480" y="2103120"/>
            <a:ext cx="1188720" cy="123444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4206240"/>
            <a:ext cx="731520" cy="731520"/>
          </a:xfrm>
          <a:prstGeom prst="ellipse">
            <a:avLst/>
          </a:prstGeom>
          <a:solidFill>
            <a:srgbClr val="C0392B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05840" y="4206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937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286000" y="2971800"/>
            <a:ext cx="731520" cy="73152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94560" y="2971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474720" y="1737360"/>
            <a:ext cx="731520" cy="73152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383280" y="1737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663440" y="2971800"/>
            <a:ext cx="731520" cy="731520"/>
          </a:xfrm>
          <a:prstGeom prst="ellipse">
            <a:avLst/>
          </a:prstGeom>
          <a:solidFill>
            <a:srgbClr val="E77A2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572000" y="2971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760720" y="164592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6072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16459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novo nó (vermelho)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760720" y="233172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76072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2331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 (vermelho → conflito!)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760720" y="3017520"/>
            <a:ext cx="502920" cy="502920"/>
          </a:xfrm>
          <a:prstGeom prst="ellipse">
            <a:avLst/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76072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44652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avô (preto)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760720" y="3703320"/>
            <a:ext cx="502920" cy="50292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7607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446520" y="3703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tio: irmão do pai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760720" y="4526280"/>
            <a:ext cx="2834640" cy="1508760"/>
          </a:xfrm>
          <a:prstGeom prst="roundRect">
            <a:avLst>
              <a:gd name="adj" fmla="val 7273"/>
            </a:avLst>
          </a:prstGeom>
          <a:solidFill>
            <a:srgbClr val="F6D5D0"/>
          </a:solidFill>
          <a:ln w="9525">
            <a:solidFill>
              <a:srgbClr val="F6D5D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989320" y="45262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Tio vermelho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recolorir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8778240" y="4526280"/>
            <a:ext cx="2834640" cy="1508760"/>
          </a:xfrm>
          <a:prstGeom prst="roundRect">
            <a:avLst>
              <a:gd name="adj" fmla="val 7273"/>
            </a:avLst>
          </a:prstGeom>
          <a:solidFill>
            <a:srgbClr val="E3E6E6"/>
          </a:solidFill>
          <a:ln w="9525">
            <a:solidFill>
              <a:srgbClr val="E3E6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006840" y="45262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Tio preto ou NIL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rodar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1: TIO VERMELHO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Recolorir e subir o problema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49377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 flipH="1">
            <a:off x="1554480" y="3383280"/>
            <a:ext cx="1005840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2560320" y="2468880"/>
            <a:ext cx="1005840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2468880"/>
            <a:ext cx="1005840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34440" y="3977640"/>
            <a:ext cx="640080" cy="6400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43000" y="3977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2240280" y="3063240"/>
            <a:ext cx="640080" cy="6400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148840" y="3063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3246120" y="2148840"/>
            <a:ext cx="640080" cy="64008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54680" y="21488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251960" y="3063240"/>
            <a:ext cx="640080" cy="6400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160520" y="3063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623560" y="3246120"/>
            <a:ext cx="868680" cy="0"/>
          </a:xfrm>
          <a:prstGeom prst="line">
            <a:avLst/>
          </a:prstGeom>
          <a:noFill/>
          <a:ln w="381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5486400" y="27889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recolorir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675120" y="1554480"/>
            <a:ext cx="493776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90372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 flipH="1">
            <a:off x="7680960" y="3383280"/>
            <a:ext cx="1005840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H="1">
            <a:off x="8686800" y="2468880"/>
            <a:ext cx="1005840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692640" y="2468880"/>
            <a:ext cx="1005840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60920" y="3977640"/>
            <a:ext cx="640080" cy="6400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269480" y="3977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8366760" y="3063240"/>
            <a:ext cx="640080" cy="64008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75320" y="3063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9372600" y="2148840"/>
            <a:ext cx="640080" cy="6400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281160" y="21488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10378440" y="3063240"/>
            <a:ext cx="640080" cy="64008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287000" y="3063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548640" y="5257800"/>
            <a:ext cx="3474720" cy="640080"/>
          </a:xfrm>
          <a:prstGeom prst="roundRect">
            <a:avLst>
              <a:gd name="adj" fmla="val 42857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48640" y="5257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e tio → pretos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4297680" y="5257800"/>
            <a:ext cx="3474720" cy="640080"/>
          </a:xfrm>
          <a:prstGeom prst="roundRect">
            <a:avLst>
              <a:gd name="adj" fmla="val 42857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297680" y="5257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Avô → vermelho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8046720" y="5257800"/>
            <a:ext cx="3474720" cy="640080"/>
          </a:xfrm>
          <a:prstGeom prst="roundRect">
            <a:avLst>
              <a:gd name="adj" fmla="val 42857"/>
            </a:avLst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046720" y="5257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a verificação no avô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2: TIO PRETO, EM LINHA (LL OU RR)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rotação e troca de cores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49377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(LL)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 flipH="1">
            <a:off x="1463040" y="3383280"/>
            <a:ext cx="1005840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2468880" y="2468880"/>
            <a:ext cx="1005840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74720" y="2468880"/>
            <a:ext cx="1005840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43000" y="3977640"/>
            <a:ext cx="640080" cy="6400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51560" y="3977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2148840" y="3063240"/>
            <a:ext cx="640080" cy="6400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57400" y="3063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3154680" y="2148840"/>
            <a:ext cx="640080" cy="64008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63240" y="21488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160520" y="3063240"/>
            <a:ext cx="640080" cy="64008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69080" y="3063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623560" y="3337560"/>
            <a:ext cx="868680" cy="0"/>
          </a:xfrm>
          <a:prstGeom prst="line">
            <a:avLst/>
          </a:prstGeom>
          <a:noFill/>
          <a:ln w="3810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5486400" y="2606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à dir.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675120" y="1554480"/>
            <a:ext cx="49377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903720" y="1645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 flipH="1">
            <a:off x="7498080" y="2468880"/>
            <a:ext cx="1005840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503920" y="2468880"/>
            <a:ext cx="1005840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509760" y="3383280"/>
            <a:ext cx="1005840" cy="91440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78040" y="3063240"/>
            <a:ext cx="640080" cy="6400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086600" y="3063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8183880" y="2148840"/>
            <a:ext cx="640080" cy="64008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092440" y="21488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9189720" y="3063240"/>
            <a:ext cx="640080" cy="6400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98280" y="3063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10195560" y="3977640"/>
            <a:ext cx="640080" cy="64008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104120" y="3977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548640" y="5349240"/>
            <a:ext cx="5394960" cy="731520"/>
          </a:xfrm>
          <a:prstGeom prst="roundRect">
            <a:avLst>
              <a:gd name="adj" fmla="val 15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22960" y="5349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LL: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rotação à direita em torno do avô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217920" y="5349240"/>
            <a:ext cx="5394960" cy="731520"/>
          </a:xfrm>
          <a:prstGeom prst="roundRect">
            <a:avLst>
              <a:gd name="adj" fmla="val 15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492240" y="5349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RR: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espelho — rotação à esquerda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3: TIO PRETO, EM TRIÂNGULO (LR OU RL)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rotações: primeiro endireitar, depois rodar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(LR)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97280" y="3346704"/>
            <a:ext cx="77724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H="1">
            <a:off x="1097280" y="2478024"/>
            <a:ext cx="155448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51760" y="2478024"/>
            <a:ext cx="77724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3816" y="3063240"/>
            <a:ext cx="566928" cy="56692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2376" y="30632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591056" y="3931920"/>
            <a:ext cx="566928" cy="56692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499616" y="39319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368296" y="2194560"/>
            <a:ext cx="566928" cy="56692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276856" y="21945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3145536" y="3063240"/>
            <a:ext cx="566928" cy="56692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054096" y="30632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005072" y="3337560"/>
            <a:ext cx="365760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389120" y="15544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461772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1: em linha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 flipH="1">
            <a:off x="4937760" y="3346704"/>
            <a:ext cx="77724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flipH="1">
            <a:off x="5715000" y="2478024"/>
            <a:ext cx="77724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492240" y="2478024"/>
            <a:ext cx="77724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54296" y="3931920"/>
            <a:ext cx="566928" cy="56692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62856" y="39319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5431536" y="3063240"/>
            <a:ext cx="566928" cy="56692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340096" y="30632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208776" y="2194560"/>
            <a:ext cx="566928" cy="56692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17336" y="21945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6986016" y="3063240"/>
            <a:ext cx="566928" cy="56692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894576" y="30632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7845552" y="3337560"/>
            <a:ext cx="365760" cy="0"/>
          </a:xfrm>
          <a:prstGeom prst="line">
            <a:avLst/>
          </a:prstGeom>
          <a:noFill/>
          <a:ln w="31750">
            <a:solidFill>
              <a:srgbClr val="E77A2D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8229600" y="15544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1645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2: resultado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 flipH="1">
            <a:off x="8778240" y="2478024"/>
            <a:ext cx="77724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555480" y="2478024"/>
            <a:ext cx="77724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332720" y="3346704"/>
            <a:ext cx="777240" cy="868680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494776" y="3063240"/>
            <a:ext cx="566928" cy="56692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03336" y="30632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9272016" y="2194560"/>
            <a:ext cx="566928" cy="56692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180576" y="219456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10049256" y="3063240"/>
            <a:ext cx="566928" cy="566928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9957816" y="306324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10826496" y="3931920"/>
            <a:ext cx="566928" cy="566928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0735056" y="393192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48" name="Text 45"/>
          <p:cNvSpPr txBox="1"/>
          <p:nvPr/>
        </p:nvSpPr>
        <p:spPr>
          <a:xfrm>
            <a:off x="3474720" y="5166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à esq. em P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7315200" y="5166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à dir. em G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48640" y="55321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RL: </a:t>
            </a:r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espelho — rotação à direita em torno do pai, depois à esquerda em torno do avô.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DECISÃO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a inserção num só diagrama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Inserir como BST, pintar de vermelho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10128" y="1938528"/>
            <a:ext cx="603504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931920" y="1554480"/>
            <a:ext cx="2194560" cy="777240"/>
          </a:xfrm>
          <a:prstGeom prst="roundRect">
            <a:avLst>
              <a:gd name="adj" fmla="val 14118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31920" y="1554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 é preto?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44768" y="1938528"/>
            <a:ext cx="694944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6172200" y="15544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858000" y="1554480"/>
            <a:ext cx="2011680" cy="777240"/>
          </a:xfrm>
          <a:prstGeom prst="roundRect">
            <a:avLst>
              <a:gd name="adj" fmla="val 14118"/>
            </a:avLst>
          </a:prstGeom>
          <a:solidFill>
            <a:srgbClr val="DDEFE9"/>
          </a:solidFill>
          <a:ln w="12700">
            <a:solidFill>
              <a:srgbClr val="DDEFE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0" y="15544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029200" y="2350008"/>
            <a:ext cx="0" cy="603504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17" name="Text 14"/>
          <p:cNvSpPr txBox="1"/>
          <p:nvPr/>
        </p:nvSpPr>
        <p:spPr>
          <a:xfrm>
            <a:off x="5120640" y="24688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931920" y="2971800"/>
            <a:ext cx="2194560" cy="777240"/>
          </a:xfrm>
          <a:prstGeom prst="roundRect">
            <a:avLst>
              <a:gd name="adj" fmla="val 14118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3192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tio é vermelho?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144768" y="3355848"/>
            <a:ext cx="694944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6172200" y="2971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858000" y="297180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858000" y="29718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Recolorir: pai e tio pretos, avô vermelho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9619488" y="3355848"/>
            <a:ext cx="530352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10149840" y="297180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149840" y="297180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no avô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029200" y="3767328"/>
            <a:ext cx="0" cy="603504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512064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12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(preto ou NIL)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931920" y="4389120"/>
            <a:ext cx="2194560" cy="777240"/>
          </a:xfrm>
          <a:prstGeom prst="roundRect">
            <a:avLst>
              <a:gd name="adj" fmla="val 14118"/>
            </a:avLst>
          </a:prstGeom>
          <a:solidFill>
            <a:srgbClr val="E6F0EE"/>
          </a:solidFill>
          <a:ln w="12700">
            <a:solidFill>
              <a:srgbClr val="E6F0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931920" y="43891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linha ou em triângulo?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 flipH="1">
            <a:off x="3310128" y="4773168"/>
            <a:ext cx="603504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3337560" y="4389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548640" y="438912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4389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 / RR: 1 rotação + trocar cores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6144768" y="4773168"/>
            <a:ext cx="694944" cy="0"/>
          </a:xfrm>
          <a:prstGeom prst="line">
            <a:avLst/>
          </a:prstGeom>
          <a:noFill/>
          <a:ln w="25400">
            <a:solidFill>
              <a:srgbClr val="5B6B6E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6126480" y="43891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triângulo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858000" y="4389120"/>
            <a:ext cx="2743200" cy="777240"/>
          </a:xfrm>
          <a:prstGeom prst="roundRect">
            <a:avLst>
              <a:gd name="adj" fmla="val 14118"/>
            </a:avLst>
          </a:prstGeom>
          <a:solidFill>
            <a:srgbClr val="1F2A2E"/>
          </a:solidFill>
          <a:ln w="12700">
            <a:solidFill>
              <a:srgbClr val="1F2A2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858000" y="4389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/ RL: 2 rotações + trocar cores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48640" y="548640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0B3F3C"/>
          </a:solidFill>
          <a:ln w="12700">
            <a:solidFill>
              <a:srgbClr val="0B3F3C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8680" y="54864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fim: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raiz ficou vermelha, pinta-se de preto.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RESOLVIDO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Inserir 10, 20, 30, 15, 25, 27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1581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 </a:t>
            </a:r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→ preta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2057400"/>
            <a:ext cx="365760" cy="365760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50876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480560" y="1581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 </a:t>
            </a:r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preto: nada a fazer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800600" y="2240280"/>
            <a:ext cx="45720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17720" y="2057400"/>
            <a:ext cx="365760" cy="36576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2628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74920" y="2532888"/>
            <a:ext cx="365760" cy="365760"/>
          </a:xfrm>
          <a:prstGeom prst="ellipse">
            <a:avLst/>
          </a:prstGeom>
          <a:solidFill>
            <a:srgbClr val="C0392B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983480" y="25328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046720" y="150876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8229600" y="1581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 </a:t>
            </a:r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RR: rotação à esquerda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 flipH="1">
            <a:off x="8549640" y="2240280"/>
            <a:ext cx="45720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006840" y="2240280"/>
            <a:ext cx="45720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66760" y="2532888"/>
            <a:ext cx="365760" cy="36576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75320" y="25328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823960" y="2057400"/>
            <a:ext cx="365760" cy="36576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32520" y="2057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9281160" y="2532888"/>
            <a:ext cx="365760" cy="365760"/>
          </a:xfrm>
          <a:prstGeom prst="ellipse">
            <a:avLst/>
          </a:prstGeom>
          <a:solidFill>
            <a:srgbClr val="C0392B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89720" y="25328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48640" y="384048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731520" y="3913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 </a:t>
            </a:r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tio vermelho: recolorir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1051560" y="5047488"/>
            <a:ext cx="45720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H="1">
            <a:off x="1051560" y="4572000"/>
            <a:ext cx="91440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965960" y="4572000"/>
            <a:ext cx="45720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68680" y="4864608"/>
            <a:ext cx="365760" cy="36576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4864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1325880" y="5340096"/>
            <a:ext cx="365760" cy="365760"/>
          </a:xfrm>
          <a:prstGeom prst="ellipse">
            <a:avLst/>
          </a:prstGeom>
          <a:solidFill>
            <a:srgbClr val="C0392B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1234440" y="53400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1783080" y="4389120"/>
            <a:ext cx="365760" cy="36576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691640" y="4389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2240280" y="4864608"/>
            <a:ext cx="365760" cy="36576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2148840" y="4864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297680" y="384048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4480560" y="3913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  </a:t>
            </a:r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 preto: nada a fazer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4800600" y="5047488"/>
            <a:ext cx="45720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 flipH="1">
            <a:off x="4800600" y="4572000"/>
            <a:ext cx="91440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715000" y="4572000"/>
            <a:ext cx="91440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H="1">
            <a:off x="6172200" y="5047488"/>
            <a:ext cx="45720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617720" y="4864608"/>
            <a:ext cx="365760" cy="36576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4526280" y="4864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074920" y="5340096"/>
            <a:ext cx="365760" cy="36576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4983480" y="53400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5532120" y="4389120"/>
            <a:ext cx="365760" cy="36576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440680" y="4389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5989320" y="5340096"/>
            <a:ext cx="365760" cy="365760"/>
          </a:xfrm>
          <a:prstGeom prst="ellipse">
            <a:avLst/>
          </a:prstGeom>
          <a:solidFill>
            <a:srgbClr val="C0392B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897880" y="53400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6446520" y="4864608"/>
            <a:ext cx="365760" cy="36576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355080" y="4864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8046720" y="3840480"/>
            <a:ext cx="3474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8" name="Text 55"/>
          <p:cNvSpPr txBox="1"/>
          <p:nvPr/>
        </p:nvSpPr>
        <p:spPr>
          <a:xfrm>
            <a:off x="8229600" y="39136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  </a:t>
            </a:r>
            <a:pPr indent="0" marL="0">
              <a:buNone/>
            </a:pPr>
            <a:r>
              <a:rPr lang="en-US" sz="12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LR: duas rotações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8549640" y="5047488"/>
            <a:ext cx="45720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flipH="1">
            <a:off x="8549640" y="4572000"/>
            <a:ext cx="91440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9464040" y="4572000"/>
            <a:ext cx="91440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 flipH="1">
            <a:off x="9921240" y="5047488"/>
            <a:ext cx="45720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10378440" y="5047488"/>
            <a:ext cx="457200" cy="475488"/>
          </a:xfrm>
          <a:prstGeom prst="line">
            <a:avLst/>
          </a:prstGeom>
          <a:noFill/>
          <a:ln w="19050">
            <a:solidFill>
              <a:srgbClr val="9AA7A5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366760" y="4864608"/>
            <a:ext cx="365760" cy="36576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75320" y="4864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8823960" y="5340096"/>
            <a:ext cx="365760" cy="36576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732520" y="53400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8" name="Shape 65"/>
          <p:cNvSpPr/>
          <p:nvPr/>
        </p:nvSpPr>
        <p:spPr>
          <a:xfrm>
            <a:off x="9281160" y="4389120"/>
            <a:ext cx="365760" cy="365760"/>
          </a:xfrm>
          <a:prstGeom prst="ellipse">
            <a:avLst/>
          </a:prstGeom>
          <a:solidFill>
            <a:srgbClr val="1F2A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9189720" y="4389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9738360" y="5340096"/>
            <a:ext cx="365760" cy="36576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9646920" y="53400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  <p:sp>
        <p:nvSpPr>
          <p:cNvPr id="72" name="Shape 69"/>
          <p:cNvSpPr/>
          <p:nvPr/>
        </p:nvSpPr>
        <p:spPr>
          <a:xfrm>
            <a:off x="10195560" y="4864608"/>
            <a:ext cx="365760" cy="365760"/>
          </a:xfrm>
          <a:prstGeom prst="ellipse">
            <a:avLst/>
          </a:prstGeom>
          <a:solidFill>
            <a:srgbClr val="1F2A2E"/>
          </a:solidFill>
          <a:ln w="38100">
            <a:solidFill>
              <a:srgbClr val="E77A2D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104120" y="48646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74" name="Shape 71"/>
          <p:cNvSpPr/>
          <p:nvPr/>
        </p:nvSpPr>
        <p:spPr>
          <a:xfrm>
            <a:off x="10652760" y="5340096"/>
            <a:ext cx="365760" cy="36576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561320" y="53400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simulador para ver as rotações a acontecer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55448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Red/Black Tree Visualization</a:t>
            </a:r>
            <a:endParaRPr lang="en-US" sz="2200" dirty="0"/>
          </a:p>
          <a:p>
            <a:pPr indent="0" marL="0">
              <a:buNone/>
            </a:pPr>
            <a:r>
              <a:rPr lang="en-US" sz="1700" u="sng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www.cs.usfca.edu/~galles/visualization/RedBlack.html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47472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Insira valores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7548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 um, no campo "Insert".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297680" y="324612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3474720"/>
            <a:ext cx="640080" cy="64008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Abrande a animação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47548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controlo de velocidade para ver cada passo.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046720" y="3246120"/>
            <a:ext cx="3474720" cy="2651760"/>
          </a:xfrm>
          <a:prstGeom prst="roundRect">
            <a:avLst>
              <a:gd name="adj" fmla="val 4138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321040" y="3474720"/>
            <a:ext cx="640080" cy="64008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32104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832104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Preveja primeiro</a:t>
            </a:r>
            <a:endParaRPr lang="en-US" sz="19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47548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inserir, diga que caso vai acontecer. Depois confirme.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APLICAÇÃO (1 E 2)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papel, passo a passo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7830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Desenhe a árvore Red-Black que resulta de inserir, por esta ordem: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743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30, 86, 76, 8, 60, 13, 66, 61, 17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566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 a árvore depois de cada inserção.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160020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92240" y="18288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92240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17830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Desenhe a árvore Red-Black que resulta de inserir, por esta ordem: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2743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96, 78, 6, 18, 7, 54, 25, 53, 36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492240" y="3566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Apresente a árvore depois de cada inserção.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E6F0EE"/>
          </a:solidFill>
          <a:ln w="9525">
            <a:solidFill>
              <a:srgbClr val="E6F0E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8680" y="480060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Método: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valor, siga o mapa de decisão — pai preto? tio vermelho? em linha ou em triângulo? Confirme depois no simulador.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APLICAÇÃO (3 E 4)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Agora em Java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1783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Analisar e testar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65176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 a implementação em Java de uma árvore Red-Black disponível no Moodle, que permite inserir e pesquisar inteiros. Analise o código e teste-o com os exemplos dos diapositivos.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8463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estão, no código, os três casos da inserção?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CEBDD"/>
          </a:solidFill>
          <a:ln w="9525">
            <a:solidFill>
              <a:srgbClr val="FCEB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92240" y="178308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92240" y="1783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1783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Mostrar a árvore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26060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Acrescente um método que imprima a árvore. Para o exemplo dos valores 10, 18, 7, …: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400800" y="3383280"/>
            <a:ext cx="5029200" cy="2514600"/>
          </a:xfrm>
          <a:prstGeom prst="roundRect">
            <a:avLst>
              <a:gd name="adj" fmla="val 3636"/>
            </a:avLst>
          </a:prstGeom>
          <a:solidFill>
            <a:srgbClr val="1C2B2D"/>
          </a:solidFill>
          <a:ln w="12700">
            <a:solidFill>
              <a:srgbClr val="1C2B2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675120" y="3520440"/>
            <a:ext cx="4480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16 [B]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8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10 [R]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7 [B]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15 [B]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8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25 [R]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18 [B]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F0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40 [B]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8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├── 30 [R]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8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└── 60 [R]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3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PARA CASA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ideias a reter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Esquerda &lt; nó &lt; direita. O(log n) só se estiver equilibrada; senão, O(n).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Red-Black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preta, sem vermelhos seguidos, mesmo nº de pretos em todos os caminhos → O(log n) garantido.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286000"/>
            <a:ext cx="685800" cy="685800"/>
          </a:xfrm>
          <a:prstGeom prst="ellipse">
            <a:avLst/>
          </a:prstGeom>
          <a:solidFill>
            <a:srgbClr val="E77A2D"/>
          </a:solidFill>
          <a:ln w="12700">
            <a:solidFill>
              <a:srgbClr val="E77A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Inserir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703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nó vermelho. Tio vermelho → recolorir. Tio preto → rodar (1 ou 2 vezes).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FD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aula: remover nós de uma árvore Red-Black.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9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3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 Algoritmos  ·  Aula 8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118585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737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Weiss, M. A. (2012). </a:t>
            </a:r>
            <a:pPr indent="0" marL="0">
              <a:buNone/>
            </a:pPr>
            <a:r>
              <a:rPr lang="en-US" sz="16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 Analysis in Java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(3.ª ed.). Pearson.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5DED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" y="3200400"/>
            <a:ext cx="548640" cy="548640"/>
          </a:xfrm>
          <a:prstGeom prst="ellipse">
            <a:avLst/>
          </a:prstGeom>
          <a:solidFill>
            <a:srgbClr val="155E56"/>
          </a:solidFill>
          <a:ln w="12700">
            <a:solidFill>
              <a:srgbClr val="155E5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645920" y="297180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Galles, D. </a:t>
            </a:r>
            <a:pPr indent="0" marL="0">
              <a:buNone/>
            </a:pPr>
            <a:r>
              <a:rPr lang="en-US" sz="1600" i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Red/Black Tree Visualization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University of San Francisco. </a:t>
            </a:r>
            <a:pPr indent="0" marL="0">
              <a:buNone/>
            </a:pPr>
            <a:r>
              <a:rPr lang="en-US" sz="1600" u="sng" dirty="0">
                <a:solidFill>
                  <a:srgbClr val="155E5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cs.usfca.edu/~galles/visualization/RedBlack.html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5778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</a:t>
            </a:r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Doutor Luís Simões da Cunha  ·  </a:t>
            </a:r>
            <a:pPr indent="0" marL="0">
              <a:buNone/>
            </a:pPr>
            <a:r>
              <a:rPr lang="en-US" sz="1600" b="1" dirty="0">
                <a:solidFill>
                  <a:srgbClr val="E7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luiscunha@ismt.pt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– Aula 8: Árvores de Pesquisa Binária e Red-Black</dc:title>
  <dc:subject>PptxGenJS Presentation</dc:subject>
  <dc:creator>Luís Simões da Cunha</dc:creator>
  <cp:lastModifiedBy>Luís Simões da Cunha</cp:lastModifiedBy>
  <cp:revision>1</cp:revision>
  <dcterms:created xsi:type="dcterms:W3CDTF">2026-09-25T15:54:59Z</dcterms:created>
  <dcterms:modified xsi:type="dcterms:W3CDTF">2026-09-25T15:54:59Z</dcterms:modified>
</cp:coreProperties>
</file>