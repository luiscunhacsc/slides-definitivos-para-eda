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10. Os diapositivos de pilhas, filas e filas duplas do original repetem a Aula 7; aqui foram condensados numa revisão, e o foco é a tabela de dispersão.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(2 minutos). Respostas: (1) pilha = LIFO, fila = FIFO (Aula 7); (2) o índice dá a volta com o operador módulo: (i + 1) % capacidade (Aula 7) — o mesmo truque volta hoje; (3) O(log n) (Aulas 8 e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palpites antes de revelar. O "≈ 1" é o caso médio: a tabela de dispersão calcula diretamente a posição a partir do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 da aula. A primeira parte é uma revisão breve da Aula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breve da Aula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da Aula 7. Exercícios 1 a 7 retomam estas estruturas. Nota: a fila dupla não segue uma regra fixa FIFO — pode comportar-se como pilha ou como fila, consoante as pontas usadas.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tabela de dispersão implementa um array associativo: em vez de índices 0, 1, 2…, usamos chaves com significado (nomes, códigos, palavras). Analogia do original: num dicionário, a chave é a palavra e o valor é a definição.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função de hash transforma a chave num número; ajusta-se esse número ao tamanho do array com o resto da divisão (módulo). Essa posição é o "bucket" (ou slot) onde o par é guardado — e onde, mais tarde, o vamos procurar. Sem percorrer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Componentes do original. Os buckets são as "gavetas" do array: cada índice corresponde a um bucket.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Mau exemplo do original: hash(chave) = chave.length(). Nomes com o mesmo número de letras caem todos no mesmo bucket — e há muitos nomes com 3, 4 ou 5 letras. Uma boa função é determinística, rápida e distribui as chaves de forma uniforme pelos buckets.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operações do original. Todas começam da mesma forma: calcular o bucket da chave. Em Java (HashMap): put, get, remove.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Colisão: duas chaves diferentes geram o mesmo índice. São inevitáveis: há muito mais chaves possíveis do que buckets (princípio da gaveta: com 9 meias e 8 gavetas, pelo menos uma gaveta tem 2). E acontecem mais cedo do que se pensa: num grupo de 23 pessoas, a probabilidade de duas fazerem anos no mesmo dia já passa de 50 % (paradoxo do aniversário).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Redesenho do diagrama do original (lista telefónica), com nomes portugueses. Os nomes Ana e Rui colidem no bucket 2: ficam os dois na mesma lista ligada. Para procurar Rui: vai-se ao bucket 2 e percorre-se a (curta)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Função do exercício 8: h(k) = soma dos dígitos de k, ajustada ao número de buckets com % 7. Inserir por ordem 123, 45, 18, 311, 70, 204. Há duas colisões: 18 cai no bucket de 45; 204 cai no bucket de 123.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esconder as respostas com uma animação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médio O(1): com uma boa função de hash, as listas são curtas. Pior caso O(n): se todas as chaves caírem no mesmo bucket, a tabela transforma-se numa lista ligada. Nota: o HashMap do Java, quando uma lista fica muito longa, converte-a numa árvore Red-Black (Aulas 8–9) — o pior caso passa a O(log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Fator de carga α = n / m (número de elementos / número de buckets). Com encadeamento e uma boa função de hash, cada lista tem, em média, α elementos. Por isso, quando α passa de um limite, a tabela cresce (normalmente para o dobro) e redistribuem-se todas as chaves (rehash). No HashMap do Java, o limite por omissão é 0,75.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das estruturas de pesquisa da UC. A tabela de dispersão ganha em velocidade média, mas não guarda ordem: não serve para "dar-me as chaves por ordem" ou "o menor valor maior do que x". Aí, uma árvore Red-Black (TreeMap) é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Aplicações do original. Cache LRU (Least Recently Used): combina uma tabela de dispersão (encontrar depressa) com uma lista duplamente ligada / fila dupla (saber qual foi usado há mais tempo) — liga as duas partes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 aplicação: contar ocorrências de palavras. merge(chave, 1, Integer::sum) insere 1 se a chave não existir e soma 1 se existir. Atenção ao exercício 9: String.hashCode() pode ser negativo, e Math.abs(Integer.MIN_VALUE) continua negativo (ex.: "polygenelubricants".hashCode() == Integer.MIN_VALUE). Usar Math.floorMod(h, m) evita 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exercícios 1 a 7 são os mesmos da Aula 7 (ver as pistas e soluções lá). Quem já os fez pode avançar para os exercícios 8 a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Enunciado do original. Sugestão de estrutura: um array de LinkedList&lt;int[]&gt; (ou de uma pequena classe Par). Teste com o exemplo resolvido (123, 45, 18, 311, 70, 204 em 7 buckets).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9: usar Math.floorMod(chave.hashCode(), m) em vez de Math.abs, por causa de Integer.MIN_VALUE. Ex. 10: remover um nó da lista do bucket. Ex. 11: genéricos HashTable&lt;K, V&gt;, usando key.hashCode() e equals() para comparar chaves.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Síntese. Pedir aos alunos que calculem, sem ajuda, o bucket de 2026 com a função do exercício 8 e 7 buckets (2+0+2+6 = 10; 10 % 7 =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da tabela de dispersão do original (lista telefónica com encadeamento) foi redesenhado com nomes portugueses.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cc.fc.up.pt/~miguel-areias/teaching/2324/ed/praticas/aula07.html" TargetMode="External"/><Relationship Id="rId2" Type="http://schemas.openxmlformats.org/officeDocument/2006/relationships/hyperlink" Target="https://dev-to-uploads.s3.amazonaws.com/uploads/articles/rf9k7qhjpwblw3nb4x46.pn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89520" y="685800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685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823960" y="886968"/>
            <a:ext cx="411480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9281160" y="685800"/>
            <a:ext cx="731520" cy="41148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281160" y="685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 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0" y="886968"/>
            <a:ext cx="411480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0515600" y="411480"/>
            <a:ext cx="457200" cy="246888"/>
          </a:xfrm>
          <a:prstGeom prst="rect">
            <a:avLst/>
          </a:prstGeom>
          <a:solidFill>
            <a:srgbClr val="2E7D73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15600" y="685800"/>
            <a:ext cx="457200" cy="246888"/>
          </a:xfrm>
          <a:prstGeom prst="rect">
            <a:avLst/>
          </a:prstGeom>
          <a:solidFill>
            <a:srgbClr val="2E7D73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515600" y="960120"/>
            <a:ext cx="457200" cy="246888"/>
          </a:xfrm>
          <a:prstGeom prst="rect">
            <a:avLst/>
          </a:prstGeom>
          <a:solidFill>
            <a:srgbClr val="E77A2D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515600" y="1234440"/>
            <a:ext cx="457200" cy="246888"/>
          </a:xfrm>
          <a:prstGeom prst="rect">
            <a:avLst/>
          </a:prstGeom>
          <a:solidFill>
            <a:srgbClr val="2E7D73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515600" y="1508760"/>
            <a:ext cx="457200" cy="246888"/>
          </a:xfrm>
          <a:prstGeom prst="rect">
            <a:avLst/>
          </a:prstGeom>
          <a:solidFill>
            <a:srgbClr val="2E7D73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Pilhas, Filas e Tabelas de Dispersão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  ·  encontrar qualquer coisa num só passo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aquecer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diferença entre uma pilha e uma fila?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063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 array circular, como é que o índice "dá a volta" ao chegar ao fim?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custa pesquisar numa árvore Red-Black com n elementos?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sem olhar para os apontamentos: recordar é o que consolida a memória.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telemóvel tem 1 000 000 de contactos. Quantos passos para encontrar o número da Ana?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desordenada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1 000 000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um a um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265176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Red-Black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5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343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descer a árvore (Aulas 8–9)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65176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dispersão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343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onde está e ir lá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 possível não depender do número de contactos? É o tema de hoje.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regra de acesso ao acesso direto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66544" cy="356616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34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Pilhas, filas e filas duplas.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98064" y="1737360"/>
            <a:ext cx="2066544" cy="356616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26664" y="20116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2666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26664" y="2834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3026664" y="34290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→ função de hash → posição.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47488" y="1737360"/>
            <a:ext cx="2066544" cy="356616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76088" y="20116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7608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276088" y="2834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Colisões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5276088" y="34290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chaves, a mesma posição.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296912" y="1737360"/>
            <a:ext cx="2066544" cy="356616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25512" y="20116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25512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25512" y="2834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7525512" y="34290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em média; fator de carga.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546336" y="1737360"/>
            <a:ext cx="2066544" cy="356616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774936" y="20116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7493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774936" y="2834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prática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9774936" y="34290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em Java e exercícios.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e se, em vez de procurar, pudéssemos calcular onde está cada coisa?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Pilhas, filas e filas duplas.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DA AULA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estruturas, três regras de acesso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22402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push(x) · pop()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o mais recente.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29768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720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572000" y="22402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enqueue(x) · dequeue()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o mais antigo.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4672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3210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 dupla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8321040" y="22402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2104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pontas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enqueue/dequeue Front e Back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pilha ou fila.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3017520" y="3611880"/>
            <a:ext cx="548640" cy="274320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01752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017520" y="3319272"/>
            <a:ext cx="548640" cy="274320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17520" y="3319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017520" y="3026664"/>
            <a:ext cx="548640" cy="274320"/>
          </a:xfrm>
          <a:prstGeom prst="rect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017520" y="3026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6868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fazem as operações nas pontas em O(1). 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nenhuma serve para responder depressa a "onde está a chave X?". Para isso, hoje: a tabela de dispersão.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 de dispersão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tables: calcular em vez de procurar.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dicionário de pares chave → valor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de dispersão (hash table): </a:t>
            </a:r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que guarda pares </a:t>
            </a:r>
            <a:pPr indent="0" marL="0">
              <a:buNone/>
            </a:pPr>
            <a:r>
              <a:rPr lang="en-US" sz="21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chave → valor</a:t>
            </a:r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encontra o valor de uma chave </a:t>
            </a:r>
            <a:pPr indent="0" marL="0">
              <a:buNone/>
            </a:pPr>
            <a:r>
              <a:rPr lang="en-US" sz="21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muito depressa</a:t>
            </a:r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42900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429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"Ana"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46120" y="3712464"/>
            <a:ext cx="640080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931920" y="3429000"/>
            <a:ext cx="2560320" cy="566928"/>
          </a:xfrm>
          <a:prstGeom prst="roundRect">
            <a:avLst>
              <a:gd name="adj" fmla="val 4838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3429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912 345 678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420624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06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"Rui"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46120" y="4489704"/>
            <a:ext cx="640080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931920" y="4206240"/>
            <a:ext cx="2560320" cy="566928"/>
          </a:xfrm>
          <a:prstGeom prst="roundRect">
            <a:avLst>
              <a:gd name="adj" fmla="val 4838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4206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936 111 222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2960" y="4983480"/>
            <a:ext cx="2377440" cy="566928"/>
          </a:xfrm>
          <a:prstGeom prst="roundRect">
            <a:avLst>
              <a:gd name="adj" fmla="val 4838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983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"Eva"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46120" y="5266944"/>
            <a:ext cx="640080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931920" y="4983480"/>
            <a:ext cx="2560320" cy="566928"/>
          </a:xfrm>
          <a:prstGeom prst="roundRect">
            <a:avLst>
              <a:gd name="adj" fmla="val 4838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931920" y="4983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961 000 333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040880" y="3017520"/>
            <a:ext cx="4572000" cy="3017520"/>
          </a:xfrm>
          <a:prstGeom prst="roundRect">
            <a:avLst>
              <a:gd name="adj" fmla="val 3636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0" y="3154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dicionário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0" y="365760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 palavra que procuramos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 definição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lê o dicionário da primeira página até encontrar a palavra.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chave diz-nos onde guardar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737360" cy="685800"/>
          </a:xfrm>
          <a:prstGeom prst="roundRect">
            <a:avLst>
              <a:gd name="adj" fmla="val 4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377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"Ana"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331720" y="2715768"/>
            <a:ext cx="59436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971800" y="2148840"/>
            <a:ext cx="2103120" cy="1143000"/>
          </a:xfrm>
          <a:prstGeom prst="roundRect">
            <a:avLst>
              <a:gd name="adj" fmla="val 12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71800" y="2148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hash</a:t>
            </a:r>
            <a:endParaRPr lang="en-US" sz="13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h(chave)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20640" y="2715768"/>
            <a:ext cx="59436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760720" y="2377440"/>
            <a:ext cx="1645920" cy="685800"/>
          </a:xfrm>
          <a:prstGeom prst="roundRect">
            <a:avLst>
              <a:gd name="adj" fmla="val 4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60720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65972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52360" y="2715768"/>
            <a:ext cx="59436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092440" y="2377440"/>
            <a:ext cx="1371600" cy="685800"/>
          </a:xfrm>
          <a:prstGeom prst="roundRect">
            <a:avLst>
              <a:gd name="adj" fmla="val 4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9244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8 = 4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509760" y="2715768"/>
            <a:ext cx="64008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0195560" y="1463040"/>
            <a:ext cx="457200" cy="411480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19556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195560" y="1920240"/>
            <a:ext cx="457200" cy="411480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195560" y="1920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195560" y="2377440"/>
            <a:ext cx="457200" cy="411480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195560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195560" y="2834640"/>
            <a:ext cx="457200" cy="411480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9556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195560" y="3291840"/>
            <a:ext cx="457200" cy="411480"/>
          </a:xfrm>
          <a:prstGeom prst="rect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195560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195560" y="3749040"/>
            <a:ext cx="457200" cy="411480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195560" y="3749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0195560" y="4206240"/>
            <a:ext cx="457200" cy="411480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195560" y="4206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195560" y="4663440"/>
            <a:ext cx="457200" cy="411480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195560" y="4663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698480" y="3291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→ 912…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05840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buckets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48640" y="4114800"/>
            <a:ext cx="9144000" cy="1920240"/>
          </a:xfrm>
          <a:prstGeom prst="roundRect">
            <a:avLst>
              <a:gd name="adj" fmla="val 5714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8680" y="411480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 posição e pôr lá o par.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 mesma posição e ir diretamente lá.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truque do array circular: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% mantém o índice dentro do array.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peças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Chaves e valores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375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chave é mapeada para um valor. As chaves são únicas: inserir uma chave que já existe atualiza o valor.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7680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828800"/>
            <a:ext cx="731520" cy="7315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de hash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33375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a chave num índice. Tem de ser determinística (a mesma chave dá sempre o mesmo índice) e espalhar bem as chaves.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46720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21040" y="1828800"/>
            <a:ext cx="731520" cy="731520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Buckets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3375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posições do array. Cada bucket corresponde a um índice e guarda os pares que lá caem.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DE HASH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boa função espalha; uma má amontoa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12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Má: h(chave) = chave.length()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2286000"/>
            <a:ext cx="502920" cy="44805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286000"/>
            <a:ext cx="502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502920" cy="44805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788920"/>
            <a:ext cx="502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3291840"/>
            <a:ext cx="502920" cy="44805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291840"/>
            <a:ext cx="502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3794760"/>
            <a:ext cx="502920" cy="448056"/>
          </a:xfrm>
          <a:prstGeom prst="rect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794760"/>
            <a:ext cx="502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344168" y="401878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645920" y="3822192"/>
            <a:ext cx="960120" cy="393192"/>
          </a:xfrm>
          <a:prstGeom prst="roundRect">
            <a:avLst>
              <a:gd name="adj" fmla="val 13953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645920" y="3822192"/>
            <a:ext cx="960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606040" y="4018788"/>
            <a:ext cx="256032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880360" y="3822192"/>
            <a:ext cx="960120" cy="393192"/>
          </a:xfrm>
          <a:prstGeom prst="roundRect">
            <a:avLst>
              <a:gd name="adj" fmla="val 13953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880360" y="3822192"/>
            <a:ext cx="960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840480" y="4018788"/>
            <a:ext cx="256032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114800" y="3822192"/>
            <a:ext cx="960120" cy="393192"/>
          </a:xfrm>
          <a:prstGeom prst="roundRect">
            <a:avLst>
              <a:gd name="adj" fmla="val 13953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14800" y="3822192"/>
            <a:ext cx="960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" y="4297680"/>
            <a:ext cx="502920" cy="448056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297680"/>
            <a:ext cx="502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344168" y="452170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645920" y="4325112"/>
            <a:ext cx="960120" cy="393192"/>
          </a:xfrm>
          <a:prstGeom prst="roundRect">
            <a:avLst>
              <a:gd name="adj" fmla="val 13953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645920" y="4325112"/>
            <a:ext cx="960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2960" y="4800600"/>
            <a:ext cx="502920" cy="44805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4800600"/>
            <a:ext cx="502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5349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Ana, Rui e Eva têm 3 letras: colidem todos no bucket 3.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922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 função de hash</a:t>
            </a:r>
            <a:endParaRPr lang="en-US" sz="1900" dirty="0"/>
          </a:p>
        </p:txBody>
      </p:sp>
      <p:sp>
        <p:nvSpPr>
          <p:cNvPr id="36" name="Shape 33"/>
          <p:cNvSpPr/>
          <p:nvPr/>
        </p:nvSpPr>
        <p:spPr>
          <a:xfrm>
            <a:off x="6492240" y="2359152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922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086600" y="2286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Determinística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chave dá sempre o mesmo índice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92240" y="3136392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49224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086600" y="3063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calcula-se em tempo constante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92240" y="3913632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922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7086600" y="38404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espalha as chaves por todos os buckets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492240" y="4690872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922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7086600" y="46177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 chave toda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caracteres contam, não só o tamanho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Inserir, procurar e remover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 / atualizar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22960" y="269748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put(chave, valor)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bucket e guarda o par. Se a chave já existir, atualiza o valor.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297680" y="16002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82880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Procurar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4572000" y="269748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get(chave)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bucket e devolve o valor associado à chave (ou nada, se não existir).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046720" y="16002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321040" y="182880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210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09828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Remover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8321040" y="269748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2104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remove(chave)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33832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bucket e retira o par chave-valor.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868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comum às três: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= h(chave) % número de buckets. É isto que as torna rápidas.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Colisões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duas chaves querem a mesma gaveta.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chaves, o mesmo índice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da gaveta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94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mais chaves possíveis do que buckets, alguma gaveta vai ter de receber duas. As colisões não se evitam: gerem-se.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Paradoxo do aniversário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194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turma de </a:t>
            </a:r>
            <a:pPr indent="0" marL="0">
              <a:buNone/>
            </a:pPr>
            <a:r>
              <a:rPr lang="en-US" sz="155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pessoas, a probabilidade de duas fazerem anos no mesmo dia é de </a:t>
            </a:r>
            <a:pPr indent="0" marL="0">
              <a:buNone/>
            </a:pPr>
            <a:r>
              <a:rPr lang="en-US" sz="155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50,7 %</a:t>
            </a:r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 colisões aparecem muito cedo!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023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como se resolvem? Duas famílias de soluções: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572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572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Encadeamento (chaining)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bucket guarda uma lista ligada. É o de hoje e o dos exercícios.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217920" y="4572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492240" y="4572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Endereçamento aberto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bucket está ocupado, procura-se outro livre (por exemplo, o seguinte).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bucket tem a sua lista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4904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LIGADAS (ENTRADAS)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82880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743200" y="2075688"/>
            <a:ext cx="1188720" cy="114300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6060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 flipH="1">
            <a:off x="2743200" y="2084832"/>
            <a:ext cx="1188720" cy="768096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33832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flipH="1">
            <a:off x="2743200" y="3218688"/>
            <a:ext cx="1188720" cy="411480"/>
          </a:xfrm>
          <a:prstGeom prst="line">
            <a:avLst/>
          </a:prstGeom>
          <a:noFill/>
          <a:ln w="19050">
            <a:solidFill>
              <a:srgbClr val="E77A2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4160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 flipH="1">
            <a:off x="2743200" y="4352544"/>
            <a:ext cx="1188720" cy="54864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9377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 flipH="1">
            <a:off x="2743200" y="4919472"/>
            <a:ext cx="1188720" cy="265176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77640" y="1828800"/>
            <a:ext cx="502920" cy="512064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977640" y="182880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498848" y="2084832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800600" y="1856232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00600" y="1856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961 000 333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977640" y="2395728"/>
            <a:ext cx="502920" cy="512064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977640" y="239572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977640" y="2962656"/>
            <a:ext cx="502920" cy="512064"/>
          </a:xfrm>
          <a:prstGeom prst="rect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977640" y="296265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498848" y="321868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800600" y="299008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00600" y="29900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· 912 345 678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498080" y="3218688"/>
            <a:ext cx="256032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772400" y="299008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772400" y="29900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 · 936 111 222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3977640" y="3529584"/>
            <a:ext cx="502920" cy="512064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977640" y="352958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3977640" y="4096512"/>
            <a:ext cx="502920" cy="512064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977640" y="409651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498848" y="4352544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4800600" y="4123944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800600" y="41239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 · 917 555 444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3977640" y="4663440"/>
            <a:ext cx="502920" cy="512064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977640" y="466344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4498848" y="4919472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4800600" y="4690872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800600" y="46908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· 965 222 888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3977640" y="5230368"/>
            <a:ext cx="502920" cy="512064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977640" y="523036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Colisão no bucket 2: </a:t>
            </a:r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e Rui ficam na mesma lista. Os outros buckets têm listas de 1 elemento — ou vazias.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 dos dígitos, 7 buckets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852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1005840"/>
                <a:gridCol w="15544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dos dígitos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1+2+3 = 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4+5 = 9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1+8 = 9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7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i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colisão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3+1+1 = 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7+0 = 7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2+0+4 = 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7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i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colisão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76656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766560" y="1874520"/>
            <a:ext cx="502920" cy="402336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66560" y="18745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287768" y="207568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7589520" y="190195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589520" y="19019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766560" y="2331720"/>
            <a:ext cx="502920" cy="40233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766560" y="23317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766560" y="2788920"/>
            <a:ext cx="502920" cy="402336"/>
          </a:xfrm>
          <a:prstGeom prst="rect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66560" y="27889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287768" y="299008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7589520" y="281635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89520" y="28163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412480" y="2990088"/>
            <a:ext cx="256032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686800" y="281635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CEBDD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686800" y="28163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766560" y="3246120"/>
            <a:ext cx="502920" cy="40233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766560" y="32461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766560" y="3703320"/>
            <a:ext cx="502920" cy="40233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766560" y="37033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766560" y="4160520"/>
            <a:ext cx="502920" cy="402336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766560" y="41605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287768" y="436168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7589520" y="418795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589520" y="41879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311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6766560" y="4617720"/>
            <a:ext cx="502920" cy="402336"/>
          </a:xfrm>
          <a:prstGeom prst="rect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766560" y="46177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7287768" y="481888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7589520" y="464515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589520" y="46451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8412480" y="4818888"/>
            <a:ext cx="256032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8686800" y="464515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CEBDD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686800" y="46451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6868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18: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+ 8 = 9, 9 % 7 = 2 → bucket 2 → compara com 45, depois com 18: encontrado em 2 comparações.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RÁPIDA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mesma tabela (soma dos dígitos, 7 buckets)…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bucket fica a chave 99?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 4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69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+ 9 = 18; 18 % 7 = 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chave 1000? Colide com alguém?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9718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 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069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+ 0 + 0 + 0 = 1; bucket 1, vazio: sem colisão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primeiro no caderno — e só depois veja a resposta.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em média, lento no azar.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TEMPORAL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 em média, O(n) no pior caso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médio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0" y="16916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2377440"/>
            <a:ext cx="502920" cy="402336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3774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344168" y="257860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645920" y="2404872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45920" y="24048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2834640"/>
            <a:ext cx="502920" cy="402336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28346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344168" y="303580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645920" y="2862072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645920" y="28620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2960" y="3291840"/>
            <a:ext cx="502920" cy="402336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32918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344168" y="349300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1645920" y="3319272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645920" y="33192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" y="3749040"/>
            <a:ext cx="502920" cy="402336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37490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344168" y="395020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645920" y="3776472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645920" y="37764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2960" y="4206240"/>
            <a:ext cx="502920" cy="402336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42062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344168" y="440740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1645920" y="4233672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645920" y="42336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22960" y="4663440"/>
            <a:ext cx="502920" cy="402336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" y="46634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344168" y="486460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645920" y="4690872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645920" y="46908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2296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bem espalhadas: cada lista tem 0 ou 1 elemento.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9224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Pior caso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9784080" y="16916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A12C22"/>
          </a:solidFill>
          <a:ln w="12700">
            <a:solidFill>
              <a:srgbClr val="A12C2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78408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6492240" y="2377440"/>
            <a:ext cx="502920" cy="40233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492240" y="23774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6492240" y="2834640"/>
            <a:ext cx="502920" cy="40233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0" y="28346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6492240" y="3291840"/>
            <a:ext cx="502920" cy="402336"/>
          </a:xfrm>
          <a:prstGeom prst="rect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492240" y="32918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7013448" y="3493008"/>
            <a:ext cx="283464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7315200" y="3319272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315200" y="33192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7790688" y="3493008"/>
            <a:ext cx="256032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8065008" y="3319272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065008" y="33192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8540496" y="3493008"/>
            <a:ext cx="256032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8814816" y="3319272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814816" y="33192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9290304" y="3493008"/>
            <a:ext cx="256032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9564624" y="3319272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564624" y="33192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10040112" y="3493008"/>
            <a:ext cx="256032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65" name="Shape 62"/>
          <p:cNvSpPr/>
          <p:nvPr/>
        </p:nvSpPr>
        <p:spPr>
          <a:xfrm>
            <a:off x="10314432" y="3319272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314432" y="33192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10789920" y="3493008"/>
            <a:ext cx="256032" cy="0"/>
          </a:xfrm>
          <a:prstGeom prst="line">
            <a:avLst/>
          </a:prstGeom>
          <a:noFill/>
          <a:ln w="15875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68" name="Shape 65"/>
          <p:cNvSpPr/>
          <p:nvPr/>
        </p:nvSpPr>
        <p:spPr>
          <a:xfrm>
            <a:off x="11064240" y="3319272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1064240" y="33192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6492240" y="3749040"/>
            <a:ext cx="502920" cy="40233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6492240" y="37490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72" name="Shape 69"/>
          <p:cNvSpPr/>
          <p:nvPr/>
        </p:nvSpPr>
        <p:spPr>
          <a:xfrm>
            <a:off x="6492240" y="4206240"/>
            <a:ext cx="502920" cy="40233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492240" y="42062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74" name="Shape 71"/>
          <p:cNvSpPr/>
          <p:nvPr/>
        </p:nvSpPr>
        <p:spPr>
          <a:xfrm>
            <a:off x="6492240" y="4663440"/>
            <a:ext cx="502920" cy="402336"/>
          </a:xfrm>
          <a:prstGeom prst="rect">
            <a:avLst/>
          </a:prstGeom>
          <a:solidFill>
            <a:srgbClr val="E6F0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6492240" y="46634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76" name="Text 73"/>
          <p:cNvSpPr txBox="1"/>
          <p:nvPr/>
        </p:nvSpPr>
        <p:spPr>
          <a:xfrm>
            <a:off x="649224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chaves no mesmo bucket: é uma lista ligada disfarçada.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 CARGA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Quão cheia está a tabela?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</a:t>
            </a:r>
            <a:pPr indent="0" marL="0">
              <a:buNone/>
            </a:pPr>
            <a:r>
              <a:rPr lang="en-US" sz="4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buNone/>
            </a:pPr>
            <a:r>
              <a:rPr lang="en-US" sz="4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</a:t>
            </a:r>
            <a:pPr indent="0" marL="0">
              <a:buNone/>
            </a:pPr>
            <a:r>
              <a:rPr lang="en-US" sz="4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número de elementos    </a:t>
            </a:r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número de buckets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5486400" cy="685800"/>
          </a:xfrm>
          <a:prstGeom prst="roundRect">
            <a:avLst>
              <a:gd name="adj" fmla="val 16000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657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6, m = 12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36576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0,5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folgada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462272"/>
            <a:ext cx="5486400" cy="685800"/>
          </a:xfrm>
          <a:prstGeom prst="roundRect">
            <a:avLst>
              <a:gd name="adj" fmla="val 160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4622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9, m = 12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446227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0,75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023360" y="44622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8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do Java: crescer!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5266944"/>
            <a:ext cx="5486400" cy="685800"/>
          </a:xfrm>
          <a:prstGeom prst="roundRect">
            <a:avLst>
              <a:gd name="adj" fmla="val 16000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26694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24, m = 12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743200" y="526694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2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526694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longas: mais lento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fica cheia: crescer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583680" y="2286000"/>
            <a:ext cx="548640" cy="5486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269480" y="2240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array com o dobro dos buckets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6583680" y="3154680"/>
            <a:ext cx="548640" cy="5486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269480" y="3108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Recalcular o bucket de cada chave (rehash)</a:t>
            </a:r>
            <a:endParaRPr lang="en-US" sz="1550" dirty="0"/>
          </a:p>
        </p:txBody>
      </p:sp>
      <p:sp>
        <p:nvSpPr>
          <p:cNvPr id="30" name="Shape 27"/>
          <p:cNvSpPr/>
          <p:nvPr/>
        </p:nvSpPr>
        <p:spPr>
          <a:xfrm>
            <a:off x="6583680" y="4023360"/>
            <a:ext cx="548640" cy="5486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269480" y="3977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fator de carga volta a baixar</a:t>
            </a:r>
            <a:endParaRPr lang="en-US" sz="1550" dirty="0"/>
          </a:p>
        </p:txBody>
      </p:sp>
      <p:sp>
        <p:nvSpPr>
          <p:cNvPr id="33" name="Text 30"/>
          <p:cNvSpPr txBox="1"/>
          <p:nvPr/>
        </p:nvSpPr>
        <p:spPr>
          <a:xfrm>
            <a:off x="6583680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custa O(n), mas acontece raramente: em média, cada inserção continua a custar O(1).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FRENTE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escolher?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  <a:gridCol w="283464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ordenado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Red-Black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de dispersão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em média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Inserir / remover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em média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Pior caso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ao inserir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garantido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a ordem?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Java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 + binarySearch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TreeMap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HashMap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5349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só de "está lá?" e "qual o valor?" → HashMap. Precisa de ordem → TreeMap.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se usam tabelas de dispersão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Índices de bases de dados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um registo pela chave sem percorrer a tabela.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1600200"/>
            <a:ext cx="34747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82880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(ex.: LRU)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resultados recentes; junta hash table e fila dupla.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046720" y="1600200"/>
            <a:ext cx="34747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21040" y="182880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 ocorrências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palavras num texto: palavra → contagem.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34340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34340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Vantajosas quando…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acesso muito rápido, em média, por chave.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17920" y="434340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434340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adequadas quando…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dos dados ordenados, ou quando há muitas colisões.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HashMap: contar palavras em 4 linhas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6949440" cy="3108960"/>
          </a:xfrm>
          <a:prstGeom prst="roundRect">
            <a:avLst>
              <a:gd name="adj" fmla="val 2941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6400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&lt;String, Integer&gt; conta = </a:t>
            </a:r>
            <a:pPr indent="0" marL="0">
              <a:buNone/>
            </a:pPr>
            <a:r>
              <a:rPr lang="en-US" sz="140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HashMap&lt;&gt;();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p : texto.split(" "))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conta.merge(p, 1, Integer::sum);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conta.get("dados");          </a:t>
            </a:r>
            <a:pPr indent="0" marL="0">
              <a:buNone/>
            </a:pPr>
            <a:r>
              <a:rPr lang="en-US" sz="14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quantas vezes?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conta.getOrDefault("x", 0);  </a:t>
            </a:r>
            <a:pPr indent="0" marL="0">
              <a:buNone/>
            </a:pPr>
            <a:r>
              <a:rPr lang="en-US" sz="14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se não existir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conta.containsKey("ED");     </a:t>
            </a:r>
            <a:pPr indent="0" marL="0">
              <a:buNone/>
            </a:pPr>
            <a:r>
              <a:rPr lang="en-US" sz="14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existe?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155448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0100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tem hashCode()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1488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"Ana".hashCode()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65972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HashMap usa-o para escolher o bucket. Chaves iguais têm de ter o mesmo hashCode.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 (exercício 9):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hashCode() pode ser negativo, e </a:t>
            </a:r>
            <a:pPr indent="0" marL="0">
              <a:buNone/>
            </a:pPr>
            <a:r>
              <a:rPr lang="en-US" sz="16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Math.abs(Integer.MIN_VALUE)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continua negativo! Prefira </a:t>
            </a:r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Math.floorMod(h, m)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dá sempre um índice entre 0 e m − 1.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filas às tabelas de dispersão.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 (1 A 7)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Pilhas e filas: retomar a Aula 7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1554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com array (capacidade 1000): push, pop, size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83464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2651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reverse(p, 3): {1,2,3,4,5} → {3,2,1,4,5}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393192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" y="37490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com array (capacidade 1000): enqueue, dequeue, size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84632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240" y="502920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4846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duas filas ordenadas: [2,4,8,10] + [1,4,9]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217920" y="15544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46520" y="17373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46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178040" y="1554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do 3 com os elementos por ordem crescente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217920" y="265176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283464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465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178040" y="2651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do 3 com filas duplas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217920" y="374904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446520" y="393192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4652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178040" y="37490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do 1 e do 3 com LinkedList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217920" y="48463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92240" y="4846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e custos de cada um: diapositivos da Aula 7.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DE APLICAÇÃO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sua tabela de dispersão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783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de dispersão de inteiros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5176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 valores inteiros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array para os buckets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Colisões por encadeamento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os métodos para adicionar e obter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= soma dos dígitos da chave, ajustada ao número de buckets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1663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o exemplo resolvido: 123, 45, 18, 311, 70, 204 em 7 buckets.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0" y="155448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0" y="169164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</a:t>
            </a:r>
            <a:pPr indent="0" marL="0">
              <a:buNone/>
            </a:pPr>
            <a:r>
              <a:rPr lang="en-US" sz="14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 = Math.abs(k);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 &gt; 0)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+= k % 10;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/= 10;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% buckets.length;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 (9 A 11)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Generalizar passo a passo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Chaves e valores String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709928" y="2560320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2560320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1992" y="2560320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 8 com Strings. Hash: valor absoluto de hashCode() da String, ajustado ao número de buckets.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526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Math.abs(Integer.MIN_VALUE) é negativo! Use Math.floorMod.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Remover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58968" y="2560320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15000" y="2560320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71032" y="2560320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Acrescente um método que elimine elementos da tabela.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4526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remover o par da lista do bucket certo.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46720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210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8972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Qualquer tipo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9208008" y="2560320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464040" y="2560320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720072" y="2560320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 valores de qualquer tipo. A função de hash fica ao seu critério.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526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genéricos HashTable&lt;K, V&gt; + hashCode() e equals().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Calcular, não procurar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= h(chave) % m: vai-se diretamente ao bucket.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Colisões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inevitáveis. Com encadeamento, cada bucket guarda uma lista ligada.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 em média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boa função de hash e fator de carga baixo. Pior caso O(n). Não guarda ordem.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rapidez por chave? HashMap. Precisa de ordem? TreeMap.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38528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Levitin, A. (2011). </a:t>
            </a:r>
            <a:pPr indent="0" marL="0">
              <a:buNone/>
            </a:pP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Design and Analysis of Algorithms</a:t>
            </a:r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127248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9260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Areias, M. (2023/24). </a:t>
            </a:r>
            <a:pPr indent="0" marL="0">
              <a:buNone/>
            </a:pP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— Aula prática 7</a:t>
            </a:r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DCC-FCUP. </a:t>
            </a:r>
            <a:pPr indent="0" marL="0">
              <a:buNone/>
            </a:pPr>
            <a:r>
              <a:rPr lang="en-US" sz="1500" u="sng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dcc.fc.up.pt/~miguel-areias/teaching/2324/ed/praticas/aula07.html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11480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4315968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41148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 referência da tabela de dispersão com encadeamento: </a:t>
            </a:r>
            <a:pPr indent="0" marL="0">
              <a:buNone/>
            </a:pPr>
            <a:r>
              <a:rPr lang="en-US" sz="1500" u="sng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dev-to-uploads.s3.amazonaws.com/uploads/articles/rf9k7qhjpwblw3nb4x46.png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10: Pilhas, Filas e Tabelas de Dispersão</dc:title>
  <dc:subject>PptxGenJS Presentation</dc:subject>
  <dc:creator>Luís Simões da Cunha</dc:creator>
  <cp:lastModifiedBy>Luís Simões da Cunha</cp:lastModifiedBy>
  <cp:revision>1</cp:revision>
  <dcterms:created xsi:type="dcterms:W3CDTF">2026-09-25T16:43:00Z</dcterms:created>
  <dcterms:modified xsi:type="dcterms:W3CDTF">2026-09-25T16:43:00Z</dcterms:modified>
</cp:coreProperties>
</file>