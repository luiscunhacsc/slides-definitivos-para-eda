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Aula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de recuperação (2 minutos, sem apontamentos). Respostas: (1) O(n²); (2) N!; (3) o pior caso, porque dá uma garantia. A pergunta 2 volta hoje com o problema do caixeiro-viajante.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concreto. Perguntar: e se o cadeado tivesse 10 dígitos? (10^10 tentativas: a 1 por segundo seriam 317 anos; um computador fá-lo em segundos.) Introduz as duas faces da força bruta: garantia e custo.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Organizador prévio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Levitin (2011): força bruta é uma abordagem direta, baseada no enunciado do problema e nas definições dos conceitos envolvidos. Exemplo clássico: calcular aⁿ multiplicando a por si próprio n vezes — é literalmente a definição de potência.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de recuperação da Aula 2 aplicada a novos exemplos. Discussão em pares antes de revelar.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Pesquisa de texto: para cada uma das n posições do texto, compara-se até m caracteres da palavra → O(n·m). Divisores: testar de 1 a n → O(n); uma versão mais esperta só testa até √n, porque os divisores surgem aos pares.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Organização em prós e contras (contraste). Pergunta: em que situações a correção vale mais do que a eficiência? (Ex.: verificar o resultado de um algoritmo mais rápido; problemas pequenos; segurança.)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Levitin (2011) enumera estas razões. Destacar a 5.ª: a solução de força bruta serve de referência para testar e comparar algoritmos mais rápidos (ex.: confirmar que o Merge Sort da próxima aula dá o mesmo resultado que o Selection Sort).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Ideia: em cada passagem i, procurar o menor elemento da parte por ordenar e trocá-lo com A[i]. Verde escuro = parte já ordenada; laranja = mínimo encontrado nesta passagem.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ciclo interior faz n−1−i comparações na passagem i. Soma: (n−1) + (n−2) + … + 1 = n(n−1)/2 → Θ(n²), em qualquer caso (mesmo com o array já ordenado). Vantagem pouco conhecida: só faz n−1 trocas, o que interessa quando trocar é caro.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Ideia: comparar pares vizinhos e trocá-los se estiverem fora de ordem. No fim de cada passagem, o maior elemento que resta fica na sua posição final (a "bolha" que sobe). Verde escuro = já no lugar.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Comparações: n(n−1)/2 → Θ(n²). Trocas no pior caso (array invertido): também n(n−1)/2. Melhoria simples: se numa passagem não houver trocas, o array já está ordenado e pode parar — melhor caso O(n). Fica como desafio no exercício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 são força bruta e Θ(n²) em comparações. Diferem nas trocas e no comportamento com dados quase ordenados.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Cálculo: n(n−1)/2. Para n = 10 000: 49 995 000. Para n = 1 000 000: ≈ 5 × 10^11 → 500 s ≈ 8 min. Pedir estimativa antes de revelar (pode animar a entrada dos números).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Muitos problemas importantes procuram um elemento especial num domínio que cresce exponencialmente (ou mais depressa) com o input: permutações, combinações, subconjuntos. A pesquisa exaustiva é a força bruta aplicada a estes problemas combinatórios.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de Levitin (2011, fig. 3.7). Enunciado: visitar cada cidade exatamente uma vez e regressar à de partida, com a menor distância total. Repare que as viagens aparecem aos pares (uma é a outra ao contrário): só 3 são realmente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Fixando a cidade de partida, há (n−1)! ordens possíveis; como cada viagem e a sua inversa têm o mesmo comprimento, ficam (n−1)!/2. Tempos a 10^9 viagens avaliadas por segundo (otimista). Liga à Aula 2: é o crescimento fatorial.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3: sugerir a representação do grafo numa matriz de distâncias int[][] e a geração de permutações por recursão. Teste com o exemplo das 4 cidades (resposta: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Síntese. Pedir a cada aluno que dê um exemplo do dia a dia em que usa força bruta (ex.: procurar as chaves em todos os bolsos).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Levitin, capítulo 3 (Brute Force and Exhaustive Search).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3200400" cy="7594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 2026/2027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595360" y="731520"/>
            <a:ext cx="777240" cy="1188720"/>
          </a:xfrm>
          <a:prstGeom prst="roundRect">
            <a:avLst>
              <a:gd name="adj" fmla="val 14118"/>
            </a:avLst>
          </a:prstGeom>
          <a:solidFill>
            <a:srgbClr val="155E56"/>
          </a:solidFill>
          <a:ln w="25400">
            <a:solidFill>
              <a:srgbClr val="2E7D7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0" y="7498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10515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15727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555480" y="731520"/>
            <a:ext cx="777240" cy="1188720"/>
          </a:xfrm>
          <a:prstGeom prst="roundRect">
            <a:avLst>
              <a:gd name="adj" fmla="val 14118"/>
            </a:avLst>
          </a:prstGeom>
          <a:solidFill>
            <a:srgbClr val="155E56"/>
          </a:solidFill>
          <a:ln w="25400">
            <a:solidFill>
              <a:srgbClr val="2E7D7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555480" y="7498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555480" y="10515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9555480" y="15727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515600" y="731520"/>
            <a:ext cx="777240" cy="1188720"/>
          </a:xfrm>
          <a:prstGeom prst="roundRect">
            <a:avLst>
              <a:gd name="adj" fmla="val 14118"/>
            </a:avLst>
          </a:prstGeom>
          <a:solidFill>
            <a:srgbClr val="155E56"/>
          </a:solidFill>
          <a:ln w="25400">
            <a:solidFill>
              <a:srgbClr val="E77A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515600" y="7498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0" y="10515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0" y="15727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651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0632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de Força Bruta</a:t>
            </a:r>
            <a:endParaRPr lang="en-US" sz="38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4526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 ·  experimentar tudo, com método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5394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A AULA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para aquecer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6916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ciclos for encadeados, cada um de 0 a n. Qual a complexidade?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2918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0632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permutações diferentes existem de N elementos?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8680" y="46634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663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4348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é que analisamos sempre o pior caso?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sem olhar para os apontamentos: recordar é o que consolida a memória.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Esqueceu-se do código do cadeado de 3 dígitos. Como o abre?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C9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48840" y="27432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C9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749040" y="27432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C9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349240" y="27432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C9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949440" y="27432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473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549640" y="27432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C9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4964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149840" y="27432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C9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4984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abriu!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937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tentativas no máximo (3 dígitos)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206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10 000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937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4 dígitos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4206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Garantido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4937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código existe, encontra-o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 é força bruta: sem truques, só método e paciência — a do computador.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Força bruta: simples, garantida e cara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Definição, exemplos e características.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364992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39312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razões para não a desprezar.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81344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55664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55664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55664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Ordenar à força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 e Bubble Sort, O(n²).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997696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72016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72016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72016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exaustiva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9272016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do caixeiro-viajante.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Pergunta-guia: quando é que "experimentar tudo" é uma boa ideia — e quando é impossível?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 força bruta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abordagem mais direta possível.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 o problema "à letra"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6002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força bruta é uma abordagem </a:t>
            </a:r>
            <a:pPr indent="0" marL="0">
              <a:buNone/>
            </a:pPr>
            <a:r>
              <a:rPr lang="en-US" sz="23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direta</a:t>
            </a:r>
            <a:pPr indent="0" marL="0">
              <a:buNone/>
            </a:pPr>
            <a:r>
              <a:rPr lang="en-US" sz="23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baseada no </a:t>
            </a:r>
            <a:pPr indent="0" marL="0">
              <a:buNone/>
            </a:pPr>
            <a:r>
              <a:rPr lang="en-US" sz="23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enunciado do problema</a:t>
            </a:r>
            <a:pPr indent="0" marL="0">
              <a:buNone/>
            </a:pPr>
            <a:r>
              <a:rPr lang="en-US" sz="23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nas </a:t>
            </a:r>
            <a:pPr indent="0" marL="0">
              <a:buNone/>
            </a:pPr>
            <a:r>
              <a:rPr lang="en-US" sz="23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definições</a:t>
            </a:r>
            <a:pPr indent="0" marL="0">
              <a:buNone/>
            </a:pPr>
            <a:r>
              <a:rPr lang="en-US" sz="23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dos conceitos envolvidos.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52044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 tudo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800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 as soluções possíveis até encontrar a correta: procura exaustiva.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29768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352044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atalhos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800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 otimizações nem heurísticas inteligentes.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04672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21040" y="352044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10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força é da máquina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4800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"força" é o poder de cálculo do computador, não o engenho de quem programa.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VEZ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algoritmos de força bruta. Qual a complexidade?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48256"/>
            <a:ext cx="493776" cy="493776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482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um elemento num array não ordenado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509760" y="19202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 ? 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62656"/>
            <a:ext cx="493776" cy="493776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626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3464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 um texto contém uma palavra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0" y="28346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 ? )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877056"/>
            <a:ext cx="493776" cy="493776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877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74904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 uma palavra é um palíndromo (ex.: "radar")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37490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 ? )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791456"/>
            <a:ext cx="493776" cy="493776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791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66344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todos os divisores de um número n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46634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 ? )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primeiro: o que é que o algoritmo tem de percorrer?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a complexidade? As respostas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15087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num array não ordenado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303520" y="1691640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0352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5087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ter de ver todos os elementos.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532888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2715768"/>
            <a:ext cx="502920" cy="5029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25328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contém uma palavra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303520" y="2715768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03520" y="2715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O(n·m)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53288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posição do texto (n), compara a palavra (m).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3557016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739896"/>
            <a:ext cx="502920" cy="5029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355701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Palíndromo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5303520" y="3739896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03520" y="37398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3557016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as pontas, a caminhar para o meio: n/2 passos.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48640" y="4581144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31520" y="4764024"/>
            <a:ext cx="502920" cy="5029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463040" y="458114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Divisores de n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5303520" y="4764024"/>
            <a:ext cx="1463040" cy="502920"/>
          </a:xfrm>
          <a:prstGeom prst="roundRect">
            <a:avLst>
              <a:gd name="adj" fmla="val 50000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303520" y="476402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7040880" y="4581144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1, 2, …, n. (Até √n chega — porquê?)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é exponencial: a força bruta nem sempre é lenta. Tudo depende do tamanho do espaço de procura.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CARACTERÍSTICAS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vantagens e dois custos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7830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Procura exaustiva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743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todas as opções do espaço de procura, sem estratégia para reduzir o número de verificações.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17920" y="155448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0" y="17830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Simplicidade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743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conceber e de implementar: é direta e sistemática, sem lógica complexa.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84048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" y="40690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6D5D0"/>
          </a:solidFill>
          <a:ln w="12700">
            <a:solidFill>
              <a:srgbClr val="F6D5D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4069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DESVANTAGEM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elevado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vezes O(2ⁿ) ou O(n!): impraticável para inputs grandes.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84048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92240" y="40690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4069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 garantida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existe solução, encontra-a. Útil quando a correção importa mais do que a eficiência.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Raramente a mais inteligente, muitas vezes a mais útil.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CONSIDERAÇÕES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razões para não desprezar a força bruta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6642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Aplica-se a quase tudo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645920" y="20848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contrário de outras estratégias, funciona numa enorme variedade de problemas.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3127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razoáveis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35478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ordenação, pesquisa, multiplicação de matrizes e texto dá soluções com valor prático.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4805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" y="480060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45902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pequenos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645920" y="50109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dados são pequenos, um algoritmo sofisticado pode não compensar o esforço.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17920" y="15544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46520" y="187452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465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0" y="16642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Instâncias pequenas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0" y="20848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ineficiente em geral, resolve bem casos pequenos de um problema difícil.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17920" y="30175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46520" y="333756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4652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0" y="3127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referência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7315200" y="35478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de padrão para avaliar e testar alternativas mais eficientes.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217920" y="44805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92240" y="4480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"Primeiro, faça funcionar. Depois, faça rápido." A força bruta é muitas vezes o primeiro passo.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Ordenar à força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 e Bubble Sort.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o menor e pô-lo no lugar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passagem, percorre a parte por ordenar, encontra o menor e troca-o para a primeira posição livre.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01168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828800" y="201168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28800" y="20116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697480" y="201168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97480" y="20116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566160" y="201168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20116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434840" y="201168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34840" y="20116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303520" y="2011680"/>
            <a:ext cx="868680" cy="512064"/>
          </a:xfrm>
          <a:prstGeom prst="rect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03520" y="20116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20116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78892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0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828800" y="278892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828800" y="278892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2697480" y="278892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97480" y="278892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3566160" y="278892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566160" y="278892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4434840" y="278892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434840" y="278892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5303520" y="278892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303520" y="278892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278892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11 ↔ 64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356616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1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828800" y="356616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828800" y="356616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2697480" y="356616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697480" y="356616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3566160" y="356616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566160" y="356616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4434840" y="356616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434840" y="356616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700" dirty="0"/>
          </a:p>
        </p:txBody>
      </p:sp>
      <p:sp>
        <p:nvSpPr>
          <p:cNvPr id="41" name="Shape 38"/>
          <p:cNvSpPr/>
          <p:nvPr/>
        </p:nvSpPr>
        <p:spPr>
          <a:xfrm>
            <a:off x="5303520" y="356616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303520" y="356616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6400800" y="356616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12 ↔ 25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43434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2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1828800" y="434340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828800" y="43434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47" name="Shape 44"/>
          <p:cNvSpPr/>
          <p:nvPr/>
        </p:nvSpPr>
        <p:spPr>
          <a:xfrm>
            <a:off x="2697480" y="434340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697480" y="43434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49" name="Shape 46"/>
          <p:cNvSpPr/>
          <p:nvPr/>
        </p:nvSpPr>
        <p:spPr>
          <a:xfrm>
            <a:off x="3566160" y="434340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3566160" y="43434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700" dirty="0"/>
          </a:p>
        </p:txBody>
      </p:sp>
      <p:sp>
        <p:nvSpPr>
          <p:cNvPr id="51" name="Shape 48"/>
          <p:cNvSpPr/>
          <p:nvPr/>
        </p:nvSpPr>
        <p:spPr>
          <a:xfrm>
            <a:off x="4434840" y="434340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434840" y="43434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5303520" y="434340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303520" y="43434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700" dirty="0"/>
          </a:p>
        </p:txBody>
      </p:sp>
      <p:sp>
        <p:nvSpPr>
          <p:cNvPr id="55" name="Text 52"/>
          <p:cNvSpPr txBox="1"/>
          <p:nvPr/>
        </p:nvSpPr>
        <p:spPr>
          <a:xfrm>
            <a:off x="6400800" y="43434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22 ↔ 25</a:t>
            </a:r>
            <a:endParaRPr lang="en-US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548640" y="512064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3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1828800" y="512064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828800" y="512064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59" name="Shape 56"/>
          <p:cNvSpPr/>
          <p:nvPr/>
        </p:nvSpPr>
        <p:spPr>
          <a:xfrm>
            <a:off x="2697480" y="512064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2697480" y="512064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61" name="Shape 58"/>
          <p:cNvSpPr/>
          <p:nvPr/>
        </p:nvSpPr>
        <p:spPr>
          <a:xfrm>
            <a:off x="3566160" y="512064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3566160" y="512064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700" dirty="0"/>
          </a:p>
        </p:txBody>
      </p:sp>
      <p:sp>
        <p:nvSpPr>
          <p:cNvPr id="63" name="Shape 60"/>
          <p:cNvSpPr/>
          <p:nvPr/>
        </p:nvSpPr>
        <p:spPr>
          <a:xfrm>
            <a:off x="4434840" y="512064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434840" y="512064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700" dirty="0"/>
          </a:p>
        </p:txBody>
      </p:sp>
      <p:sp>
        <p:nvSpPr>
          <p:cNvPr id="65" name="Shape 62"/>
          <p:cNvSpPr/>
          <p:nvPr/>
        </p:nvSpPr>
        <p:spPr>
          <a:xfrm>
            <a:off x="5303520" y="512064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303520" y="512064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700" dirty="0"/>
          </a:p>
        </p:txBody>
      </p:sp>
      <p:sp>
        <p:nvSpPr>
          <p:cNvPr id="67" name="Text 64"/>
          <p:cNvSpPr txBox="1"/>
          <p:nvPr/>
        </p:nvSpPr>
        <p:spPr>
          <a:xfrm>
            <a:off x="6400800" y="512064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já está no lugar</a:t>
            </a:r>
            <a:endParaRPr lang="en-US" sz="1500" dirty="0"/>
          </a:p>
        </p:txBody>
      </p:sp>
      <p:sp>
        <p:nvSpPr>
          <p:cNvPr id="68" name="Shape 65"/>
          <p:cNvSpPr/>
          <p:nvPr/>
        </p:nvSpPr>
        <p:spPr>
          <a:xfrm>
            <a:off x="9326880" y="2011680"/>
            <a:ext cx="2286000" cy="3611880"/>
          </a:xfrm>
          <a:prstGeom prst="roundRect">
            <a:avLst>
              <a:gd name="adj" fmla="val 48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950976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Truque para lembrar</a:t>
            </a:r>
            <a:endParaRPr lang="en-US" sz="1500" dirty="0"/>
          </a:p>
        </p:txBody>
      </p:sp>
      <p:sp>
        <p:nvSpPr>
          <p:cNvPr id="70" name="Text 67"/>
          <p:cNvSpPr txBox="1"/>
          <p:nvPr/>
        </p:nvSpPr>
        <p:spPr>
          <a:xfrm>
            <a:off x="9509760" y="2743200"/>
            <a:ext cx="1920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jogadores para uma equipa: escolhe-se sempre o "melhor" que resta.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Pseudocódigo e custo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669280" cy="2560320"/>
          </a:xfrm>
          <a:prstGeom prst="roundRect">
            <a:avLst>
              <a:gd name="adj" fmla="val 3571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459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SelectionSort(A[0..n−1])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← 0 até n−2: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 ← 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j ← i+1 até n−1: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 A[j] &lt; A[min]: min ← j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trocar A[i] com A[min]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06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interior (verde) é o que manda no custo.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92240" y="1508760"/>
            <a:ext cx="5120640" cy="2560320"/>
          </a:xfrm>
          <a:prstGeom prst="roundRect">
            <a:avLst>
              <a:gd name="adj" fmla="val 4286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(n−1) + (n−2) + … + 1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n(n−1)/2  →  </a:t>
            </a:r>
            <a:pPr indent="0" marL="0">
              <a:buNone/>
            </a:pPr>
            <a:r>
              <a:rPr lang="en-US" sz="24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Θ(n²)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— mesmo que o array já esteja ordenado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92240" y="434340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6656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4846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</a:t>
            </a:r>
            <a:pPr indent="0" marL="0">
              <a:buNone/>
            </a:pPr>
            <a:r>
              <a:rPr lang="en-US" sz="22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− 1</a:t>
            </a:r>
            <a:pPr indent="0" marL="0">
              <a:buNone/>
            </a:pPr>
            <a:r>
              <a:rPr lang="en-US" sz="22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O(n)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quando mover dados é caro.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754880"/>
            <a:ext cx="5669280" cy="1280160"/>
          </a:xfrm>
          <a:prstGeom prst="roundRect">
            <a:avLst>
              <a:gd name="adj" fmla="val 8571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7548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5 elementos: 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+ 3 + 2 + 1 = 10 comparações = 5·4/2.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maiores "sobem" como bolhas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vizinhos e troca-os se estiverem fora de ordem. Em cada passagem, o maior chega ao fim.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0116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103120" y="201168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03120" y="20116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971800" y="201168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71800" y="20116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840480" y="201168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40480" y="20116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709160" y="201168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09160" y="20116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577840" y="201168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77840" y="20116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201168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78892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passagem 1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2103120" y="278892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103120" y="278892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2971800" y="278892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971800" y="278892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3840480" y="278892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840480" y="278892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4709160" y="278892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09160" y="278892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5577840" y="2788920"/>
            <a:ext cx="868680" cy="512064"/>
          </a:xfrm>
          <a:prstGeom prst="rect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577840" y="278892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6675120" y="27889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trocas: o 64 sobe até ao fim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356616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passagem 2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2103120" y="356616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103120" y="356616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2971800" y="356616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971800" y="356616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3840480" y="356616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840480" y="356616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4709160" y="3566160"/>
            <a:ext cx="868680" cy="512064"/>
          </a:xfrm>
          <a:prstGeom prst="rect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709160" y="356616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700" dirty="0"/>
          </a:p>
        </p:txBody>
      </p:sp>
      <p:sp>
        <p:nvSpPr>
          <p:cNvPr id="41" name="Shape 38"/>
          <p:cNvSpPr/>
          <p:nvPr/>
        </p:nvSpPr>
        <p:spPr>
          <a:xfrm>
            <a:off x="5577840" y="356616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577840" y="356616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6675120" y="35661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trocas: o 25 fica no lugar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43434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passagem 3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2103120" y="434340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103120" y="43434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47" name="Shape 44"/>
          <p:cNvSpPr/>
          <p:nvPr/>
        </p:nvSpPr>
        <p:spPr>
          <a:xfrm>
            <a:off x="2971800" y="4343400"/>
            <a:ext cx="868680" cy="512064"/>
          </a:xfrm>
          <a:prstGeom prst="rect">
            <a:avLst/>
          </a:prstGeom>
          <a:solidFill>
            <a:srgbClr val="E6F0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971800" y="43434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49" name="Shape 46"/>
          <p:cNvSpPr/>
          <p:nvPr/>
        </p:nvSpPr>
        <p:spPr>
          <a:xfrm>
            <a:off x="3840480" y="4343400"/>
            <a:ext cx="868680" cy="512064"/>
          </a:xfrm>
          <a:prstGeom prst="rect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3840480" y="43434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700" dirty="0"/>
          </a:p>
        </p:txBody>
      </p:sp>
      <p:sp>
        <p:nvSpPr>
          <p:cNvPr id="51" name="Shape 48"/>
          <p:cNvSpPr/>
          <p:nvPr/>
        </p:nvSpPr>
        <p:spPr>
          <a:xfrm>
            <a:off x="4709160" y="434340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709160" y="43434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5577840" y="434340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577840" y="43434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700" dirty="0"/>
          </a:p>
        </p:txBody>
      </p:sp>
      <p:sp>
        <p:nvSpPr>
          <p:cNvPr id="55" name="Text 52"/>
          <p:cNvSpPr txBox="1"/>
          <p:nvPr/>
        </p:nvSpPr>
        <p:spPr>
          <a:xfrm>
            <a:off x="6675120" y="434340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troca: o 22 fica no lugar</a:t>
            </a:r>
            <a:endParaRPr lang="en-US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548640" y="51206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passagem 4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2103120" y="512064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103120" y="512064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59" name="Shape 56"/>
          <p:cNvSpPr/>
          <p:nvPr/>
        </p:nvSpPr>
        <p:spPr>
          <a:xfrm>
            <a:off x="2971800" y="5120640"/>
            <a:ext cx="868680" cy="512064"/>
          </a:xfrm>
          <a:prstGeom prst="rect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2971800" y="512064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61" name="Shape 58"/>
          <p:cNvSpPr/>
          <p:nvPr/>
        </p:nvSpPr>
        <p:spPr>
          <a:xfrm>
            <a:off x="3840480" y="512064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3840480" y="512064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700" dirty="0"/>
          </a:p>
        </p:txBody>
      </p:sp>
      <p:sp>
        <p:nvSpPr>
          <p:cNvPr id="63" name="Shape 60"/>
          <p:cNvSpPr/>
          <p:nvPr/>
        </p:nvSpPr>
        <p:spPr>
          <a:xfrm>
            <a:off x="4709160" y="512064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709160" y="512064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700" dirty="0"/>
          </a:p>
        </p:txBody>
      </p:sp>
      <p:sp>
        <p:nvSpPr>
          <p:cNvPr id="65" name="Shape 62"/>
          <p:cNvSpPr/>
          <p:nvPr/>
        </p:nvSpPr>
        <p:spPr>
          <a:xfrm>
            <a:off x="5577840" y="5120640"/>
            <a:ext cx="868680" cy="512064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577840" y="512064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700" dirty="0"/>
          </a:p>
        </p:txBody>
      </p:sp>
      <p:sp>
        <p:nvSpPr>
          <p:cNvPr id="67" name="Text 64"/>
          <p:cNvSpPr txBox="1"/>
          <p:nvPr/>
        </p:nvSpPr>
        <p:spPr>
          <a:xfrm>
            <a:off x="6675120" y="51206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troca: ordenado!</a:t>
            </a:r>
            <a:endParaRPr lang="en-US" sz="1500" dirty="0"/>
          </a:p>
        </p:txBody>
      </p:sp>
      <p:sp>
        <p:nvSpPr>
          <p:cNvPr id="68" name="Shape 65"/>
          <p:cNvSpPr/>
          <p:nvPr/>
        </p:nvSpPr>
        <p:spPr>
          <a:xfrm>
            <a:off x="9326880" y="2011680"/>
            <a:ext cx="2286000" cy="3611880"/>
          </a:xfrm>
          <a:prstGeom prst="roundRect">
            <a:avLst>
              <a:gd name="adj" fmla="val 48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950976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</a:t>
            </a:r>
            <a:endParaRPr lang="en-US" sz="1500" dirty="0"/>
          </a:p>
        </p:txBody>
      </p:sp>
      <p:sp>
        <p:nvSpPr>
          <p:cNvPr id="70" name="Text 67"/>
          <p:cNvSpPr txBox="1"/>
          <p:nvPr/>
        </p:nvSpPr>
        <p:spPr>
          <a:xfrm>
            <a:off x="9509760" y="2560320"/>
            <a:ext cx="1920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elemento que acabou de "subir" para a sua posição final nesta passagem.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Pseudocódigo e custo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459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BubbleSort(A[0..n−1])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← 0 até n−2: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j ← 0 até n−2−i: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 A[j+1] &lt; A[j]: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trocar A[j] com A[j+1]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92240" y="150876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2103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n(n−1)/2  →  </a:t>
            </a:r>
            <a:pPr indent="0" marL="0">
              <a:buNone/>
            </a:pPr>
            <a:r>
              <a:rPr lang="en-US" sz="24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Θ(n²)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tantas como no Selection Sort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92240" y="402336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Trocas (pior caso)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4572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n(n−1)/2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 o array ao contrário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5212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mais trocas do que o Selection Sort.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023360"/>
            <a:ext cx="5669280" cy="2011680"/>
          </a:xfrm>
          <a:prstGeom prst="roundRect">
            <a:avLst>
              <a:gd name="adj" fmla="val 5455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Melhoria fácil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uma passagem inteira não fizer nenhuma troca, o array já está ordenado: pode parar. Com um array já ordenado, o custo passa a O(n).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FRENTE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Sort vs Bubble Sort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Sort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Escolhe o menor e põe-no no lugar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vizinhos fora de ordem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Comparações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n(n−1)/2  →  Θ(n²)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n(n−1)/2  →  Θ(n²)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Trocas (pior caso)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− 1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n(n−1)/2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já ordenado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continua Θ(n²)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com a melhoria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Complexidade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próxima aula: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Merge Sort (divisão e conquista) ordena em O(n log n) — muito mais depressa.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5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RÁPIDA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comparações faz o Selection Sort para ordenar…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elementos?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 × 10⁷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06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10⁹ por segundo: </a:t>
            </a:r>
            <a:pPr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0,05 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1 000 000 de elementos?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743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 × 10¹¹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206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10⁹ por segundo: </a:t>
            </a:r>
            <a:pPr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os dados por 100 multiplicou o tempo por 10 000. É a assinatura do O(n²).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exaustiva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bruta para problemas combinatórios.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EXAUSTIVA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Gerar, filtrar, escolher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exaustiva = </a:t>
            </a:r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bruta aplicada a problemas combinatórios</a:t>
            </a:r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(permutações, combinações, subconjuntos).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15468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691640" y="3154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Gerar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977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candidatos do domínio do problema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041648" y="3977640"/>
            <a:ext cx="237744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297680" y="2926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3154680"/>
            <a:ext cx="685800" cy="685800"/>
          </a:xfrm>
          <a:prstGeom prst="ellipse">
            <a:avLst/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40680" y="3154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Filtrar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3977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que cumprem todas as restrições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790688" y="3977640"/>
            <a:ext cx="237744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046720" y="29260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321040" y="3154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2104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189720" y="3154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3977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melhor (ex.: o que minimiza a distância ou o custo)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é simples, mas implementá-la exige um algoritmo para gerar os objetos combinatórios (ex.: todas as permutações).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DO CAIXEIRO-VIAJANTE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a viagem mais curta?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Visitar n cidades, cada uma exatamente uma vez, e voltar ao início, percorrendo a menor distância.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53312" y="2542032"/>
            <a:ext cx="3108960" cy="914"/>
          </a:xfrm>
          <a:prstGeom prst="line">
            <a:avLst/>
          </a:prstGeom>
          <a:noFill/>
          <a:ln w="381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51760" y="1874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353312" y="5468112"/>
            <a:ext cx="3108960" cy="914"/>
          </a:xfrm>
          <a:prstGeom prst="line">
            <a:avLst/>
          </a:prstGeom>
          <a:noFill/>
          <a:ln w="38100">
            <a:solidFill>
              <a:srgbClr val="E77A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51760" y="5440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353312" y="2542032"/>
            <a:ext cx="914" cy="2926080"/>
          </a:xfrm>
          <a:prstGeom prst="line">
            <a:avLst/>
          </a:prstGeom>
          <a:noFill/>
          <a:ln w="38100">
            <a:solidFill>
              <a:srgbClr val="E77A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3749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462272" y="2542032"/>
            <a:ext cx="914" cy="2926080"/>
          </a:xfrm>
          <a:prstGeom prst="line">
            <a:avLst/>
          </a:prstGeom>
          <a:noFill/>
          <a:ln w="38100">
            <a:solidFill>
              <a:srgbClr val="E77A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6280" y="3749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1353312" y="2542032"/>
            <a:ext cx="3108960" cy="2926080"/>
          </a:xfrm>
          <a:prstGeom prst="line">
            <a:avLst/>
          </a:prstGeom>
          <a:noFill/>
          <a:ln w="19050">
            <a:solidFill>
              <a:srgbClr val="B8C4C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46120" y="31089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 flipH="1">
            <a:off x="1353312" y="2542032"/>
            <a:ext cx="3108960" cy="2926080"/>
          </a:xfrm>
          <a:prstGeom prst="line">
            <a:avLst/>
          </a:prstGeom>
          <a:noFill/>
          <a:ln w="19050">
            <a:solidFill>
              <a:srgbClr val="B8C4C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874520" y="31089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1097280" y="2286000"/>
            <a:ext cx="512064" cy="512064"/>
          </a:xfrm>
          <a:prstGeom prst="ellipse">
            <a:avLst/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97280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206240" y="2286000"/>
            <a:ext cx="512064" cy="512064"/>
          </a:xfrm>
          <a:prstGeom prst="ellipse">
            <a:avLst/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06240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097280" y="5212080"/>
            <a:ext cx="512064" cy="512064"/>
          </a:xfrm>
          <a:prstGeom prst="ellipse">
            <a:avLst/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97280" y="5212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206240" y="5212080"/>
            <a:ext cx="512064" cy="512064"/>
          </a:xfrm>
          <a:prstGeom prst="ellipse">
            <a:avLst/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206240" y="5212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715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laranja: uma viagem ótima (11)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011680"/>
          <a:ext cx="6126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1463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Viagem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Distâncias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b → c → d →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+ 8 + 1 + 7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b → d → c →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+ 3 + 1 + 5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 ótima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b → d →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+ 8 + 3 + 7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d → b →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+ 1 + 3 + 2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 ótima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d → b → c →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+ 3 + 8 + 5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d → c → b →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+ 1 + 8 + 2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6"/>
          <p:cNvSpPr txBox="1"/>
          <p:nvPr/>
        </p:nvSpPr>
        <p:spPr>
          <a:xfrm>
            <a:off x="5486400" y="54864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viagem aparece duas vezes (ida e o inverso): só há 3 viagens realmente diferentes.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DA GARANTIA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viagens há para testar?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n cidades há </a:t>
            </a:r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− 1)! / 2</a:t>
            </a:r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viagens diferentes. A 10⁹ viagens por segundo: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2066544" cy="3017520"/>
          </a:xfrm>
          <a:prstGeom prst="roundRect">
            <a:avLst>
              <a:gd name="adj" fmla="val 5310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viagens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8404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instantâneo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798064" y="2103120"/>
            <a:ext cx="2066544" cy="3017520"/>
          </a:xfrm>
          <a:prstGeom prst="roundRect">
            <a:avLst>
              <a:gd name="adj" fmla="val 5310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80944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980944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181 440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2980944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viagens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980944" y="38404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 ms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047488" y="2103120"/>
            <a:ext cx="2066544" cy="3017520"/>
          </a:xfrm>
          <a:prstGeom prst="roundRect">
            <a:avLst>
              <a:gd name="adj" fmla="val 531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30368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230368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 × 10¹⁰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5230368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viagens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230368" y="38404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85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s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7296912" y="2103120"/>
            <a:ext cx="2066544" cy="3017520"/>
          </a:xfrm>
          <a:prstGeom prst="roundRect">
            <a:avLst>
              <a:gd name="adj" fmla="val 5310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79792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479792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 × 10¹⁶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7479792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viagens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479792" y="38404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 anos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9546336" y="2103120"/>
            <a:ext cx="2066544" cy="3017520"/>
          </a:xfrm>
          <a:prstGeom prst="roundRect">
            <a:avLst>
              <a:gd name="adj" fmla="val 5310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29216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729216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 × 10²³</a:t>
            </a:r>
            <a:endParaRPr lang="en-US" sz="2100" dirty="0"/>
          </a:p>
        </p:txBody>
      </p:sp>
      <p:sp>
        <p:nvSpPr>
          <p:cNvPr id="31" name="Text 28"/>
          <p:cNvSpPr txBox="1"/>
          <p:nvPr/>
        </p:nvSpPr>
        <p:spPr>
          <a:xfrm>
            <a:off x="9729216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viagens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729216" y="38404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 milhões de anos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8680" y="5349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fatorial, O(n!):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exaustiva só serve para instâncias muito pequenas.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APLICAÇÃO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é consigo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Sort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70992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1992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em Java o Selection Sort, com o protótipo: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85800" y="370332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012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selectionSort(</a:t>
            </a:r>
            <a:pPr indent="0" marL="0">
              <a:buNone/>
            </a:pPr>
            <a:r>
              <a:rPr lang="en-US" sz="11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arr)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617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com 64 25 12 22 11.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29768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Bubble Sort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545896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15000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71032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em Java o Bubble Sort, com o protótipo: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434840" y="370332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0916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bubbleSort(</a:t>
            </a:r>
            <a:pPr indent="0" marL="0">
              <a:buNone/>
            </a:pPr>
            <a:r>
              <a:rPr lang="en-US" sz="11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arr)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617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pare quando uma passagem não fizer trocas.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04672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21040" y="18288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210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918972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Caixeiro-viajante</a:t>
            </a:r>
            <a:endParaRPr lang="en-US" sz="1900" dirty="0"/>
          </a:p>
        </p:txBody>
      </p:sp>
      <p:sp>
        <p:nvSpPr>
          <p:cNvPr id="33" name="Shape 30"/>
          <p:cNvSpPr/>
          <p:nvPr/>
        </p:nvSpPr>
        <p:spPr>
          <a:xfrm>
            <a:off x="920800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464040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720072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32104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em Java uma solução por pesquisa exaustiva para o problema do caixeiro-viajante.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321040" y="37490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Pista: guarde as distâncias numa matriz int[][] e gere todas as permutações das cidades. Teste com o exemplo (resposta: 11).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PARA CASA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ideias a reter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Força bruta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o problema à letra, experimentando as possibilidades. Simples e com solução garantida.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Ordenar à força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 e Bubble Sort fazem n(n−1)/2 comparações: Θ(n²).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exaustiva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Gerar, filtrar, escolher. Correta, mas O(n!) no caixeiro-viajante.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dividir para reinar — algoritmos de divisão e conquista.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737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Levitin, A. (2011). </a:t>
            </a:r>
            <a:pPr indent="0" marL="0">
              <a:buNone/>
            </a:pPr>
            <a:r>
              <a:rPr lang="en-US" sz="17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Design and Analysis of Algorithms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(3.ª ed.). Pearson. Capítulo 3: Brute Force and Exhaustive Search.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  ·  </a:t>
            </a:r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– Aula 3: Algoritmos de Força Bruta</dc:title>
  <dc:subject>PptxGenJS Presentation</dc:subject>
  <dc:creator>Luís Simões da Cunha</dc:creator>
  <cp:lastModifiedBy>Luís Simões da Cunha</cp:lastModifiedBy>
  <cp:revision>1</cp:revision>
  <dcterms:created xsi:type="dcterms:W3CDTF">2026-09-25T15:07:06Z</dcterms:created>
  <dcterms:modified xsi:type="dcterms:W3CDTF">2026-09-25T15:07:06Z</dcterms:modified>
</cp:coreProperties>
</file>