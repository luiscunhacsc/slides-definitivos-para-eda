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Aula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de recuperação (2 minutos, sem apontamentos). Respostas: (1) resolver cada subproblema uma só vez e guardar o resultado numa tabela; (2) 2 moedas (3 + 3); (3) bottom-up preenche a tabela do mais pequeno para o maior; top-down usa recursão com memória. A pergunta 2 é a ponte para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original usa moedas dos EUA (25, 10, 5, 1). Aqui usamos o euro, mais próximo dos alunos: 48 = 20 + 20 + 5 + 2 + 1 (5 moedas), que é ótimo para o sistema do euro. Perguntar: alguém pensou em começar pela moeda de 1 cêntimo? Porquê?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Organizador prévio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cada passo escolhe-se a maior moeda que não ultrapassa o montante que falta: é a que mais reduz o que resta. No 2.º passo, a moeda de 50 (ou maior) já violaria as restrições. O original usava moedas dos EUA (25, 10, 5, 1: 48 = 25 + 10 + 10 + 1 + 1 + 1).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o euro (e para as moedas dos EUA) a estratégia gananciosa dá sempre o ótimo — é possível prová-lo. Mas basta mudar as moedas: com 25, 10 e 1 e n = 30, dá 25 + 1+1+1+1+1 (6 moedas) quando 10+10+10 (3 moedas) seria ótimo. E com 1, 3, 4 e n = 6 (Aula 5) dá 4+1+1 em vez de 3+3.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Levitin (2011): a abordagem gananciosa constrói uma solução através de uma sequência de passos, cada um a expandir a solução parcial até chegar a uma solução completa. Só se aplica a problemas de otimização. Os três requisitos explicam o nome: escolhe-se "gananciosamente" o melhor disponível, na esperança de que escolhas localmente ótimas levem a um ótimo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do caminhante no nevoeiro: só vê um metro à frente e sobe sempre pelo lado mais inclinado. Pode chegar ao cimo de uma colina (máximo local) e ficar convencido de que está no topo, com a montanha verdadeira (máximo global) ali ao lado. Como as escolhas são irrevogáveis, não volta atrás.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comparativa das estratégias vistas nas Aulas 3 a 6 (entrelaçamento: ajuda a distinguir quando usar cada uma).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Exemplos do Levitin (cap. 9) em que o ganancioso é ótimo: Prim e Kruskal (árvore de cobertura mínima), Dijkstra (caminhos mais curtos, pesos não negativos), Huffman. Onde não garante o ótimo: troco com moedas arbitrárias, caixeiro-viajante pela cidade mais próxima, mochila 0/1. Nestes casos, ainda pode servir como aproximação rápida.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técnicas de prova apresentadas por Levitin (2011, cap. 9). Não é preciso dominá-las formalmente nesta UC, mas convém saber que existem e que um contraexemplo basta para mostrar que um algoritmo ganancioso NÃO é ótimo.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Compressão sem perdas. Analogia com o código Morse: a letra mais frequente em inglês, E, tem o código mais curto (um só ponto). Huffman faz o mesmo de forma ótima para um dado conjunto de frequências. Com 5 símbolos, um código de comprimento fixo precisa de 3 bits por símbolo.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passos (Levitin, 2011): 1) criar uma árvore de um só nó por símbolo, com peso igual à frequência; 2) repetir até restar uma árvore: juntar as duas árvores de menor peso numa nova árvore, cujo peso é a soma. A escolha "as duas mais leves" é a escolha gananciosa. Empates resolvem-se ao acaso.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de Levitin (2011, fig. 9.12). Em cada linha, as duas árvores a laranja são as mais leves e vão ser juntadas. As árvores já juntadas mostram-se com os símbolos que contêm.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 de cada símbolo = sequência de 0 e 1 no caminho da raiz até à folha. Os símbolos mais frequentes (A, C, D) ficam com 2 bits; os mais raros (B, _) com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Propriedade essencial: nenhum código é prefixo de outro (código livre de prefixos), porque todos os símbolos estão em folhas. Por isso a descodificação é única: lê-se bit a bit até formar um código conhecido.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Cálculo: 0,70 + 0,30 + 0,40 + 0,40 + 0,45 = 2,25 bits. Face aos 3 bits de um código fixo, poupa-se 25 %. A codificação de Huffman é usada, por exemplo, no algoritmo DEFLATE (ZIP, PNG) e no JPEG.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 1: pedir que testem também com as moedas 25, 10, 1 e n = 30 para verem a falha. Ex. 2: sugerir PriorityQueue (fila de prioridade) do Java para obter rapidamente as duas árvores mais leves. Ex. 3: ligar ao mini-projeto 1 e comparar com a solução de programação dinâmica da Aula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Síntese. Pedir a cada aluno que dê um exemplo do dia a dia de uma escolha gananciosa que correu mal (ex.: escolher a fila do supermercado mais curta).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Levitin, capítulo 9 (Greedy Technique).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3200400" cy="7594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letivo 2026/2027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589520" y="960120"/>
            <a:ext cx="914400" cy="914400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0" y="960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595360" y="982980"/>
            <a:ext cx="868680" cy="868680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0" y="9829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9555480" y="1051560"/>
            <a:ext cx="731520" cy="731520"/>
          </a:xfrm>
          <a:prstGeom prst="ellipse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55548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10378440" y="1097280"/>
            <a:ext cx="640080" cy="640080"/>
          </a:xfrm>
          <a:prstGeom prst="ellipse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37844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11109960" y="1133856"/>
            <a:ext cx="566928" cy="566928"/>
          </a:xfrm>
          <a:prstGeom prst="ellipse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109960" y="1133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2651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30632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 Gananciosos</a:t>
            </a:r>
            <a:endParaRPr lang="en-US" sz="38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4526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 ·  a melhor escolha agora, sem voltar atrás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5394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A AULA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para aquecer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6916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a ideia central da programação dinâmica?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2918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30632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moedas de 1, 3 e 4, quantas moedas são precisas, no mínimo, para 6 cêntimos?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8680" y="46634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4663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4348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a diferença entre a abordagem bottom-up e a top-down?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sem olhar para os apontamentos: recordar é o que consolida a memória.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COMEÇAR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 na caixa do café e tem de dar 48 cêntimos de troco. Que moedas escolhe?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Moedas disponíveis: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5E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108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508760" y="310896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5E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08760" y="3108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68880" y="310896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5E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3108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29000" y="310896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5E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3108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89120" y="310896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5E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89120" y="3108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349240" y="310896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5E5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3108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83680" y="2651760"/>
            <a:ext cx="50292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85800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quase toda a gente faz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0" y="3337560"/>
            <a:ext cx="731520" cy="731520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726680" y="3337560"/>
            <a:ext cx="731520" cy="731520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8595360" y="3337560"/>
            <a:ext cx="731520" cy="731520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9536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9464040" y="3337560"/>
            <a:ext cx="731520" cy="731520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6404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10332720" y="3337560"/>
            <a:ext cx="731520" cy="731520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3272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4251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moeda que ainda cabe, uma de cada vez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394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pensar muito, escolheu sempre "o melhor agora". Isso é um algoritmo ganancioso.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bem a cada passo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troco, passo a passo.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364992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39312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regras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3639312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Viável, localmente ótima, irrevogável.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81344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55664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55664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55664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 sempre?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Contraexemplos e como provar.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997696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72016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72016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72016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Huffman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9272016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Comprimir dados com uma árvore construída à gananciosa.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Pergunta-guia: quando é que "o melhor agora" leva ao melhor no fim?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gananciosa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do troco, outra vez.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DO TROCO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cêntimos, uma moeda de cada vez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dar sempre a maior moeda que ainda cabe no montante que falta.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48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00400" y="2130552"/>
            <a:ext cx="2933700" cy="310896"/>
          </a:xfrm>
          <a:prstGeom prst="rect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34100" y="2130552"/>
            <a:ext cx="2095500" cy="310896"/>
          </a:xfrm>
          <a:prstGeom prst="rect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0" y="1984248"/>
            <a:ext cx="603504" cy="603504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0" y="1984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falta 28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28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00400" y="2907792"/>
            <a:ext cx="838200" cy="310896"/>
          </a:xfrm>
          <a:prstGeom prst="rect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38600" y="2907792"/>
            <a:ext cx="2095500" cy="310896"/>
          </a:xfrm>
          <a:prstGeom prst="rect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12480" y="2761488"/>
            <a:ext cx="603504" cy="603504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0" y="27614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falta 8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5204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737360" y="3520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8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200400" y="3685032"/>
            <a:ext cx="314325" cy="310896"/>
          </a:xfrm>
          <a:prstGeom prst="rect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14725" y="3685032"/>
            <a:ext cx="523875" cy="310896"/>
          </a:xfrm>
          <a:prstGeom prst="rect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12480" y="3538728"/>
            <a:ext cx="603504" cy="603504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12480" y="3538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falta 3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297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737360" y="4297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3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200400" y="4462272"/>
            <a:ext cx="104775" cy="310896"/>
          </a:xfrm>
          <a:prstGeom prst="rect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305175" y="4462272"/>
            <a:ext cx="209550" cy="310896"/>
          </a:xfrm>
          <a:prstGeom prst="rect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412480" y="4315968"/>
            <a:ext cx="603504" cy="603504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412480" y="4315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9144000" y="4297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falta 1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5074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737360" y="5074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1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200400" y="5239512"/>
            <a:ext cx="914" cy="310896"/>
          </a:xfrm>
          <a:prstGeom prst="rect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200400" y="5239512"/>
            <a:ext cx="104775" cy="310896"/>
          </a:xfrm>
          <a:prstGeom prst="rect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412480" y="5093208"/>
            <a:ext cx="603504" cy="603504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12480" y="50932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9144000" y="5074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falta 0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+ 20 + 5 + 2 + 1 = 48, com 5 moedas.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DECISIVA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 gananciosa é sempre a melhor?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554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as moedas do euro: sim. </a:t>
            </a:r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provar-se que a estratégia gananciosa dá sempre o número mínimo de moedas.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2971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Moedas 25, 10, 1  ·  n = 30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Ganancioso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F6D5D0"/>
          </a:solidFill>
          <a:ln w="25400">
            <a:solidFill>
              <a:srgbClr val="A12C2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389888" y="3886200"/>
            <a:ext cx="502920" cy="502920"/>
          </a:xfrm>
          <a:prstGeom prst="ellipse">
            <a:avLst/>
          </a:prstGeom>
          <a:solidFill>
            <a:srgbClr val="F6D5D0"/>
          </a:solidFill>
          <a:ln w="25400">
            <a:solidFill>
              <a:srgbClr val="A12C2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389888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956816" y="3886200"/>
            <a:ext cx="502920" cy="502920"/>
          </a:xfrm>
          <a:prstGeom prst="ellipse">
            <a:avLst/>
          </a:prstGeom>
          <a:solidFill>
            <a:srgbClr val="F6D5D0"/>
          </a:solidFill>
          <a:ln w="25400">
            <a:solidFill>
              <a:srgbClr val="A12C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956816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523744" y="3886200"/>
            <a:ext cx="502920" cy="502920"/>
          </a:xfrm>
          <a:prstGeom prst="ellipse">
            <a:avLst/>
          </a:prstGeom>
          <a:solidFill>
            <a:srgbClr val="F6D5D0"/>
          </a:solidFill>
          <a:ln w="25400">
            <a:solidFill>
              <a:srgbClr val="A12C2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523744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090672" y="3886200"/>
            <a:ext cx="502920" cy="502920"/>
          </a:xfrm>
          <a:prstGeom prst="ellipse">
            <a:avLst/>
          </a:prstGeom>
          <a:solidFill>
            <a:srgbClr val="F6D5D0"/>
          </a:solidFill>
          <a:ln w="25400">
            <a:solidFill>
              <a:srgbClr val="A12C2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090672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0" y="3886200"/>
            <a:ext cx="502920" cy="502920"/>
          </a:xfrm>
          <a:prstGeom prst="ellipse">
            <a:avLst/>
          </a:prstGeom>
          <a:solidFill>
            <a:srgbClr val="F6D5D0"/>
          </a:solidFill>
          <a:ln w="25400">
            <a:solidFill>
              <a:srgbClr val="A12C2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6576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389120" y="3886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moedas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22960" y="4983480"/>
            <a:ext cx="502920" cy="502920"/>
          </a:xfrm>
          <a:prstGeom prst="ellipse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389888" y="4983480"/>
            <a:ext cx="502920" cy="502920"/>
          </a:xfrm>
          <a:prstGeom prst="ellipse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389888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1956816" y="4983480"/>
            <a:ext cx="502920" cy="502920"/>
          </a:xfrm>
          <a:prstGeom prst="ellipse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956816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4389120" y="4983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moedas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217920" y="283464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492240" y="2971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Moedas 1, 3, 4  ·  n = 6  (Aula 5)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649224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Ganancioso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492240" y="3886200"/>
            <a:ext cx="502920" cy="502920"/>
          </a:xfrm>
          <a:prstGeom prst="ellipse">
            <a:avLst/>
          </a:prstGeom>
          <a:solidFill>
            <a:srgbClr val="F6D5D0"/>
          </a:solidFill>
          <a:ln w="25400">
            <a:solidFill>
              <a:srgbClr val="A12C2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922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7059168" y="3886200"/>
            <a:ext cx="502920" cy="502920"/>
          </a:xfrm>
          <a:prstGeom prst="ellipse">
            <a:avLst/>
          </a:prstGeom>
          <a:solidFill>
            <a:srgbClr val="F6D5D0"/>
          </a:solidFill>
          <a:ln w="25400">
            <a:solidFill>
              <a:srgbClr val="A12C2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9168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7626096" y="3886200"/>
            <a:ext cx="502920" cy="502920"/>
          </a:xfrm>
          <a:prstGeom prst="ellipse">
            <a:avLst/>
          </a:prstGeom>
          <a:solidFill>
            <a:srgbClr val="F6D5D0"/>
          </a:solidFill>
          <a:ln w="25400">
            <a:solidFill>
              <a:srgbClr val="A12C2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626096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10058400" y="3886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moedas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649224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6492240" y="4983480"/>
            <a:ext cx="502920" cy="502920"/>
          </a:xfrm>
          <a:prstGeom prst="ellipse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4922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7059168" y="4983480"/>
            <a:ext cx="502920" cy="502920"/>
          </a:xfrm>
          <a:prstGeom prst="ellipse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059168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10058400" y="4983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moedas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regras do jogo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 de um algoritmo um algoritmo ganancioso.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GANANCIOSOS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a solução peça a peça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cada passo, </a:t>
            </a:r>
            <a:pPr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acrescenta-se uma peça</a:t>
            </a:r>
            <a:pPr indent="0" marL="0">
              <a:buNone/>
            </a:pPr>
            <a:r>
              <a:rPr lang="en-US" sz="19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à solução parcial, até a solução ficar completa. Só se aplica a </a:t>
            </a:r>
            <a:pPr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de otimização</a:t>
            </a:r>
            <a:pPr indent="0" marL="0">
              <a:buNone/>
            </a:pPr>
            <a:r>
              <a:rPr lang="en-US" sz="19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80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cada passo, a escolha tem de ser: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38328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61188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Viável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389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 as restrições do problema.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166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troco: a moeda não pode ultrapassar o que falta.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97680" y="338328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361188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Localmente ótima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389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melhor entre as escolhas viáveis nesse passo.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5166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troco: a maior moeda que cabe.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46720" y="338328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321040" y="361188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2104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09828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Irrevogável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8321040" y="4389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feita, nunca mais é alterada.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321040" y="5166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troco: a moeda dada não volta para a caixa.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 GLOBAL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melhor agora nem sempre é o melhor no fim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3566160"/>
            <a:ext cx="3840480" cy="1828800"/>
          </a:xfrm>
          <a:prstGeom prst="triangl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91840" y="1828800"/>
            <a:ext cx="5303520" cy="3566160"/>
          </a:xfrm>
          <a:prstGeom prst="triangl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5394960"/>
            <a:ext cx="822960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87168" y="3310128"/>
            <a:ext cx="329184" cy="329184"/>
          </a:xfrm>
          <a:prstGeom prst="ellipse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6304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local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global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486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caminhante ganancioso para aqui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052560" y="1554480"/>
            <a:ext cx="2560320" cy="4480560"/>
          </a:xfrm>
          <a:prstGeom prst="roundRect">
            <a:avLst>
              <a:gd name="adj" fmla="val 4286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354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aposta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235440" y="21031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ganancioso aposta que uma sequência de escolhas localmente ótimas dá uma solução globalmente ótima.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235440" y="4754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 vezes ganha. Às vezes não.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DAS ESTRATÉGIAS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formas de atacar um problema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474720"/>
                <a:gridCol w="2103120"/>
                <a:gridCol w="246888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Ideia central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Garante o ótimo?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Força bruta (Aula 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Experimentar tudo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Caixeiro-viajante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Divisão e conquista (Aula 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Partir em subproblemas independentes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Programação dinâmica (Aula 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Guardar subproblemas repetidos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Troco (qualquer moeda)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Gananciosa (hoje)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melhor agora, sem voltar atrás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em alguns problemas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Troco (euro), Huffman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868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 vantagem da gananciosa: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simples e rápida — um só caminho, sem tabelas nem recuos.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 sempre?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conceber, difícil de provar.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SEMPRE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estratégia gananciosa ganha — e onde perde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Dá sempre o ótimo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945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Troco com as moedas do euro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 de Huffman (hoje)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de cobertura mínima (Prim, Kruskal)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Caminhos mais curtos (Dijkstra)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7920" y="155448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garante o ótimo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1945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Troco com moedas quaisquer (25, 10, 1)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Caixeiro-viajante: ir sempre à cidade mais próxima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com objetos indivisíveis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4114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mas pode dar uma boa aproximação, muito depressa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8920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geral: 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uma estratégia gananciosa é fácil, sobretudo depois de experimentar alguns exemplos. O difícil é provar que dá sempre o ótimo.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PROVAR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caminhos para provar que é ótimo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Indução matemática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918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que a solução parcial de cada passo pode sempre ser completada até uma solução ótima.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97680" y="160020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18288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"Fica sempre à frente"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32918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que, em cada passo, o ganancioso avança pelo menos tanto como qualquer outro algoritmo.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046720" y="160020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21040" y="18288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210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Pelo resultado final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2918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que o resultado é ótimo analisando o resultado, e não o modo como foi obtido.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49834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para provar que NÃO é ótimo?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um contraexemplo — como as moedas 25, 10, 1 com n = 30.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Codificação de Huffman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Comprimir dados, à gananciosa.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Símbolos frequentes, códigos curtos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com 5 símbolos. Algumas letras aparecem muito mais do que outras: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080260"/>
            <a:ext cx="914400" cy="2400300"/>
          </a:xfrm>
          <a:prstGeom prst="rect">
            <a:avLst/>
          </a:prstGeom>
          <a:solidFill>
            <a:srgbClr val="E77A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7327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0,35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526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057400" y="3794760"/>
            <a:ext cx="914400" cy="685800"/>
          </a:xfrm>
          <a:prstGeom prst="rect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57400" y="34472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0,10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057400" y="4526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291840" y="3108960"/>
            <a:ext cx="914400" cy="1371600"/>
          </a:xfrm>
          <a:prstGeom prst="rect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91840" y="27614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4526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526280" y="3108960"/>
            <a:ext cx="914400" cy="1371600"/>
          </a:xfrm>
          <a:prstGeom prst="rect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26280" y="27614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26280" y="4526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760720" y="3451860"/>
            <a:ext cx="914400" cy="1028700"/>
          </a:xfrm>
          <a:prstGeom prst="rect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760720" y="31043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760720" y="4526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9834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de cada símbolo ( _ = espaço)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223760" y="1417320"/>
            <a:ext cx="4389120" cy="2148840"/>
          </a:xfrm>
          <a:prstGeom prst="roundRect">
            <a:avLst>
              <a:gd name="adj" fmla="val 5106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fixo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49808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bits por símbolo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749808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000, B = 001, C = 010… todos iguais, frequentes ou raros.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223760" y="3749040"/>
            <a:ext cx="4389120" cy="2286000"/>
          </a:xfrm>
          <a:prstGeom prst="roundRect">
            <a:avLst>
              <a:gd name="adj" fmla="val 480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Huffman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0" y="4297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comprimento variável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7498080" y="4937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no código Morse: a letra mais usada (E) é um só ponto.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DE HUFFMAN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Juntar sempre as duas árvores mais leves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64208"/>
            <a:ext cx="731520" cy="73152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64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5544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Começar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5544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árvore de um só nó por símbolo, com peso = frequência.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2852928"/>
            <a:ext cx="731520" cy="73152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8529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74320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Repetir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27432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as duas árvores de menor peso numa nova árvore. O peso da nova árvore é a soma dos dois.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4041648"/>
            <a:ext cx="731520" cy="73152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0416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39319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Parar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39319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só restar uma árvore. Ramos à esquerda = 0, à direita = 1.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498080" y="155448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 a ganância?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21488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cada passo escolhemos as duas árvores mais leves — a melhor escolha local — e nunca desfazemos uma junção.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Símbolos raros ficam mais fundo na árvore → códigos mais compridos.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a árvore passo a passo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737360" y="150876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37360" y="1508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971800" y="150876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71800" y="1508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0,15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06240" y="150876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06240" y="1508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40680" y="150876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40680" y="1508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675120" y="150876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75120" y="1508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0,35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15087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B + _ = 0,25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3774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737360" y="237744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737360" y="23774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2971800" y="237744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71800" y="23774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206240" y="237744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06240" y="23774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0,25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40680" y="237744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40680" y="23774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0,35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138160" y="23774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C + D = 0,40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3246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737360" y="324612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737360" y="3246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0,25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2971800" y="324612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971800" y="3246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0,35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4206240" y="324612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206240" y="3246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0,40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138160" y="32461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B_ + A = 0,60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41148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737360" y="411480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737360" y="41148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0,40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2971800" y="411480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971800" y="41148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0,60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138160" y="41148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CD + B_A = 1,00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49834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1737360" y="498348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737360" y="49834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CDB_A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8138160" y="49834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só árvore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 = as duas mais leves (vão ser juntadas).   Verde escuro = árvore já construída.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ÁRVORE FINAL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 os códigos pelos ramos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 flipH="1">
            <a:off x="3108960" y="2148840"/>
            <a:ext cx="2560320" cy="365760"/>
          </a:xfrm>
          <a:prstGeom prst="line">
            <a:avLst/>
          </a:prstGeom>
          <a:noFill/>
          <a:ln w="25400">
            <a:solidFill>
              <a:srgbClr val="2E7D7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77640" y="21122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0" y="2148840"/>
            <a:ext cx="2468880" cy="365760"/>
          </a:xfrm>
          <a:prstGeom prst="line">
            <a:avLst/>
          </a:prstGeom>
          <a:noFill/>
          <a:ln w="25400">
            <a:solidFill>
              <a:srgbClr val="2E7D7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95160" y="21122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 flipH="1">
            <a:off x="2103120" y="3154680"/>
            <a:ext cx="1005840" cy="457200"/>
          </a:xfrm>
          <a:prstGeom prst="line">
            <a:avLst/>
          </a:prstGeom>
          <a:noFill/>
          <a:ln w="25400">
            <a:solidFill>
              <a:srgbClr val="2E7D7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94560" y="3163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108960" y="3154680"/>
            <a:ext cx="1005840" cy="457200"/>
          </a:xfrm>
          <a:prstGeom prst="line">
            <a:avLst/>
          </a:prstGeom>
          <a:noFill/>
          <a:ln w="25400">
            <a:solidFill>
              <a:srgbClr val="2E7D7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03320" y="3163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 flipH="1">
            <a:off x="6858000" y="3154680"/>
            <a:ext cx="1280160" cy="457200"/>
          </a:xfrm>
          <a:prstGeom prst="line">
            <a:avLst/>
          </a:prstGeom>
          <a:noFill/>
          <a:ln w="25400">
            <a:solidFill>
              <a:srgbClr val="2E7D7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86600" y="3163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138160" y="3154680"/>
            <a:ext cx="1280160" cy="457200"/>
          </a:xfrm>
          <a:prstGeom prst="line">
            <a:avLst/>
          </a:prstGeom>
          <a:noFill/>
          <a:ln w="25400">
            <a:solidFill>
              <a:srgbClr val="2E7D7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869680" y="3163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 flipH="1">
            <a:off x="5852160" y="4251960"/>
            <a:ext cx="1005840" cy="457200"/>
          </a:xfrm>
          <a:prstGeom prst="line">
            <a:avLst/>
          </a:prstGeom>
          <a:noFill/>
          <a:ln w="25400">
            <a:solidFill>
              <a:srgbClr val="2E7D7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0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858000" y="4251960"/>
            <a:ext cx="1005840" cy="457200"/>
          </a:xfrm>
          <a:prstGeom prst="line">
            <a:avLst/>
          </a:prstGeom>
          <a:noFill/>
          <a:ln w="25400">
            <a:solidFill>
              <a:srgbClr val="2E7D7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52360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340096" y="1508760"/>
            <a:ext cx="658368" cy="658368"/>
          </a:xfrm>
          <a:prstGeom prst="ellipse">
            <a:avLst/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48656" y="1508760"/>
            <a:ext cx="841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779776" y="2514600"/>
            <a:ext cx="658368" cy="658368"/>
          </a:xfrm>
          <a:prstGeom prst="ellipse">
            <a:avLst/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688336" y="2514600"/>
            <a:ext cx="841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0,40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08976" y="2514600"/>
            <a:ext cx="658368" cy="658368"/>
          </a:xfrm>
          <a:prstGeom prst="ellipse">
            <a:avLst/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17536" y="2514600"/>
            <a:ext cx="841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0,60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528816" y="3611880"/>
            <a:ext cx="658368" cy="658368"/>
          </a:xfrm>
          <a:prstGeom prst="ellipse">
            <a:avLst/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37376" y="3611880"/>
            <a:ext cx="841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0,25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645920" y="361188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645920" y="3611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645920" y="443484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645920" y="4434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3657600" y="361188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657600" y="3611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3657600" y="443484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657600" y="4434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8961120" y="361188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961120" y="3611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0,35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8961120" y="443484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961120" y="4434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5394960" y="470916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394960" y="4709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0,10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5394960" y="55321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394960" y="5532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7406640" y="470916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406640" y="4709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0,15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7406640" y="55321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406640" y="5532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CÓDIGO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Codificar e descodificar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182880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Símbolo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Frequência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Codificar "DAD"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374904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37490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429768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4297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737360" y="374904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737360" y="37490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737360" y="429768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737360" y="4297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2926080" y="374904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926080" y="37490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2926080" y="429768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926080" y="4297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4206240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011101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6309360" y="3291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Descodificar "10011011011101"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6309360" y="374904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309360" y="3749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309360" y="429768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309360" y="4297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7205472" y="374904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205472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7205472" y="429768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205472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7918704" y="374904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918704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7918704" y="429768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918704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8631936" y="374904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8631936" y="3749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8631936" y="429768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631936" y="4297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9528048" y="374904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9528048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9528048" y="429768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9528048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3" name="Shape 39"/>
          <p:cNvSpPr/>
          <p:nvPr/>
        </p:nvSpPr>
        <p:spPr>
          <a:xfrm>
            <a:off x="10241280" y="374904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0241280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10241280" y="429768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1024128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47" name="Text 43"/>
          <p:cNvSpPr txBox="1"/>
          <p:nvPr/>
        </p:nvSpPr>
        <p:spPr>
          <a:xfrm>
            <a:off x="6309360" y="4846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BAD_AD</a:t>
            </a:r>
            <a:endParaRPr lang="en-US" sz="2000" dirty="0"/>
          </a:p>
        </p:txBody>
      </p:sp>
      <p:sp>
        <p:nvSpPr>
          <p:cNvPr id="48" name="Shape 44"/>
          <p:cNvSpPr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86868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não há ambiguidade?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código é o início de outro: todos os símbolos estão nas folhas da árvore.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5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SE POUPA?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médio de bits por símbolo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2·0,35 + 3·0,10 + 2·0,20 + 2·0,20 + 3·0,15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fixo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por símbolo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256032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200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2,25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4434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por símbolo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256032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Poupança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200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25 %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4434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espaço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está na base de formatos que usa todos os dias, como ZIP, PNG e JPEG.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APLICAÇÃO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é consigo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Troco ganancioso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70992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1992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43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em Java o algoritmo ganancioso para o problema do troco.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1148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com o euro (48 → 20+20+5+2+1) e com 25, 10, 1 para n = 30. O que acontece?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97680" y="160020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Huffman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545896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15000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71032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0" y="2743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em Java a codificação de Huffman com o algoritmo ganancioso.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0" y="41148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Pista: uma PriorityQueue dá-lhe sempre as duas árvores mais leves. Teste com o exemplo (A = 11, B = 100…).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046720" y="160020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321040" y="18288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210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18972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Mini-projeto 1</a:t>
            </a:r>
            <a:endParaRPr lang="en-US" sz="1900" dirty="0"/>
          </a:p>
        </p:txBody>
      </p:sp>
      <p:sp>
        <p:nvSpPr>
          <p:cNvPr id="29" name="Shape 26"/>
          <p:cNvSpPr/>
          <p:nvPr/>
        </p:nvSpPr>
        <p:spPr>
          <a:xfrm>
            <a:off x="920800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464040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720072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21040" y="2743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em Java uma solução gananciosa para o problema do mini-projeto 1.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41148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a solução de programação dinâmica: dão o mesmo resultado?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PARA CASA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ideias a reter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melhor agora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escolha é viável, localmente ótima e irrevogável.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sempre é ótimo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para o euro e para Huffman; falha com moedas 25, 10, 1. Um contraexemplo basta.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Huffman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sempre as duas árvores mais leves: códigos curtos para símbolos frequentes.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dinâmica pondera todas as opções; a gananciosa aposta numa só.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737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Levitin, A. (2011). </a:t>
            </a:r>
            <a:pPr indent="0" marL="0">
              <a:buNone/>
            </a:pPr>
            <a:r>
              <a:rPr lang="en-US" sz="17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Design and Analysis of Algorithms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(3.ª ed.). Pearson. Capítulo 9: Greedy Technique.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  ·  </a:t>
            </a:r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– Aula 6: Algoritmos Gananciosos</dc:title>
  <dc:subject>PptxGenJS Presentation</dc:subject>
  <dc:creator>Luís Simões da Cunha</dc:creator>
  <cp:lastModifiedBy>Luís Simões da Cunha</cp:lastModifiedBy>
  <cp:revision>1</cp:revision>
  <dcterms:created xsi:type="dcterms:W3CDTF">2026-09-25T15:18:11Z</dcterms:created>
  <dcterms:modified xsi:type="dcterms:W3CDTF">2026-09-25T15:18:11Z</dcterms:modified>
</cp:coreProperties>
</file>