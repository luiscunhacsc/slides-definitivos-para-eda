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da Aula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Prática de recuperação (2 minutos, sem apontamentos). Respostas: (1) O(n²); (2) O(log n), porque cada comparação corta ao meio os candidatos; (3) a recursão nunca pára (StackOverflowError em Java). A pergunta 2 é a ponte para hoje: a pesquisa binária já é um algoritmo de divisão e conquista.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com uma tarefa concreta e familiar para o docente e os alunos. A expressão "dividir para reinar" (divide et impera) ajuda a fixar a ideia.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Organizador prévio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Estratégia geral (Levitin, 2011). Sublinhar: os subproblemas são do MESMO tipo do original — é isso que permite a recursão. Quando ficam pequenos, pode usar-se outro algoritmo (ex.: ordenação por inserção para n &lt; 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adaptado de Levitin (2011, fig. 5.1). Ler de cima para baixo: dividir, resolver, combinar.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base: n = 1 devolve a0. Caso geral: soma dos primeiros ⌊n/2⌋ + soma dos restantes ⌈n/2⌉. Pergunta aos alunos: quantas adições foram feitas? (7 = n − 1, tantas como na soma com um ciclo — ver slide seguinte.)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da soma: tanto o ciclo simples como a versão de divisão e conquista fazem n − 1 adições. Divisão e conquista não ganhou nada aqui — mas no Merge Sort ganha muito (O(n²) → O(n log n)).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Assume-se que n é uma potência de b para simplificar. a ≥ 1 e b &gt; 1 são constantes. f(n) inclui o custo de dividir E de combinar.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Levitin (2011), Teorema Mestre. Θ indica a ordem de crescimento exata (limita por cima e por baixo); resultados análogos valem para Big O. Intuição: compara-se o trabalho feito no topo da árvore de recursão (f(n)) com o número de folhas.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resolução (worked example) para imitar no exercício seguinte. A(n) = número de adições na soma por divisão e conquista.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 2 minutos para resolverem em pares antes de revelar (pode ocultar a caixa de resposta com uma animação de entrada). Ligação explícita à Aula 2: a teoria confirma a intuição.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 com dois montes de cartas já ordenados: basta olhar para a carta de cima de cada monte e retirar sempre a menor. Juntar dois montes ordenados é fácil e rápido — é esse o segredo do Merge Sort.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de Levitin (2011, fig. 5.2). Metade superior: divisão (verde). Metade inferior: fusão (laranja). Pedir aos alunos que prevejam cada linha de fusão antes de a mostrar.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Seguir os índices i (em B) e j (em C). Em cada passo compara-se B[i] com C[j] e copia-se o menor para A[k]. Quando um dos arrays se esgota, copia-se o resto do outro sem comparar.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Pseudocódigo de Levitin (2011), traduzido. Mergesort trata do dividir e conquistar; Merge trata do combinar. A implementação em Java fica para o exercício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C(n) conta comparações. C_merge(n) = n − 1 no pior caso. Pelo Teorema Mestre: a = 2, b = 2, d = 1 → a = b^d → caso 2 → Θ(n log n). A figura dá a intuição: log2 n níveis, cada um com n de trabalho no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Ex. 2 esconde uma armadilha: com duas chamadas recursivas, a = 2, b = 2, d = 0 → a &gt; b^d → Θ(n), tão lento como multiplicar x por si próprio n vezes. Guardando power(x, n/2) numa variável e usando-a duas vezes, a = 1 → a = b^d → Θ(log n). Caso base: power(x, 0) =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Síntese. Pedir a cada aluno que escreva a recorrência do Merge Sort e a resolva sem olhar para os diapositivos.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Levitin, capítulo 5 (Divide-and-Conquer).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"/>
            <a:ext cx="3200400" cy="75941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480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em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349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letivo 2026/2027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 flipH="1">
            <a:off x="8778240" y="768096"/>
            <a:ext cx="914400" cy="685800"/>
          </a:xfrm>
          <a:prstGeom prst="line">
            <a:avLst/>
          </a:prstGeom>
          <a:noFill/>
          <a:ln w="19050">
            <a:solidFill>
              <a:srgbClr val="2E7D7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92640" y="768096"/>
            <a:ext cx="914400" cy="685800"/>
          </a:xfrm>
          <a:prstGeom prst="line">
            <a:avLst/>
          </a:prstGeom>
          <a:noFill/>
          <a:ln w="19050">
            <a:solidFill>
              <a:srgbClr val="2E7D7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H="1">
            <a:off x="8321040" y="1453896"/>
            <a:ext cx="457200" cy="685800"/>
          </a:xfrm>
          <a:prstGeom prst="line">
            <a:avLst/>
          </a:prstGeom>
          <a:noFill/>
          <a:ln w="19050">
            <a:solidFill>
              <a:srgbClr val="2E7D7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1453896"/>
            <a:ext cx="457200" cy="685800"/>
          </a:xfrm>
          <a:prstGeom prst="line">
            <a:avLst/>
          </a:prstGeom>
          <a:noFill/>
          <a:ln w="19050">
            <a:solidFill>
              <a:srgbClr val="2E7D7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H="1">
            <a:off x="10149840" y="1453896"/>
            <a:ext cx="457200" cy="685800"/>
          </a:xfrm>
          <a:prstGeom prst="line">
            <a:avLst/>
          </a:prstGeom>
          <a:noFill/>
          <a:ln w="19050">
            <a:solidFill>
              <a:srgbClr val="2E7D7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0" y="1453896"/>
            <a:ext cx="457200" cy="685800"/>
          </a:xfrm>
          <a:prstGeom prst="line">
            <a:avLst/>
          </a:prstGeom>
          <a:noFill/>
          <a:ln w="19050">
            <a:solidFill>
              <a:srgbClr val="2E7D7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64624" y="640080"/>
            <a:ext cx="256032" cy="25603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50224" y="1325880"/>
            <a:ext cx="256032" cy="256032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79024" y="1325880"/>
            <a:ext cx="256032" cy="256032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93024" y="2011680"/>
            <a:ext cx="256032" cy="256032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07424" y="2011680"/>
            <a:ext cx="256032" cy="256032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021824" y="2011680"/>
            <a:ext cx="256032" cy="256032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936224" y="2011680"/>
            <a:ext cx="256032" cy="256032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2651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30632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 de Divisão e Conquista</a:t>
            </a:r>
            <a:endParaRPr lang="en-US" sz="38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45262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 ·  dividir para reinar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4846320" y="53949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Doutor Luís Simões da Cunha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luiscunha@ismt.pt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perguntas para aquecer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16916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a complexidade de T(n) = 5 + 4n + 3n² em notação Big O?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548640" y="30632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32918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828800" y="30632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Porque é que a pesquisa binária é O(log n)?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8680" y="46634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4663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44348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acontece a uma função recursiva sem caso base?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sem olhar para os apontamentos: recordar é o que consolida a memória.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COMEÇAR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 1000 testes para ordenar alfabeticamente e 30 minutos. Como faria?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3017520"/>
            <a:ext cx="731520" cy="73152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971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Sozinho, um a um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35661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Procurar o primeiro, depois o segundo…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17920" y="274320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3017520"/>
            <a:ext cx="731520" cy="73152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971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Dividir pela turma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452360" y="35661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ordena um monte pequeno; no fim juntam-se os montes.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opção B tem nome: divisão e conquista. Hoje vamos perceber porque é tão poderosa.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4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Dividir, conquistar, combinar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estratégia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passos e um primeiro exemplo: somar n números.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364992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39312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39312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639312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Analisar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3639312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recorrência geral e o Teorema Mestre.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181344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55664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55664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455664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Sort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6455664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exemplo clássico: ordenar em O(n log n).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997696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272016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272016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272016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Praticar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9272016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Sort, potência xⁿ e Quick Sort em Java.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Pergunta-guia: quando é que partir um problema ao meio o torna mais rápido de resolver?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estratégia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problema grande = vários problemas pequenos.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4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E CONQUISTA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estratégia em três passos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65960"/>
            <a:ext cx="777240" cy="7772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Dividir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5204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o problema em subproblemas do mesmo tipo, idealmente de tamanho semelhante.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041648" y="3383280"/>
            <a:ext cx="237744" cy="0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297680" y="169164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0" y="1965960"/>
            <a:ext cx="777240" cy="777240"/>
          </a:xfrm>
          <a:prstGeom prst="ellipse">
            <a:avLst/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Conquistar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35204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cada subproblema — normalmente de forma recursiva. Se for pequeno o suficiente, resolve-se diretamente.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90688" y="3383280"/>
            <a:ext cx="237744" cy="0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8046720" y="169164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21040" y="1965960"/>
            <a:ext cx="777240" cy="77724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104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8321040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Combinar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35204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necessário, juntar as soluções dos subproblemas para obter a solução do problema original.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534924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" y="5349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Palavra-chave: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recursão. Os subproblemas resolvem-se com o mesmo algoritmo, até se chegar a um caso trivial (o caso base).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ESQUEMA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caso mais típico: dividir ao meio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108960" y="1463040"/>
            <a:ext cx="3108960" cy="777240"/>
          </a:xfrm>
          <a:prstGeom prst="ellipse">
            <a:avLst>
              <a:gd name="adj" fmla="val 11765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108960" y="14630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 tamanho 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14400" y="2697480"/>
            <a:ext cx="2926080" cy="731520"/>
          </a:xfrm>
          <a:prstGeom prst="ellipse">
            <a:avLst>
              <a:gd name="adj" fmla="val 12500"/>
            </a:avLst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2697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 1  (n/2)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0" y="2697480"/>
            <a:ext cx="2926080" cy="731520"/>
          </a:xfrm>
          <a:prstGeom prst="ellipse">
            <a:avLst>
              <a:gd name="adj" fmla="val 12500"/>
            </a:avLst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0" y="2697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 2  (n/2)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flipH="1">
            <a:off x="2377440" y="2240280"/>
            <a:ext cx="1554480" cy="457200"/>
          </a:xfrm>
          <a:prstGeom prst="line">
            <a:avLst/>
          </a:prstGeom>
          <a:noFill/>
          <a:ln w="25400">
            <a:solidFill>
              <a:srgbClr val="155E56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394960" y="2240280"/>
            <a:ext cx="1554480" cy="457200"/>
          </a:xfrm>
          <a:prstGeom prst="line">
            <a:avLst/>
          </a:prstGeom>
          <a:noFill/>
          <a:ln w="25400">
            <a:solidFill>
              <a:srgbClr val="155E56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914400" y="3840480"/>
            <a:ext cx="2926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3840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do subproblema 1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0" y="3840480"/>
            <a:ext cx="2926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0" y="3840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do subproblema 2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14400" y="3840480"/>
            <a:ext cx="2926080" cy="731520"/>
          </a:xfrm>
          <a:prstGeom prst="roundRect">
            <a:avLst>
              <a:gd name="adj" fmla="val 12500"/>
            </a:avLst>
          </a:prstGeom>
          <a:ln w="19050">
            <a:solidFill>
              <a:srgbClr val="155E5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0" y="3840480"/>
            <a:ext cx="2926080" cy="731520"/>
          </a:xfrm>
          <a:prstGeom prst="roundRect">
            <a:avLst>
              <a:gd name="adj" fmla="val 12500"/>
            </a:avLst>
          </a:prstGeom>
          <a:ln w="19050">
            <a:solidFill>
              <a:srgbClr val="155E5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377440" y="3429000"/>
            <a:ext cx="0" cy="411480"/>
          </a:xfrm>
          <a:prstGeom prst="line">
            <a:avLst/>
          </a:prstGeom>
          <a:noFill/>
          <a:ln w="25400">
            <a:solidFill>
              <a:srgbClr val="155E56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949440" y="3429000"/>
            <a:ext cx="0" cy="411480"/>
          </a:xfrm>
          <a:prstGeom prst="line">
            <a:avLst/>
          </a:prstGeom>
          <a:noFill/>
          <a:ln w="25400">
            <a:solidFill>
              <a:srgbClr val="155E56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2377440" y="4572000"/>
            <a:ext cx="1645920" cy="548640"/>
          </a:xfrm>
          <a:prstGeom prst="line">
            <a:avLst/>
          </a:prstGeom>
          <a:noFill/>
          <a:ln w="254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 flipH="1">
            <a:off x="5303520" y="4572000"/>
            <a:ext cx="1645920" cy="548640"/>
          </a:xfrm>
          <a:prstGeom prst="line">
            <a:avLst/>
          </a:prstGeom>
          <a:noFill/>
          <a:ln w="254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3108960" y="5120640"/>
            <a:ext cx="3108960" cy="777240"/>
          </a:xfrm>
          <a:prstGeom prst="roundRect">
            <a:avLst>
              <a:gd name="adj" fmla="val 11765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108960" y="5120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do problema original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235440" y="192024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235440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9235440" y="393192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235440" y="3931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CONQUISTAR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9235440" y="507492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235440" y="5074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Somar n números, dividindo ao meio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1554480"/>
            <a:ext cx="658368" cy="54864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55448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389888" y="1554480"/>
            <a:ext cx="658368" cy="54864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389888" y="155448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048256" y="1554480"/>
            <a:ext cx="658368" cy="54864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048256" y="155448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706624" y="1554480"/>
            <a:ext cx="658368" cy="54864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06624" y="155448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364992" y="1554480"/>
            <a:ext cx="658368" cy="54864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364992" y="155448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023360" y="1554480"/>
            <a:ext cx="658368" cy="54864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023360" y="155448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681728" y="1554480"/>
            <a:ext cx="658368" cy="54864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681728" y="155448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340096" y="1554480"/>
            <a:ext cx="658368" cy="54864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340096" y="155448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060704" y="2103120"/>
            <a:ext cx="329184" cy="50292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H="1">
            <a:off x="1389888" y="2103120"/>
            <a:ext cx="329184" cy="50292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78408" y="2606040"/>
            <a:ext cx="822960" cy="530352"/>
          </a:xfrm>
          <a:prstGeom prst="roundRect">
            <a:avLst>
              <a:gd name="adj" fmla="val 17241"/>
            </a:avLst>
          </a:prstGeom>
          <a:solidFill>
            <a:srgbClr val="FCEBD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78408" y="260604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2377440" y="2103120"/>
            <a:ext cx="329184" cy="50292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H="1">
            <a:off x="2706624" y="2103120"/>
            <a:ext cx="329184" cy="50292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295144" y="2606040"/>
            <a:ext cx="822960" cy="530352"/>
          </a:xfrm>
          <a:prstGeom prst="roundRect">
            <a:avLst>
              <a:gd name="adj" fmla="val 17241"/>
            </a:avLst>
          </a:prstGeom>
          <a:solidFill>
            <a:srgbClr val="FCEBD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295144" y="260604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3694176" y="2103120"/>
            <a:ext cx="329184" cy="50292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H="1">
            <a:off x="4023360" y="2103120"/>
            <a:ext cx="329184" cy="50292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611880" y="2606040"/>
            <a:ext cx="822960" cy="530352"/>
          </a:xfrm>
          <a:prstGeom prst="roundRect">
            <a:avLst>
              <a:gd name="adj" fmla="val 17241"/>
            </a:avLst>
          </a:prstGeom>
          <a:solidFill>
            <a:srgbClr val="FCEBD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611880" y="260604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5010912" y="2103120"/>
            <a:ext cx="329184" cy="50292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flipH="1">
            <a:off x="5340096" y="2103120"/>
            <a:ext cx="329184" cy="50292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928616" y="2606040"/>
            <a:ext cx="822960" cy="530352"/>
          </a:xfrm>
          <a:prstGeom prst="roundRect">
            <a:avLst>
              <a:gd name="adj" fmla="val 17241"/>
            </a:avLst>
          </a:prstGeom>
          <a:solidFill>
            <a:srgbClr val="FCEBD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928616" y="260604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1389888" y="3136392"/>
            <a:ext cx="658368" cy="429768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H="1">
            <a:off x="2048256" y="3136392"/>
            <a:ext cx="658368" cy="429768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636776" y="3566160"/>
            <a:ext cx="822960" cy="530352"/>
          </a:xfrm>
          <a:prstGeom prst="roundRect">
            <a:avLst>
              <a:gd name="adj" fmla="val 17241"/>
            </a:avLst>
          </a:prstGeom>
          <a:solidFill>
            <a:srgbClr val="FCEBD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636776" y="356616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4023360" y="3136392"/>
            <a:ext cx="658368" cy="429768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 flipH="1">
            <a:off x="4681728" y="3136392"/>
            <a:ext cx="658368" cy="429768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270248" y="3566160"/>
            <a:ext cx="822960" cy="530352"/>
          </a:xfrm>
          <a:prstGeom prst="roundRect">
            <a:avLst>
              <a:gd name="adj" fmla="val 17241"/>
            </a:avLst>
          </a:prstGeom>
          <a:solidFill>
            <a:srgbClr val="FCEBD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270248" y="356616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800" dirty="0"/>
          </a:p>
        </p:txBody>
      </p:sp>
      <p:sp>
        <p:nvSpPr>
          <p:cNvPr id="47" name="Shape 44"/>
          <p:cNvSpPr/>
          <p:nvPr/>
        </p:nvSpPr>
        <p:spPr>
          <a:xfrm>
            <a:off x="2048256" y="4096512"/>
            <a:ext cx="1316736" cy="429768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flipH="1">
            <a:off x="3364992" y="4096512"/>
            <a:ext cx="1316736" cy="429768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953512" y="4526280"/>
            <a:ext cx="822960" cy="530352"/>
          </a:xfrm>
          <a:prstGeom prst="roundRect">
            <a:avLst>
              <a:gd name="adj" fmla="val 17241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2953512" y="452628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800" dirty="0"/>
          </a:p>
        </p:txBody>
      </p:sp>
      <p:sp>
        <p:nvSpPr>
          <p:cNvPr id="51" name="Text 48"/>
          <p:cNvSpPr txBox="1"/>
          <p:nvPr/>
        </p:nvSpPr>
        <p:spPr>
          <a:xfrm>
            <a:off x="731520" y="5623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somas parciais sobem na árvore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6675120" y="1554480"/>
            <a:ext cx="4937760" cy="4480560"/>
          </a:xfrm>
          <a:prstGeom prst="roundRect">
            <a:avLst>
              <a:gd name="adj" fmla="val 2449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949440" y="1691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algoritmo</a:t>
            </a:r>
            <a:endParaRPr lang="en-US" sz="2000" dirty="0"/>
          </a:p>
        </p:txBody>
      </p:sp>
      <p:sp>
        <p:nvSpPr>
          <p:cNvPr id="54" name="Text 51"/>
          <p:cNvSpPr txBox="1"/>
          <p:nvPr/>
        </p:nvSpPr>
        <p:spPr>
          <a:xfrm>
            <a:off x="6949440" y="224028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base: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 = 1, devolve a₀.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geral: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a primeira metade, soma a segunda metade e junta os dois resultados.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949440" y="4114800"/>
            <a:ext cx="43891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178040" y="416052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soma(a₀ … aₙ₋₁) =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soma(primeiros ⌊n/2⌋)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soma(restantes ⌈n/2⌉)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SEMPRE A PENA?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Pontos fortes e um aviso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6D5D0"/>
          </a:solidFill>
          <a:ln w="9525">
            <a:solidFill>
              <a:srgbClr val="F6D5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1945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 sempre é mais eficiente do que a força bruta.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33756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soma de n números, o ciclo simples e a versão recursiva fazem exatamente as mesmas n − 1 adições. A recursão até acrescenta o custo das chamadas.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17920" y="164592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1993392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0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Muitas vezes, muito mais rápido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0" y="22402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tempo de dividir e combinar é pequeno face ao que se poupa.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17920" y="315468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46520" y="3502152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46520" y="3502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0" y="3291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 de referência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0" y="3749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Sort, Quick Sort, pesquisa binária, multiplicação rápida…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217920" y="466344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46520" y="5010912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46520" y="5010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0" y="4800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Ideal para computação paralela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0" y="5257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subproblema pode correr no seu próprio processador.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Analisar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recorrência geral e o Teorema Mestre.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4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RECORRÊNCIA GERAL DE DIVISÃO E CONQUISTA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equação para (quase) todos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6002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T(n) = </a:t>
            </a:r>
            <a:pPr algn="ctr" indent="0" marL="0">
              <a:buNone/>
            </a:pPr>
            <a:r>
              <a:rPr lang="en-US" sz="44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ctr" indent="0" marL="0">
              <a:buNone/>
            </a:pPr>
            <a:r>
              <a:rPr lang="en-US" sz="44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T(n / </a:t>
            </a:r>
            <a:pPr algn="ctr" indent="0" marL="0">
              <a:buNone/>
            </a:pPr>
            <a:r>
              <a:rPr lang="en-US" sz="44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pPr algn="ctr" indent="0" marL="0">
              <a:buNone/>
            </a:pPr>
            <a:r>
              <a:rPr lang="en-US" sz="44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+ </a:t>
            </a:r>
            <a:pPr algn="ctr" indent="0" marL="0">
              <a:buNone/>
            </a:pPr>
            <a:r>
              <a:rPr lang="en-US" sz="44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f(n)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474720"/>
            <a:ext cx="1005840" cy="548640"/>
          </a:xfrm>
          <a:prstGeom prst="roundRect">
            <a:avLst>
              <a:gd name="adj" fmla="val 50000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4747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965960" y="3474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≥ 1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114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subproblemas resolvemos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297680" y="324612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3474720"/>
            <a:ext cx="1005840" cy="548640"/>
          </a:xfrm>
          <a:prstGeom prst="roundRect">
            <a:avLst>
              <a:gd name="adj" fmla="val 5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0" y="34747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5715000" y="3474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&gt; 1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4114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quanto dividimos n (tamanho de cada: n/b)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46720" y="324612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21040" y="3474720"/>
            <a:ext cx="1005840" cy="548640"/>
          </a:xfrm>
          <a:prstGeom prst="roundRect">
            <a:avLst>
              <a:gd name="adj" fmla="val 50000"/>
            </a:avLst>
          </a:prstGeom>
          <a:solidFill>
            <a:srgbClr val="F6D5D0"/>
          </a:solidFill>
          <a:ln w="12700">
            <a:solidFill>
              <a:srgbClr val="F6D5D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1040" y="34747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9464040" y="3474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do algoritmo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4114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dividir e de combinar as soluções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" y="5257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exemplo da soma: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2, b = 2 e f(n) = 1  (uma adição para juntar as duas metades).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MESTRE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Resolver a recorrência sem fazer contas longas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 T(n) = a·T(n/b) + f(n)  com  f(n) ∈ Θ(n</a:t>
            </a:r>
            <a:pPr indent="0" marL="0">
              <a:buNone/>
            </a:pPr>
            <a:r>
              <a:rPr lang="en-US" sz="1900" baseline="30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pPr indent="0" marL="0">
              <a:buNone/>
            </a:pPr>
            <a:r>
              <a:rPr lang="en-US" sz="19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 e  d ≥ 0,  então: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2296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651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6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 </a:t>
            </a:r>
            <a:pPr indent="0" marL="0">
              <a:buNone/>
            </a:pPr>
            <a:r>
              <a:rPr lang="en-US" sz="24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&lt; b</a:t>
            </a:r>
            <a:pPr indent="0" marL="0">
              <a:buNone/>
            </a:pPr>
            <a:r>
              <a:rPr lang="en-US" sz="2400" b="1" baseline="30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822960" y="333756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DDEFE9"/>
          </a:solidFill>
          <a:ln w="12700">
            <a:solidFill>
              <a:srgbClr val="DDEFE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337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Θ(n</a:t>
            </a:r>
            <a:pPr algn="ctr" indent="0" marL="0">
              <a:buNone/>
            </a:pPr>
            <a:r>
              <a:rPr lang="en-US" sz="2600" b="1" baseline="30000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pPr algn="ctr" indent="0" marL="0">
              <a:buNone/>
            </a:pPr>
            <a:r>
              <a:rPr lang="en-US" sz="26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297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 o trabalho no topo (dividir e combinar).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297680" y="214884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57200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2651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6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 </a:t>
            </a:r>
            <a:pPr indent="0" marL="0">
              <a:buNone/>
            </a:pPr>
            <a:r>
              <a:rPr lang="en-US" sz="24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b</a:t>
            </a:r>
            <a:pPr indent="0" marL="0">
              <a:buNone/>
            </a:pPr>
            <a:r>
              <a:rPr lang="en-US" sz="2400" b="1" baseline="30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4572000" y="333756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0" y="3337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Θ(n</a:t>
            </a:r>
            <a:pPr algn="ctr" indent="0" marL="0">
              <a:buNone/>
            </a:pPr>
            <a:r>
              <a:rPr lang="en-US" sz="2600" b="1" baseline="30000" dirty="0">
                <a:solidFill>
                  <a:srgbClr val="B85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pPr algn="ctr" indent="0" marL="0">
              <a:buNone/>
            </a:pPr>
            <a:r>
              <a:rPr lang="en-US" sz="2600" b="1" dirty="0">
                <a:solidFill>
                  <a:srgbClr val="B85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log n)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0" y="4297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Equilíbrio: cada nível da árvore custa o mesmo.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046720" y="214884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832104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321040" y="2651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6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 </a:t>
            </a:r>
            <a:pPr indent="0" marL="0">
              <a:buNone/>
            </a:pPr>
            <a:r>
              <a:rPr lang="en-US" sz="24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&gt; b</a:t>
            </a:r>
            <a:pPr indent="0" marL="0">
              <a:buNone/>
            </a:pPr>
            <a:r>
              <a:rPr lang="en-US" sz="2400" b="1" baseline="30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8321040" y="333756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F6D5D0"/>
          </a:solidFill>
          <a:ln w="12700">
            <a:solidFill>
              <a:srgbClr val="F6D5D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321040" y="3337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Θ(n</a:t>
            </a:r>
            <a:pPr algn="ctr" indent="0" marL="0">
              <a:buNone/>
            </a:pPr>
            <a:r>
              <a:rPr lang="en-US" sz="2600" b="1" baseline="30000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log_b a</a:t>
            </a:r>
            <a:pPr algn="ctr" indent="0" marL="0">
              <a:buNone/>
            </a:pPr>
            <a:r>
              <a:rPr lang="en-US" sz="26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8321040" y="4297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Dominam os subproblemas (as folhas da árvore).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532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(teta) = ordem de crescimento exata. </a:t>
            </a:r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análogos valem para a notação Big O.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Aplicar o teorema em quatro passos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19072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19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15544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Identificar a, b e d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754880" y="1554480"/>
            <a:ext cx="6858000" cy="914400"/>
          </a:xfrm>
          <a:prstGeom prst="roundRect">
            <a:avLst>
              <a:gd name="adj" fmla="val 12000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0" y="15544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A(n) = 2·A(n/2) + 1   </a:t>
            </a:r>
            <a:pPr indent="0" marL="0">
              <a:buNone/>
            </a:pPr>
            <a:r>
              <a:rPr lang="en-US" sz="1900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2,  b = 2,  f(n) = 1 = n⁰ → d = 0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548640" y="2816352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816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6517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Calcular bᵈ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754880" y="2651760"/>
            <a:ext cx="6858000" cy="914400"/>
          </a:xfrm>
          <a:prstGeom prst="roundRect">
            <a:avLst>
              <a:gd name="adj" fmla="val 12000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0" y="26517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2⁰   </a:t>
            </a:r>
            <a:pPr indent="0" marL="0">
              <a:buNone/>
            </a:pPr>
            <a:r>
              <a:rPr lang="en-US" sz="1900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548640" y="3913632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913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374904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Comparar a com bᵈ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754880" y="3749040"/>
            <a:ext cx="6858000" cy="914400"/>
          </a:xfrm>
          <a:prstGeom prst="roundRect">
            <a:avLst>
              <a:gd name="adj" fmla="val 12000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29200" y="37490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&gt; 1   </a:t>
            </a:r>
            <a:pPr indent="0" marL="0">
              <a:buNone/>
            </a:pPr>
            <a:r>
              <a:rPr lang="en-US" sz="1900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caso 3 (a &gt; bᵈ)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548640" y="5010912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5010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417320" y="48463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Ler o resultado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754880" y="4846320"/>
            <a:ext cx="6858000" cy="914400"/>
          </a:xfrm>
          <a:prstGeom prst="roundRect">
            <a:avLst>
              <a:gd name="adj" fmla="val 12000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029200" y="4846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Θ(n</a:t>
            </a:r>
            <a:pPr indent="0" marL="0">
              <a:buNone/>
            </a:pPr>
            <a:r>
              <a:rPr lang="en-US" sz="1900" b="1" baseline="30000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 2</a:t>
            </a:r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 </a:t>
            </a:r>
            <a:pPr indent="0" marL="0">
              <a:buNone/>
            </a:pPr>
            <a:r>
              <a:rPr lang="en-US" sz="19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Θ(n)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tal como o ciclo simples, a soma recursiva é linear.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5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SUA VEZ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pesquisa binária (Aula 2) também é divisão e conquista: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T(n) = T(n/2) + 1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sua complexidade, pelo Teorema Mestre?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11064240" cy="2468880"/>
          </a:xfrm>
          <a:prstGeom prst="roundRect">
            <a:avLst>
              <a:gd name="adj" fmla="val 4444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93192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1,  b = 2,  d = 0   →   b</a:t>
            </a:r>
            <a:pPr indent="0" marL="0">
              <a:spcAft>
                <a:spcPts val="800"/>
              </a:spcAft>
              <a:buNone/>
            </a:pPr>
            <a:r>
              <a:rPr lang="en-US" sz="2400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 = a   →   caso 2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∈ Θ(n</a:t>
            </a:r>
            <a:pPr indent="0" marL="0">
              <a:spcAft>
                <a:spcPts val="800"/>
              </a:spcAft>
              <a:buNone/>
            </a:pPr>
            <a:r>
              <a:rPr lang="en-US" sz="2400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 n) = </a:t>
            </a:r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Θ(log n)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257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resultado a que chegámos por intuição na Aula 2.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4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Sort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por fusão: o exemplo clássico.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4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Ordenar por fusão em três frases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731520" cy="73152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16002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Dividir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749040" y="1600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o array ao meio.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2926080"/>
            <a:ext cx="731520" cy="731520"/>
          </a:xfrm>
          <a:prstGeom prst="ellipse">
            <a:avLst/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27889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Conquistar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2788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cada metade — recursivamente, com Merge Sort.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4114800"/>
            <a:ext cx="731520" cy="73152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508760" y="39776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Combinar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3749040" y="3977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Fundir (merge) as duas metades ordenadas numa só.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223760" y="1600200"/>
            <a:ext cx="4389120" cy="4434840"/>
          </a:xfrm>
          <a:prstGeom prst="roundRect">
            <a:avLst>
              <a:gd name="adj" fmla="val 2500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9808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Porque é que fundir é fácil?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7498080" y="228600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dois montes de cartas, cada um já ordenado. Basta comparar as duas cartas do topo e retirar sempre a menor.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680960" y="36576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155E56"/>
          </a:solidFill>
          <a:ln w="15875">
            <a:solidFill>
              <a:srgbClr val="155E5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680960" y="3657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7680960" y="41148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155E5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680960" y="41148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768096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155E5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80960" y="45720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7680960" y="50292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155E5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680960" y="50292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8961120" y="36576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155E56"/>
          </a:solidFill>
          <a:ln w="15875">
            <a:solidFill>
              <a:srgbClr val="155E5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961120" y="3657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8961120" y="41148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155E5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961120" y="41148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896112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155E5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961120" y="45720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8961120" y="50292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155E5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961120" y="50292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10149840" y="3657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&lt; 2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10149840" y="4069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o 1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10104120" y="48463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máximo, n − 1 comparações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EM 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Ordenar 8 3 2 9 7 1 5 4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 flipH="1">
            <a:off x="3044952" y="1837944"/>
            <a:ext cx="2048256" cy="256032"/>
          </a:xfrm>
          <a:prstGeom prst="line">
            <a:avLst/>
          </a:prstGeom>
          <a:noFill/>
          <a:ln w="12700">
            <a:solidFill>
              <a:srgbClr val="2E7D7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93208" y="1837944"/>
            <a:ext cx="2048256" cy="256032"/>
          </a:xfrm>
          <a:prstGeom prst="line">
            <a:avLst/>
          </a:prstGeom>
          <a:noFill/>
          <a:ln w="12700">
            <a:solidFill>
              <a:srgbClr val="2E7D7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H="1">
            <a:off x="2020824" y="2514600"/>
            <a:ext cx="1024128" cy="256032"/>
          </a:xfrm>
          <a:prstGeom prst="line">
            <a:avLst/>
          </a:prstGeom>
          <a:noFill/>
          <a:ln w="12700">
            <a:solidFill>
              <a:srgbClr val="2E7D7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44952" y="2514600"/>
            <a:ext cx="1024128" cy="256032"/>
          </a:xfrm>
          <a:prstGeom prst="line">
            <a:avLst/>
          </a:prstGeom>
          <a:noFill/>
          <a:ln w="12700">
            <a:solidFill>
              <a:srgbClr val="2E7D7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H="1">
            <a:off x="6117336" y="2514600"/>
            <a:ext cx="1024128" cy="256032"/>
          </a:xfrm>
          <a:prstGeom prst="line">
            <a:avLst/>
          </a:prstGeom>
          <a:noFill/>
          <a:ln w="12700">
            <a:solidFill>
              <a:srgbClr val="2E7D7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41464" y="2514600"/>
            <a:ext cx="1024128" cy="256032"/>
          </a:xfrm>
          <a:prstGeom prst="line">
            <a:avLst/>
          </a:prstGeom>
          <a:noFill/>
          <a:ln w="12700">
            <a:solidFill>
              <a:srgbClr val="2E7D7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H="1">
            <a:off x="1508760" y="3191256"/>
            <a:ext cx="512064" cy="256032"/>
          </a:xfrm>
          <a:prstGeom prst="line">
            <a:avLst/>
          </a:prstGeom>
          <a:noFill/>
          <a:ln w="12700">
            <a:solidFill>
              <a:srgbClr val="2E7D7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20824" y="3191256"/>
            <a:ext cx="512064" cy="256032"/>
          </a:xfrm>
          <a:prstGeom prst="line">
            <a:avLst/>
          </a:prstGeom>
          <a:noFill/>
          <a:ln w="12700">
            <a:solidFill>
              <a:srgbClr val="2E7D7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H="1">
            <a:off x="3557016" y="3191256"/>
            <a:ext cx="512064" cy="256032"/>
          </a:xfrm>
          <a:prstGeom prst="line">
            <a:avLst/>
          </a:prstGeom>
          <a:noFill/>
          <a:ln w="12700">
            <a:solidFill>
              <a:srgbClr val="2E7D7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69080" y="3191256"/>
            <a:ext cx="512064" cy="256032"/>
          </a:xfrm>
          <a:prstGeom prst="line">
            <a:avLst/>
          </a:prstGeom>
          <a:noFill/>
          <a:ln w="12700">
            <a:solidFill>
              <a:srgbClr val="2E7D7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H="1">
            <a:off x="5605272" y="3191256"/>
            <a:ext cx="512064" cy="256032"/>
          </a:xfrm>
          <a:prstGeom prst="line">
            <a:avLst/>
          </a:prstGeom>
          <a:noFill/>
          <a:ln w="12700">
            <a:solidFill>
              <a:srgbClr val="2E7D7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17336" y="3191256"/>
            <a:ext cx="512064" cy="256032"/>
          </a:xfrm>
          <a:prstGeom prst="line">
            <a:avLst/>
          </a:prstGeom>
          <a:noFill/>
          <a:ln w="12700">
            <a:solidFill>
              <a:srgbClr val="2E7D7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H="1">
            <a:off x="7653528" y="3191256"/>
            <a:ext cx="512064" cy="256032"/>
          </a:xfrm>
          <a:prstGeom prst="line">
            <a:avLst/>
          </a:prstGeom>
          <a:noFill/>
          <a:ln w="12700">
            <a:solidFill>
              <a:srgbClr val="2E7D7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65592" y="3191256"/>
            <a:ext cx="512064" cy="256032"/>
          </a:xfrm>
          <a:prstGeom prst="line">
            <a:avLst/>
          </a:prstGeom>
          <a:noFill/>
          <a:ln w="12700">
            <a:solidFill>
              <a:srgbClr val="2E7D7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508760" y="3867912"/>
            <a:ext cx="512064" cy="256032"/>
          </a:xfrm>
          <a:prstGeom prst="line">
            <a:avLst/>
          </a:prstGeom>
          <a:noFill/>
          <a:ln w="12700">
            <a:solidFill>
              <a:srgbClr val="E77A2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H="1">
            <a:off x="2020824" y="3867912"/>
            <a:ext cx="512064" cy="256032"/>
          </a:xfrm>
          <a:prstGeom prst="line">
            <a:avLst/>
          </a:prstGeom>
          <a:noFill/>
          <a:ln w="12700">
            <a:solidFill>
              <a:srgbClr val="E77A2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557016" y="3867912"/>
            <a:ext cx="512064" cy="256032"/>
          </a:xfrm>
          <a:prstGeom prst="line">
            <a:avLst/>
          </a:prstGeom>
          <a:noFill/>
          <a:ln w="12700">
            <a:solidFill>
              <a:srgbClr val="E77A2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H="1">
            <a:off x="4069080" y="3867912"/>
            <a:ext cx="512064" cy="256032"/>
          </a:xfrm>
          <a:prstGeom prst="line">
            <a:avLst/>
          </a:prstGeom>
          <a:noFill/>
          <a:ln w="12700">
            <a:solidFill>
              <a:srgbClr val="E77A2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05272" y="3867912"/>
            <a:ext cx="512064" cy="256032"/>
          </a:xfrm>
          <a:prstGeom prst="line">
            <a:avLst/>
          </a:prstGeom>
          <a:noFill/>
          <a:ln w="12700">
            <a:solidFill>
              <a:srgbClr val="E77A2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H="1">
            <a:off x="6117336" y="3867912"/>
            <a:ext cx="512064" cy="256032"/>
          </a:xfrm>
          <a:prstGeom prst="line">
            <a:avLst/>
          </a:prstGeom>
          <a:noFill/>
          <a:ln w="12700">
            <a:solidFill>
              <a:srgbClr val="E77A2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53528" y="3867912"/>
            <a:ext cx="512064" cy="256032"/>
          </a:xfrm>
          <a:prstGeom prst="line">
            <a:avLst/>
          </a:prstGeom>
          <a:noFill/>
          <a:ln w="12700">
            <a:solidFill>
              <a:srgbClr val="E77A2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H="1">
            <a:off x="8165592" y="3867912"/>
            <a:ext cx="512064" cy="256032"/>
          </a:xfrm>
          <a:prstGeom prst="line">
            <a:avLst/>
          </a:prstGeom>
          <a:noFill/>
          <a:ln w="12700">
            <a:solidFill>
              <a:srgbClr val="E77A2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020824" y="4544568"/>
            <a:ext cx="1024128" cy="256032"/>
          </a:xfrm>
          <a:prstGeom prst="line">
            <a:avLst/>
          </a:prstGeom>
          <a:noFill/>
          <a:ln w="12700">
            <a:solidFill>
              <a:srgbClr val="E77A2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flipH="1">
            <a:off x="3044952" y="4544568"/>
            <a:ext cx="1024128" cy="256032"/>
          </a:xfrm>
          <a:prstGeom prst="line">
            <a:avLst/>
          </a:prstGeom>
          <a:noFill/>
          <a:ln w="12700">
            <a:solidFill>
              <a:srgbClr val="E77A2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17336" y="4544568"/>
            <a:ext cx="1024128" cy="256032"/>
          </a:xfrm>
          <a:prstGeom prst="line">
            <a:avLst/>
          </a:prstGeom>
          <a:noFill/>
          <a:ln w="12700">
            <a:solidFill>
              <a:srgbClr val="E77A2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H="1">
            <a:off x="7141464" y="4544568"/>
            <a:ext cx="1024128" cy="256032"/>
          </a:xfrm>
          <a:prstGeom prst="line">
            <a:avLst/>
          </a:prstGeom>
          <a:noFill/>
          <a:ln w="12700">
            <a:solidFill>
              <a:srgbClr val="E77A2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044952" y="5221224"/>
            <a:ext cx="2048256" cy="256032"/>
          </a:xfrm>
          <a:prstGeom prst="line">
            <a:avLst/>
          </a:prstGeom>
          <a:noFill/>
          <a:ln w="12700">
            <a:solidFill>
              <a:srgbClr val="E77A2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flipH="1">
            <a:off x="5093208" y="5221224"/>
            <a:ext cx="2048256" cy="256032"/>
          </a:xfrm>
          <a:prstGeom prst="line">
            <a:avLst/>
          </a:prstGeom>
          <a:noFill/>
          <a:ln w="12700">
            <a:solidFill>
              <a:srgbClr val="E77A2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566160" y="1417320"/>
            <a:ext cx="3054096" cy="420624"/>
          </a:xfrm>
          <a:prstGeom prst="roundRect">
            <a:avLst>
              <a:gd name="adj" fmla="val 17391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566160" y="1417320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8  3  2  9  7  1  5  4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2212848" y="2093976"/>
            <a:ext cx="1664208" cy="420624"/>
          </a:xfrm>
          <a:prstGeom prst="roundRect">
            <a:avLst>
              <a:gd name="adj" fmla="val 17391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212848" y="2093976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8  3  2  9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6309360" y="2093976"/>
            <a:ext cx="1664208" cy="420624"/>
          </a:xfrm>
          <a:prstGeom prst="roundRect">
            <a:avLst>
              <a:gd name="adj" fmla="val 17391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309360" y="2093976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7  1  5  4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1536192" y="2770632"/>
            <a:ext cx="969264" cy="420624"/>
          </a:xfrm>
          <a:prstGeom prst="roundRect">
            <a:avLst>
              <a:gd name="adj" fmla="val 17391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536192" y="2770632"/>
            <a:ext cx="969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8  3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3584448" y="2770632"/>
            <a:ext cx="969264" cy="420624"/>
          </a:xfrm>
          <a:prstGeom prst="roundRect">
            <a:avLst>
              <a:gd name="adj" fmla="val 17391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584448" y="2770632"/>
            <a:ext cx="969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2  9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5632704" y="2770632"/>
            <a:ext cx="969264" cy="420624"/>
          </a:xfrm>
          <a:prstGeom prst="roundRect">
            <a:avLst>
              <a:gd name="adj" fmla="val 17391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32704" y="2770632"/>
            <a:ext cx="969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7  1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7680960" y="2770632"/>
            <a:ext cx="969264" cy="420624"/>
          </a:xfrm>
          <a:prstGeom prst="roundRect">
            <a:avLst>
              <a:gd name="adj" fmla="val 17391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680960" y="2770632"/>
            <a:ext cx="969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5  4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1197864" y="3447288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197864" y="3447288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2221992" y="3447288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221992" y="3447288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53" name="Shape 50"/>
          <p:cNvSpPr/>
          <p:nvPr/>
        </p:nvSpPr>
        <p:spPr>
          <a:xfrm>
            <a:off x="3246120" y="3447288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46120" y="3447288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4270248" y="3447288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4270248" y="3447288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500" dirty="0"/>
          </a:p>
        </p:txBody>
      </p:sp>
      <p:sp>
        <p:nvSpPr>
          <p:cNvPr id="57" name="Shape 54"/>
          <p:cNvSpPr/>
          <p:nvPr/>
        </p:nvSpPr>
        <p:spPr>
          <a:xfrm>
            <a:off x="5294376" y="3447288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5294376" y="3447288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500" dirty="0"/>
          </a:p>
        </p:txBody>
      </p:sp>
      <p:sp>
        <p:nvSpPr>
          <p:cNvPr id="59" name="Shape 56"/>
          <p:cNvSpPr/>
          <p:nvPr/>
        </p:nvSpPr>
        <p:spPr>
          <a:xfrm>
            <a:off x="6318504" y="3447288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6318504" y="3447288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7342632" y="3447288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7342632" y="3447288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63" name="Shape 60"/>
          <p:cNvSpPr/>
          <p:nvPr/>
        </p:nvSpPr>
        <p:spPr>
          <a:xfrm>
            <a:off x="8366760" y="3447288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366760" y="3447288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65" name="Shape 62"/>
          <p:cNvSpPr/>
          <p:nvPr/>
        </p:nvSpPr>
        <p:spPr>
          <a:xfrm>
            <a:off x="1536192" y="4123944"/>
            <a:ext cx="969264" cy="420624"/>
          </a:xfrm>
          <a:prstGeom prst="roundRect">
            <a:avLst>
              <a:gd name="adj" fmla="val 17391"/>
            </a:avLst>
          </a:prstGeom>
          <a:solidFill>
            <a:srgbClr val="FCEBD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536192" y="4123944"/>
            <a:ext cx="969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5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3  8</a:t>
            </a:r>
            <a:endParaRPr lang="en-US" sz="1500" dirty="0"/>
          </a:p>
        </p:txBody>
      </p:sp>
      <p:sp>
        <p:nvSpPr>
          <p:cNvPr id="67" name="Shape 64"/>
          <p:cNvSpPr/>
          <p:nvPr/>
        </p:nvSpPr>
        <p:spPr>
          <a:xfrm>
            <a:off x="3584448" y="4123944"/>
            <a:ext cx="969264" cy="420624"/>
          </a:xfrm>
          <a:prstGeom prst="roundRect">
            <a:avLst>
              <a:gd name="adj" fmla="val 17391"/>
            </a:avLst>
          </a:prstGeom>
          <a:solidFill>
            <a:srgbClr val="FCEBD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3584448" y="4123944"/>
            <a:ext cx="969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5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2  9</a:t>
            </a:r>
            <a:endParaRPr lang="en-US" sz="1500" dirty="0"/>
          </a:p>
        </p:txBody>
      </p:sp>
      <p:sp>
        <p:nvSpPr>
          <p:cNvPr id="69" name="Shape 66"/>
          <p:cNvSpPr/>
          <p:nvPr/>
        </p:nvSpPr>
        <p:spPr>
          <a:xfrm>
            <a:off x="5632704" y="4123944"/>
            <a:ext cx="969264" cy="420624"/>
          </a:xfrm>
          <a:prstGeom prst="roundRect">
            <a:avLst>
              <a:gd name="adj" fmla="val 17391"/>
            </a:avLst>
          </a:prstGeom>
          <a:solidFill>
            <a:srgbClr val="FCEBD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5632704" y="4123944"/>
            <a:ext cx="969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5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1  7</a:t>
            </a:r>
            <a:endParaRPr lang="en-US" sz="1500" dirty="0"/>
          </a:p>
        </p:txBody>
      </p:sp>
      <p:sp>
        <p:nvSpPr>
          <p:cNvPr id="71" name="Shape 68"/>
          <p:cNvSpPr/>
          <p:nvPr/>
        </p:nvSpPr>
        <p:spPr>
          <a:xfrm>
            <a:off x="7680960" y="4123944"/>
            <a:ext cx="969264" cy="420624"/>
          </a:xfrm>
          <a:prstGeom prst="roundRect">
            <a:avLst>
              <a:gd name="adj" fmla="val 17391"/>
            </a:avLst>
          </a:prstGeom>
          <a:solidFill>
            <a:srgbClr val="FCEBD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7680960" y="4123944"/>
            <a:ext cx="969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5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4  5</a:t>
            </a:r>
            <a:endParaRPr lang="en-US" sz="1500" dirty="0"/>
          </a:p>
        </p:txBody>
      </p:sp>
      <p:sp>
        <p:nvSpPr>
          <p:cNvPr id="73" name="Shape 70"/>
          <p:cNvSpPr/>
          <p:nvPr/>
        </p:nvSpPr>
        <p:spPr>
          <a:xfrm>
            <a:off x="2212848" y="4800600"/>
            <a:ext cx="1664208" cy="420624"/>
          </a:xfrm>
          <a:prstGeom prst="roundRect">
            <a:avLst>
              <a:gd name="adj" fmla="val 17391"/>
            </a:avLst>
          </a:prstGeom>
          <a:solidFill>
            <a:srgbClr val="FCEBD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2212848" y="480060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5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2  3  8  9</a:t>
            </a:r>
            <a:endParaRPr lang="en-US" sz="1500" dirty="0"/>
          </a:p>
        </p:txBody>
      </p:sp>
      <p:sp>
        <p:nvSpPr>
          <p:cNvPr id="75" name="Shape 72"/>
          <p:cNvSpPr/>
          <p:nvPr/>
        </p:nvSpPr>
        <p:spPr>
          <a:xfrm>
            <a:off x="6309360" y="4800600"/>
            <a:ext cx="1664208" cy="420624"/>
          </a:xfrm>
          <a:prstGeom prst="roundRect">
            <a:avLst>
              <a:gd name="adj" fmla="val 17391"/>
            </a:avLst>
          </a:prstGeom>
          <a:solidFill>
            <a:srgbClr val="FCEBD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309360" y="480060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5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1  4  5  7</a:t>
            </a:r>
            <a:endParaRPr lang="en-US" sz="1500" dirty="0"/>
          </a:p>
        </p:txBody>
      </p:sp>
      <p:sp>
        <p:nvSpPr>
          <p:cNvPr id="77" name="Shape 74"/>
          <p:cNvSpPr/>
          <p:nvPr/>
        </p:nvSpPr>
        <p:spPr>
          <a:xfrm>
            <a:off x="3566160" y="5477256"/>
            <a:ext cx="3054096" cy="420624"/>
          </a:xfrm>
          <a:prstGeom prst="roundRect">
            <a:avLst>
              <a:gd name="adj" fmla="val 17391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3566160" y="5477256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1  2  3  4  5  7  8  9</a:t>
            </a:r>
            <a:endParaRPr lang="en-US" sz="1500" dirty="0"/>
          </a:p>
        </p:txBody>
      </p:sp>
      <p:sp>
        <p:nvSpPr>
          <p:cNvPr id="79" name="Shape 76"/>
          <p:cNvSpPr/>
          <p:nvPr/>
        </p:nvSpPr>
        <p:spPr>
          <a:xfrm>
            <a:off x="9784080" y="1417320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9784080" y="14173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</a:t>
            </a:r>
            <a:endParaRPr lang="en-US" sz="1300" dirty="0"/>
          </a:p>
        </p:txBody>
      </p:sp>
      <p:sp>
        <p:nvSpPr>
          <p:cNvPr id="81" name="Shape 78"/>
          <p:cNvSpPr/>
          <p:nvPr/>
        </p:nvSpPr>
        <p:spPr>
          <a:xfrm>
            <a:off x="10698480" y="1920240"/>
            <a:ext cx="0" cy="1481328"/>
          </a:xfrm>
          <a:prstGeom prst="line">
            <a:avLst/>
          </a:prstGeom>
          <a:noFill/>
          <a:ln w="25400">
            <a:solidFill>
              <a:srgbClr val="155E56"/>
            </a:solidFill>
            <a:prstDash val="solid"/>
            <a:tailEnd type="triangle"/>
          </a:ln>
        </p:spPr>
      </p:sp>
      <p:sp>
        <p:nvSpPr>
          <p:cNvPr id="82" name="Shape 79"/>
          <p:cNvSpPr/>
          <p:nvPr/>
        </p:nvSpPr>
        <p:spPr>
          <a:xfrm>
            <a:off x="9784080" y="3447288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9784080" y="344728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base</a:t>
            </a:r>
            <a:endParaRPr lang="en-US" sz="1300" dirty="0"/>
          </a:p>
        </p:txBody>
      </p:sp>
      <p:sp>
        <p:nvSpPr>
          <p:cNvPr id="84" name="Shape 81"/>
          <p:cNvSpPr/>
          <p:nvPr/>
        </p:nvSpPr>
        <p:spPr>
          <a:xfrm>
            <a:off x="10698480" y="3950208"/>
            <a:ext cx="0" cy="1481328"/>
          </a:xfrm>
          <a:prstGeom prst="line">
            <a:avLst/>
          </a:prstGeom>
          <a:noFill/>
          <a:ln w="254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85" name="Shape 82"/>
          <p:cNvSpPr/>
          <p:nvPr/>
        </p:nvSpPr>
        <p:spPr>
          <a:xfrm>
            <a:off x="9784080" y="5477256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9784080" y="547725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FUNDIR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PASSO DECISIVO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Fundir 2 3 8 9 com 1 4 5 7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9494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920240"/>
                <a:gridCol w="1554480"/>
                <a:gridCol w="256032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B[i] vs C[j]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Copia para 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até agora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5B6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3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vs 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7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5B6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3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vs 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7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5B6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3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vs 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7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1 2 3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5B6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3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 vs 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7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1 2 3 4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5B6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3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 vs 5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7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1 2 3 4 5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5B6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3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 vs 7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7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1 2 3 4 5 7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5B6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i="1" dirty="0">
                          <a:solidFill>
                            <a:srgbClr val="155E5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 esgotou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7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1 2 3 4 5 7 8 9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863840" y="1508760"/>
            <a:ext cx="3749040" cy="4526280"/>
          </a:xfrm>
          <a:prstGeom prst="roundRect">
            <a:avLst>
              <a:gd name="adj" fmla="val 2927"/>
            </a:avLst>
          </a:prstGeom>
          <a:solidFill>
            <a:srgbClr val="0B3F3C"/>
          </a:solidFill>
          <a:ln w="9525">
            <a:solidFill>
              <a:srgbClr val="0B3F3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13816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custa?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138160" y="2148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4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comparações neste exemplo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3749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pior caso: </a:t>
            </a:r>
            <a:pPr indent="0" marL="0">
              <a:buNone/>
            </a:pPr>
            <a:r>
              <a:rPr lang="en-US" sz="15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− 1 comparações para fundir n elementos — ou seja, trabalho linear, O(n).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138160" y="5166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é a peça f(n) da recorrência.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Mergesort e Merge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4754880" cy="3108960"/>
          </a:xfrm>
          <a:prstGeom prst="roundRect">
            <a:avLst>
              <a:gd name="adj" fmla="val 2941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645920"/>
            <a:ext cx="4206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B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Mergesort(A[0..n−1])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n &gt; 1: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 ← A[0 .. ⌊n/2⌋−1]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 ← A[⌊n/2⌋ .. n−1]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Mergesort(B)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Mergesort(C)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2B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Merge(B, C, A)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577840" y="1508760"/>
            <a:ext cx="6035040" cy="3108960"/>
          </a:xfrm>
          <a:prstGeom prst="roundRect">
            <a:avLst>
              <a:gd name="adj" fmla="val 2941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0" y="1645920"/>
            <a:ext cx="5486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B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Merge(B[0..p−1], C[0..q−1], A)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← 0;  j ← 0;  k ←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enquanto i &lt; p e j &lt; q: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 B[i] ≤ C[j]: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A[k] ← B[i];  i ← i + 1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senão: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A[k] ← C[j];  j ← j + 1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 ← k + 1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i = p:  copiar C[j..q−1] para A[k..]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senão:     copiar B[i..p−1] para A[k..]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892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Mergesort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 conquista (duas chamadas recursivas).   </a:t>
            </a:r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combina, em tempo linear.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TEMPORAL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Porque é que o Merge Sort é Θ(n log n)?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577840" cy="2331720"/>
          </a:xfrm>
          <a:prstGeom prst="roundRect">
            <a:avLst>
              <a:gd name="adj" fmla="val 4706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6459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indent="0" marL="0">
              <a:buNone/>
            </a:pPr>
            <a:r>
              <a:rPr lang="en-US" sz="2100" baseline="-40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pior</a:t>
            </a:r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(n) = 2·C</a:t>
            </a:r>
            <a:pPr indent="0" marL="0">
              <a:buNone/>
            </a:pPr>
            <a:r>
              <a:rPr lang="en-US" sz="2100" baseline="-40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pior</a:t>
            </a:r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(n/2) + (n − 1)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indent="0" marL="0">
              <a:buNone/>
            </a:pPr>
            <a:r>
              <a:rPr lang="en-US" sz="2100" baseline="-40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pior</a:t>
            </a:r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(1) = 0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97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2,  b = 2,  d = 1   →   a = b</a:t>
            </a:r>
            <a:pPr indent="0" marL="0">
              <a:buNone/>
            </a:pPr>
            <a:r>
              <a:rPr lang="en-US" sz="1700" b="1" baseline="30000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pPr indent="0" marL="0">
              <a:buNone/>
            </a:pPr>
            <a:r>
              <a:rPr lang="en-US" sz="17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caso 2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154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indent="0" marL="0">
              <a:buNone/>
            </a:pPr>
            <a:r>
              <a:rPr lang="en-US" sz="2400" baseline="-40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pior</a:t>
            </a:r>
            <a:pPr indent="0" marL="0">
              <a:buNone/>
            </a:pPr>
            <a:r>
              <a:rPr lang="en-US" sz="24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(n) ∈ </a:t>
            </a:r>
            <a:pPr indent="0" marL="0">
              <a:buNone/>
            </a:pPr>
            <a:r>
              <a:rPr lang="en-US" sz="24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Θ(n log n)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1508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intuição: a árvore de recursão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492240" y="2057400"/>
            <a:ext cx="3840480" cy="384048"/>
          </a:xfrm>
          <a:prstGeom prst="roundRect">
            <a:avLst>
              <a:gd name="adj" fmla="val 11905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469880" y="20574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92240" y="2606040"/>
            <a:ext cx="1883664" cy="384048"/>
          </a:xfrm>
          <a:prstGeom prst="roundRect">
            <a:avLst>
              <a:gd name="adj" fmla="val 11905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49056" y="2606040"/>
            <a:ext cx="1883664" cy="384048"/>
          </a:xfrm>
          <a:prstGeom prst="roundRect">
            <a:avLst>
              <a:gd name="adj" fmla="val 11905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69880" y="2606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92240" y="3154680"/>
            <a:ext cx="905256" cy="384048"/>
          </a:xfrm>
          <a:prstGeom prst="roundRect">
            <a:avLst>
              <a:gd name="adj" fmla="val 11905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470648" y="3154680"/>
            <a:ext cx="905256" cy="384048"/>
          </a:xfrm>
          <a:prstGeom prst="roundRect">
            <a:avLst>
              <a:gd name="adj" fmla="val 11905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49056" y="3154680"/>
            <a:ext cx="905256" cy="384048"/>
          </a:xfrm>
          <a:prstGeom prst="roundRect">
            <a:avLst>
              <a:gd name="adj" fmla="val 11905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427464" y="3154680"/>
            <a:ext cx="905256" cy="384048"/>
          </a:xfrm>
          <a:prstGeom prst="roundRect">
            <a:avLst>
              <a:gd name="adj" fmla="val 11905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469880" y="31546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92240" y="3703320"/>
            <a:ext cx="416052" cy="384048"/>
          </a:xfrm>
          <a:prstGeom prst="roundRect">
            <a:avLst>
              <a:gd name="adj" fmla="val 11905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981444" y="3703320"/>
            <a:ext cx="416052" cy="384048"/>
          </a:xfrm>
          <a:prstGeom prst="roundRect">
            <a:avLst>
              <a:gd name="adj" fmla="val 11905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70648" y="3703320"/>
            <a:ext cx="416052" cy="384048"/>
          </a:xfrm>
          <a:prstGeom prst="roundRect">
            <a:avLst>
              <a:gd name="adj" fmla="val 11905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959852" y="3703320"/>
            <a:ext cx="416052" cy="384048"/>
          </a:xfrm>
          <a:prstGeom prst="roundRect">
            <a:avLst>
              <a:gd name="adj" fmla="val 11905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449056" y="3703320"/>
            <a:ext cx="416052" cy="384048"/>
          </a:xfrm>
          <a:prstGeom prst="roundRect">
            <a:avLst>
              <a:gd name="adj" fmla="val 11905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938260" y="3703320"/>
            <a:ext cx="416052" cy="384048"/>
          </a:xfrm>
          <a:prstGeom prst="roundRect">
            <a:avLst>
              <a:gd name="adj" fmla="val 11905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427464" y="3703320"/>
            <a:ext cx="416052" cy="384048"/>
          </a:xfrm>
          <a:prstGeom prst="roundRect">
            <a:avLst>
              <a:gd name="adj" fmla="val 11905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916668" y="3703320"/>
            <a:ext cx="416052" cy="384048"/>
          </a:xfrm>
          <a:prstGeom prst="roundRect">
            <a:avLst>
              <a:gd name="adj" fmla="val 11905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469880" y="37033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492240" y="4297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 n</a:t>
            </a:r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níveis  ×  </a:t>
            </a:r>
            <a:pPr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nível  =  </a:t>
            </a:r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log n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548640" y="411480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6D5D0"/>
          </a:solidFill>
          <a:ln w="9525">
            <a:solidFill>
              <a:srgbClr val="F6D5D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77240" y="4206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Ordenação O(n²)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777240" y="4572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17 min</a:t>
            </a:r>
            <a:endParaRPr lang="en-US" sz="3200" dirty="0"/>
          </a:p>
        </p:txBody>
      </p:sp>
      <p:sp>
        <p:nvSpPr>
          <p:cNvPr id="35" name="Text 32"/>
          <p:cNvSpPr txBox="1"/>
          <p:nvPr/>
        </p:nvSpPr>
        <p:spPr>
          <a:xfrm>
            <a:off x="777240" y="5349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1 000 000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3429000" y="411480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657600" y="4206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3657600" y="4572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0,02 s</a:t>
            </a:r>
            <a:endParaRPr lang="en-US" sz="3200" dirty="0"/>
          </a:p>
        </p:txBody>
      </p:sp>
      <p:sp>
        <p:nvSpPr>
          <p:cNvPr id="39" name="Text 36"/>
          <p:cNvSpPr txBox="1"/>
          <p:nvPr/>
        </p:nvSpPr>
        <p:spPr>
          <a:xfrm>
            <a:off x="3657600" y="5349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1 000 000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6492240" y="5394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10⁹ operações por segundo, como na Aula 2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DE APLICAÇÃO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 é consigo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Sort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709928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65960" y="2304288"/>
            <a:ext cx="164592" cy="164592"/>
          </a:xfrm>
          <a:prstGeom prst="ellipse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21992" y="2304288"/>
            <a:ext cx="164592" cy="164592"/>
          </a:xfrm>
          <a:prstGeom prst="ellipse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743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em Java o Merge Sort, com o protótipo: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85800" y="3520440"/>
            <a:ext cx="3200400" cy="685800"/>
          </a:xfrm>
          <a:prstGeom prst="roundRect">
            <a:avLst>
              <a:gd name="adj" fmla="val 13333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60120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5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mergeSort(</a:t>
            </a:r>
            <a:pPr indent="0" marL="0">
              <a:buNone/>
            </a:pPr>
            <a:r>
              <a:rPr lang="en-US" sz="125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5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arr)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297680" y="160020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0" y="182880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4068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Potência xⁿ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5458968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15000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71032" y="2304288"/>
            <a:ext cx="164592" cy="164592"/>
          </a:xfrm>
          <a:prstGeom prst="ellipse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0" y="2743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xⁿ por divisão e conquista (n inteiro ≥ 0):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434840" y="352044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09160" y="365760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power(x, 0) =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par: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power(x,n/2)*power(x,n/2)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ímpar: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x*power(x,n/2)*power(x,n/2)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046720" y="160020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21040" y="18288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32104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18972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Sort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9208008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464040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720072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21040" y="2743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Investigue como funciona o Quick Sort e implemente-o em Java. Em que difere do Merge Sort?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822960" y="4572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com 8 3 2 9 7 1 5 4 e com um array já ordenado.</a:t>
            </a:r>
            <a:endParaRPr lang="en-US" sz="1350" dirty="0"/>
          </a:p>
        </p:txBody>
      </p:sp>
      <p:sp>
        <p:nvSpPr>
          <p:cNvPr id="36" name="Text 33"/>
          <p:cNvSpPr txBox="1"/>
          <p:nvPr/>
        </p:nvSpPr>
        <p:spPr>
          <a:xfrm>
            <a:off x="4572000" y="5029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</a:t>
            </a:r>
            <a:pPr indent="0" marL="0">
              <a:buNone/>
            </a:pPr>
            <a:r>
              <a:rPr lang="en-US" sz="1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a sua solução com o Teorema Mestre. É mais rápida do que multiplicar x por si próprio n vezes?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8321040" y="39319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Pista: escolher um pivô e partir o array em "menores" e "maiores" do que ele.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PARA CASA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ideias a reter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Dividir, conquistar, combinar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319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Subproblemas do mesmo tipo, resolvidos recursivamente até ao caso base.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108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Teorema Mestre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9319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aT(n/b) + f(n): compare a com bᵈ e leia o resultado.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108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Sort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9319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Fundir custa O(n); há log n níveis. Total: Θ(n log n).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77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e conquista nem sempre ganha — mas, quando ganha, ganha muito.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Bibliografia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17373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Levitin, A. (2011). </a:t>
            </a:r>
            <a:pPr indent="0" marL="0">
              <a:buNone/>
            </a:pPr>
            <a:r>
              <a:rPr lang="en-US" sz="17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Design and Analysis of Algorithms</a:t>
            </a:r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(3.ª ed.). Pearson. Capítulo 5: Divide-and-Conquer.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Doutor Luís Simões da Cunha  ·  </a:t>
            </a:r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luiscunha@ismt.pt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– Aula 4: Algoritmos de Divisão e Conquista</dc:title>
  <dc:subject>PptxGenJS Presentation</dc:subject>
  <dc:creator>Luís Simões da Cunha</dc:creator>
  <cp:lastModifiedBy>Luís Simões da Cunha</cp:lastModifiedBy>
  <cp:revision>1</cp:revision>
  <dcterms:created xsi:type="dcterms:W3CDTF">2026-09-25T15:00:03Z</dcterms:created>
  <dcterms:modified xsi:type="dcterms:W3CDTF">2026-09-25T15:00:03Z</dcterms:modified>
</cp:coreProperties>
</file>