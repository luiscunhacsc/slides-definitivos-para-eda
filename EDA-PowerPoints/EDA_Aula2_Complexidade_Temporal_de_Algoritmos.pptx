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F3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F3C"/>
                </a:solidFill>
                <a:latin typeface="Calibri"/>
              </a:rPr>
              <a:t>Tempo de download (s) em função do tamanho n (MB)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155E56"/>
            </a:solidFill>
            <a:ln w="31750" cap="flat">
              <a:solidFill>
                <a:srgbClr val="155E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55E56"/>
              </a:solidFill>
              <a:ln w="9525" cap="flat">
                <a:solidFill>
                  <a:srgbClr val="155E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300</c:v>
                  </c:pt>
                  <c:pt idx="4">
                    <c:v>400</c:v>
                  </c:pt>
                  <c:pt idx="5">
                    <c:v>500</c:v>
                  </c:pt>
                  <c:pt idx="6">
                    <c:v>600</c:v>
                  </c:pt>
                  <c:pt idx="7">
                    <c:v>700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6.43</c:v>
                </c:pt>
                <c:pt idx="2">
                  <c:v>7.86</c:v>
                </c:pt>
                <c:pt idx="3">
                  <c:v>9.29</c:v>
                </c:pt>
                <c:pt idx="4">
                  <c:v>10.71</c:v>
                </c:pt>
                <c:pt idx="5">
                  <c:v>12.14</c:v>
                </c:pt>
                <c:pt idx="6">
                  <c:v>13.57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E"/>
                    </a:solidFill>
                    <a:latin typeface="Arial"/>
                  </a:rPr>
                  <a:t>n (MB)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E"/>
                    </a:solidFill>
                    <a:latin typeface="Arial"/>
                  </a:rPr>
                  <a:t>segundos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1.58</c:v>
                </c:pt>
                <c:pt idx="3">
                  <c:v>2</c:v>
                </c:pt>
                <c:pt idx="4">
                  <c:v>2.32</c:v>
                </c:pt>
                <c:pt idx="5">
                  <c:v>2.58</c:v>
                </c:pt>
                <c:pt idx="6">
                  <c:v>2.81</c:v>
                </c:pt>
                <c:pt idx="7">
                  <c:v>3</c:v>
                </c:pt>
                <c:pt idx="8">
                  <c:v>3.17</c:v>
                </c:pt>
                <c:pt idx="9">
                  <c:v>3.32</c:v>
                </c:pt>
                <c:pt idx="10">
                  <c:v>3.46</c:v>
                </c:pt>
                <c:pt idx="11">
                  <c:v>3.58</c:v>
                </c:pt>
                <c:pt idx="12">
                  <c:v>3.7</c:v>
                </c:pt>
                <c:pt idx="13">
                  <c:v>3.81</c:v>
                </c:pt>
                <c:pt idx="14">
                  <c:v>3.91</c:v>
                </c:pt>
                <c:pt idx="15">
                  <c:v>4</c:v>
                </c:pt>
                <c:pt idx="16">
                  <c:v>4.09</c:v>
                </c:pt>
                <c:pt idx="17">
                  <c:v>4.17</c:v>
                </c:pt>
                <c:pt idx="18">
                  <c:v>4.25</c:v>
                </c:pt>
                <c:pt idx="19">
                  <c:v>4.32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4A3AA7"/>
            </a:solidFill>
            <a:ln w="25400" cap="flat">
              <a:solidFill>
                <a:srgbClr val="4A3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EDA100"/>
            </a:solidFill>
            <a:ln w="2540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</c:v>
                </c:pt>
                <c:pt idx="1">
                  <c:v>2</c:v>
                </c:pt>
                <c:pt idx="2">
                  <c:v>4.8</c:v>
                </c:pt>
                <c:pt idx="3">
                  <c:v>8</c:v>
                </c:pt>
                <c:pt idx="4">
                  <c:v>11.6</c:v>
                </c:pt>
                <c:pt idx="5">
                  <c:v>15.5</c:v>
                </c:pt>
                <c:pt idx="6">
                  <c:v>19.7</c:v>
                </c:pt>
                <c:pt idx="7">
                  <c:v>24</c:v>
                </c:pt>
                <c:pt idx="8">
                  <c:v>28.5</c:v>
                </c:pt>
                <c:pt idx="9">
                  <c:v>33.2</c:v>
                </c:pt>
                <c:pt idx="10">
                  <c:v>38.1</c:v>
                </c:pt>
                <c:pt idx="11">
                  <c:v>43</c:v>
                </c:pt>
                <c:pt idx="12">
                  <c:v>48.1</c:v>
                </c:pt>
                <c:pt idx="13">
                  <c:v>53.3</c:v>
                </c:pt>
                <c:pt idx="14">
                  <c:v>58.6</c:v>
                </c:pt>
                <c:pt idx="15">
                  <c:v>64</c:v>
                </c:pt>
                <c:pt idx="16">
                  <c:v>69.5</c:v>
                </c:pt>
                <c:pt idx="17">
                  <c:v>75.1</c:v>
                </c:pt>
                <c:pt idx="18">
                  <c:v>80.7</c:v>
                </c:pt>
                <c:pt idx="19">
                  <c:v>86.4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008300"/>
            </a:solidFill>
            <a:ln w="25400" cap="flat">
              <a:solidFill>
                <a:srgbClr val="008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300"/>
              </a:solidFill>
              <a:ln w="9525" cap="flat">
                <a:solidFill>
                  <a:srgbClr val="008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  <c:pt idx="10">
                  <c:v>121</c:v>
                </c:pt>
                <c:pt idx="11">
                  <c:v>144</c:v>
                </c:pt>
                <c:pt idx="12">
                  <c:v>169</c:v>
                </c:pt>
                <c:pt idx="13">
                  <c:v>196</c:v>
                </c:pt>
                <c:pt idx="14">
                  <c:v>225</c:v>
                </c:pt>
                <c:pt idx="15">
                  <c:v>256</c:v>
                </c:pt>
                <c:pt idx="16">
                  <c:v>289</c:v>
                </c:pt>
                <c:pt idx="17">
                  <c:v>324</c:v>
                </c:pt>
                <c:pt idx="18">
                  <c:v>361</c:v>
                </c:pt>
                <c:pt idx="19">
                  <c:v>400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O(2ⁿ)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Sheet1!$G$2:$G$21</c:f>
              <c:numCache>
                <c:formatCode>General</c:formatCode>
                <c:ptCount val="2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  <c:pt idx="6">
                  <c:v>128</c:v>
                </c:pt>
                <c:pt idx="7">
                  <c:v>256</c:v>
                </c:pt>
                <c:pt idx="8">
                  <c:v>512</c:v>
                </c:pt>
                <c:pt idx="9">
                  <c:v>1024</c:v>
                </c:pt>
                <c:pt idx="10">
                  <c:v>2048</c:v>
                </c:pt>
                <c:pt idx="11">
                  <c:v>4096</c:v>
                </c:pt>
                <c:pt idx="12">
                  <c:v>8192</c:v>
                </c:pt>
                <c:pt idx="13">
                  <c:v>16384</c:v>
                </c:pt>
                <c:pt idx="14">
                  <c:v>32768</c:v>
                </c:pt>
                <c:pt idx="15">
                  <c:v>65536</c:v>
                </c:pt>
                <c:pt idx="16">
                  <c:v>131072</c:v>
                </c:pt>
                <c:pt idx="17">
                  <c:v>262144</c:v>
                </c:pt>
                <c:pt idx="18">
                  <c:v>524288</c:v>
                </c:pt>
                <c:pt idx="19">
                  <c:v>1048576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E"/>
                    </a:solidFill>
                    <a:latin typeface="Arial"/>
                  </a:rPr>
                  <a:t>tamanho da entrada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9525" cap="flat">
              <a:solidFill>
                <a:srgbClr val="E3E8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E"/>
                    </a:solidFill>
                    <a:latin typeface="Arial"/>
                  </a:rPr>
                  <a:t>n.º de operações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(retrieval practice): 2 minutos, sem consultar os diapositivos. Respostas: (1) sequência finita de instruções não ambíguas que resolve um problema para qualquer entrada legítima; (2) algoritmo = método, independente da linguagem; programa = implementação concreta; (3) pesquisa binária: cerca de 20 passos para 1 000 000 de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o último passo do processo de conceção (Aula 1): analisar o algoritmo. Hoje focamo-nos só na eficiência temporal.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indicativos (10^9 operações simples por segundo). Ler a tabela por linhas: o verde é instantâneo, o laranja é incómodo, o vermelho é impossível. Todos os valores foram verificados: por exemplo, N^4 com N = 10 000 dá 10^16 operações = 10^7 s ≈ 115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de permutações de N é N!. A 10^9 permutações por segundo: 10! → 3,6 ms; 18! → 74 dias; 19! → 3,9 anos; 20! → 77 anos. Pedir aos alunos que estimem antes de revelar cada cartão.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os alunos responder primeiro à pergunta "Devemos aumentar a capacidade do computador?". Cálculos: 21! ≈ 5,1 × 10^19; 22! ≈ 1,1 × 10^21 operações.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T(n) = 5 + n/70 é uma reta: o tempo cresce proporcionalmente ao tamanho, por isso a complexidade é linear. É o ideal? Para ler n MB precisamos de os receber a todos, logo não há algoritmo melhor do que linear para este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Convenção: cada operação elementar custa 1. Percorrer linha a linha. A única diferença entre pior e melhor caso é o count++: no pior caso todos os elementos são zero; no melhor caso nenhum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trajeto casa–ISMT: quem marca uma reunião planeia pelo pior trânsito, não pelo domingo de manhã. O pior caso dá-nos uma garantia.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mostra porque podemos deitar fora constantes e termos de ordem inferior: com n = 1000, o termo 3n² já é 99,9 % do total. Big O descreve a taxa de crescimento, não o tempo exato.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nível com um exemplo concreto para ancorar a notação. Os níveis a vermelho tornam-se impraticáveis quando N passa das centenas ou dos milhares.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 (os dados podem ser editados no PowerPoint). As curvas que saem do gráfico continuam a subir: 2^n com n = 20 já vale mais de um milhão. O(1) e O(log n) quase não se mexem.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Aprendizagem entre pares (peer instruction). Revelar as respostas no diapositivo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LinkedList não tem acesso por índice: get(i) tem de percorrer os nós desde o início (ou desde o fim), logo O(n). Algoritmos recursivos exigem outra ferramenta: equações de recorrência, que veremos mais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 essencial: o array tem de estar ORDENADO. Em cada passo compara-se com o elemento do meio (M) e descarta-se metade. L = limite esquerdo, H = limite direito, M = (L + H) / 2 (divisão inteira).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passo corta o problema ao meio. O número de vezes que se pode dividir n por 2 até chegar a 1 é log2(n). Para 1 000 000: 20 passos (fecha o ciclo com a pergunta de abertura da Aula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P: problemas resolúveis em tempo polinomial. Para os problemas NP-completos (ex.: caixeiro-viajante, na versão de decisão) não se conhece nenhum algoritmo polinomial — e saber se existe é a famosa questão P vs NP, ainda em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2 é o clássico "maximum contiguous subsequence sum" (Weiss). Respostas dos exemplos: 20 (11, −4, 13) e 7 (4, −2, −1, 6). Desafio extra: implementar as três versões e medir o tempo para n = 1000, 10 000, 100 000.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 cada aluno que escreva, num minuto, a complexidade de um algoritmo que já tenha programado e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 é o manual de referência da UC; Weiss é a fonte clássica do problema da máxima subsequência contígua.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V="1">
            <a:off x="8138160" y="2195939"/>
            <a:ext cx="164592" cy="135781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8302752" y="2139696"/>
            <a:ext cx="164592" cy="56243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8467344" y="2096540"/>
            <a:ext cx="164592" cy="4315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8631936" y="2060157"/>
            <a:ext cx="164592" cy="36383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8796528" y="2028103"/>
            <a:ext cx="164592" cy="32054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8961120" y="1999125"/>
            <a:ext cx="164592" cy="28979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9125712" y="1972476"/>
            <a:ext cx="164592" cy="26649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9290304" y="1947672"/>
            <a:ext cx="164592" cy="24804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9454896" y="1924376"/>
            <a:ext cx="164592" cy="23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9619488" y="1902341"/>
            <a:ext cx="164592" cy="22034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9784080" y="1881384"/>
            <a:ext cx="164592" cy="20957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9948672" y="1861359"/>
            <a:ext cx="164592" cy="20025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10113264" y="1842153"/>
            <a:ext cx="164592" cy="1920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0277856" y="1823672"/>
            <a:ext cx="164592" cy="18481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10442448" y="1805841"/>
            <a:ext cx="164592" cy="17832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0607040" y="1788594"/>
            <a:ext cx="164592" cy="17247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10771632" y="1771879"/>
            <a:ext cx="164592" cy="16715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10936224" y="1755648"/>
            <a:ext cx="164592" cy="16231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11100816" y="1739862"/>
            <a:ext cx="164592" cy="1578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11265408" y="1724487"/>
            <a:ext cx="164592" cy="15375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8138160" y="2249424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8302752" y="2167128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8467344" y="2084832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8631936" y="2002536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8796528" y="1920240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8961120" y="1837944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9125712" y="1755648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9290304" y="1673352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9454896" y="1591056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9619488" y="1508760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9784080" y="1426464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9948672" y="1344168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10113264" y="1261872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10277856" y="1179576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10442448" y="1097280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10607040" y="1014984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10771632" y="932688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10936224" y="850392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11100816" y="768096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11265408" y="685800"/>
            <a:ext cx="164592" cy="82296"/>
          </a:xfrm>
          <a:prstGeom prst="line">
            <a:avLst/>
          </a:prstGeom>
          <a:noFill/>
          <a:ln w="31750">
            <a:solidFill>
              <a:srgbClr val="2E7D7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8138160" y="2331613"/>
            <a:ext cx="164592" cy="914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8302752" y="2330867"/>
            <a:ext cx="164592" cy="914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8467344" y="2328840"/>
            <a:ext cx="164592" cy="2026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8631936" y="2324894"/>
            <a:ext cx="164592" cy="3946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8796528" y="2318388"/>
            <a:ext cx="164592" cy="6506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8961120" y="2308682"/>
            <a:ext cx="164592" cy="9706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9125712" y="2295137"/>
            <a:ext cx="164592" cy="13545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9290304" y="2277112"/>
            <a:ext cx="164592" cy="18025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9454896" y="2253968"/>
            <a:ext cx="164592" cy="23144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9619488" y="2225064"/>
            <a:ext cx="164592" cy="28904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9784080" y="2189761"/>
            <a:ext cx="164592" cy="35303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9948672" y="2147419"/>
            <a:ext cx="164592" cy="42342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10113264" y="2097398"/>
            <a:ext cx="164592" cy="50021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0277856" y="2039057"/>
            <a:ext cx="164592" cy="58341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10442448" y="1971757"/>
            <a:ext cx="164592" cy="6730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10607040" y="1894859"/>
            <a:ext cx="164592" cy="76899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10771632" y="1807721"/>
            <a:ext cx="164592" cy="87138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10936224" y="1709704"/>
            <a:ext cx="164592" cy="98017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11100816" y="1600169"/>
            <a:ext cx="164592" cy="109535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11265408" y="1478475"/>
            <a:ext cx="164592" cy="121694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138160" y="594360"/>
            <a:ext cx="0" cy="1737360"/>
          </a:xfrm>
          <a:prstGeom prst="line">
            <a:avLst/>
          </a:prstGeom>
          <a:noFill/>
          <a:ln w="15875">
            <a:solidFill>
              <a:srgbClr val="3E6B6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138160" y="2331720"/>
            <a:ext cx="3291840" cy="0"/>
          </a:xfrm>
          <a:prstGeom prst="line">
            <a:avLst/>
          </a:prstGeom>
          <a:noFill/>
          <a:ln w="15875">
            <a:solidFill>
              <a:srgbClr val="3E6B67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Temporal de Algoritmos</a:t>
            </a:r>
            <a:endParaRPr lang="en-US" sz="3800" dirty="0"/>
          </a:p>
        </p:txBody>
      </p:sp>
      <p:sp>
        <p:nvSpPr>
          <p:cNvPr id="70" name="Text 67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 ·  como prever o tempo antes de correr o código</a:t>
            </a:r>
            <a:endParaRPr lang="en-US" sz="1800" dirty="0"/>
          </a:p>
        </p:txBody>
      </p:sp>
      <p:sp>
        <p:nvSpPr>
          <p:cNvPr id="71" name="Text 68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A AULA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algoritmo? Diga-o por palavras suas.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diferença entre um algoritmo e um programa?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passos precisa a pesquisa binária numa lista ordenada de 1 000 000 de nomes?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intuição à notação Big 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importa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40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cresce com os dados — às vezes de forma explosiva.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operações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840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sem cronómetro: a função T(n).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Notação Big 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840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 só com o que manda no crescimento.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binária e tipos de problemas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8404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na prática; problemas tratáveis e intratáveis.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como prever quanto tempo um algoritmo vai demorar, sem o executar?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DE UM ALGORITMO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um algoritmo "bom"?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HOJE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 temporal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demora?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64992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39312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639312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Eficiência espacial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39312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memória gasta?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81344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55664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55664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Simplicidade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55664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fácil de perceber e de verificar?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997696" y="17373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272016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272016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9272016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um problema mais geral?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cronómetro engana: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medido depende da máquina, da linguagem e dos dados de teste. Queremos uma medida que dependa apenas do algoritmo e do tamanho da entrada, 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importa o tempo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dados crescem, o algoritmo decide tudo.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EXPERIÊNCIA MENTAL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computador faz 10⁹ operações por segundo…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demora um algoritmo que executa f(N) operações?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1 000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10 000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N²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N³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N⁴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B85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dias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2ᴺ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10¹³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10²⁸⁴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10²⁹⁹³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B3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N!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10¹⁴¹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10²⁵⁵¹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10³⁵⁶⁴² anos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229600" y="19202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ter noção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26060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Universo tem cerca de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× 10¹⁰ anos</a:t>
            </a:r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2ᴺ com N = 100 demoraria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mil vezes</a:t>
            </a:r>
            <a:pPr indent="0" marL="0">
              <a:buNone/>
            </a:pPr>
            <a:r>
              <a:rPr lang="en-US" sz="16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idade do Universo.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 todas as permutações de N números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</a:t>
            </a:r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N!</a:t>
            </a:r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permutações de N números. Um computador gera 10⁹ permutações por segundo. É exequível?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milissegundos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64992" y="21945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39312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18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639312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181344" y="21945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55664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19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55664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</a:t>
            </a:r>
            <a:endParaRPr lang="en-US" sz="6000" dirty="0"/>
          </a:p>
        </p:txBody>
      </p:sp>
      <p:sp>
        <p:nvSpPr>
          <p:cNvPr id="19" name="Text 16"/>
          <p:cNvSpPr txBox="1"/>
          <p:nvPr/>
        </p:nvSpPr>
        <p:spPr>
          <a:xfrm>
            <a:off x="6455664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997696" y="21945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72016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272016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6000" dirty="0"/>
          </a:p>
        </p:txBody>
      </p:sp>
      <p:sp>
        <p:nvSpPr>
          <p:cNvPr id="23" name="Text 20"/>
          <p:cNvSpPr txBox="1"/>
          <p:nvPr/>
        </p:nvSpPr>
        <p:spPr>
          <a:xfrm>
            <a:off x="9272016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um único número multiplica o tempo por N. Passar de 18 para 20 números transforma 2 meses e meio em 77 anos.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Comprarmos um computador 1000 vezes mais rápido?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atual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1000× mais rápido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0" y="260604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anos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2926080"/>
            <a:ext cx="36576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23760" y="260604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dias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926080" y="338328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1 619 anos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12280" y="3703320"/>
            <a:ext cx="36576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338328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anos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926080" y="416052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35 615 anos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12280" y="4480560"/>
            <a:ext cx="365760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416052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anos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Moral: </a:t>
            </a:r>
            <a:pPr indent="0" marL="0">
              <a:buNone/>
            </a:pPr>
            <a:r>
              <a:rPr lang="en-US" sz="18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vezes mais hardware só nos deixa acrescentar dois números. Um melhor algoritmo vale mais do que uma máquina melhor.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operações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tempo sem cronómetro.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DO DIA A 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demora um download?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a ligação demora 5 s; depois, cada 70 MB demora 1 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86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</a:t>
            </a:r>
            <a:pPr algn="ctr" indent="0" marL="0">
              <a:buNone/>
            </a:pPr>
            <a:r>
              <a:rPr lang="en-US" sz="4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4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ctr" indent="0" marL="0">
              <a:buNone/>
            </a:pPr>
            <a:r>
              <a:rPr lang="en-US" sz="4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/ 70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86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custo fixo (não depende de n)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70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custo que cresce com 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pode medir-se em segundos, em passos, em operações…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530352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303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o ficheiro ≈ duplicar o tempo → linear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46304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as operações de um ciclo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(v[i] == 0) count++;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os zeros de um array v com n elementos.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6032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Vezes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count = 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declaração + atribuição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i = 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declaração + atribuição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&lt; 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"menor que"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+ 1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v[i]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ao array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 0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"igual a"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i++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count++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 (só se v[i] == 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… 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65760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6576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  </a:t>
            </a:r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(todos os valores são 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2 + 2 + (n+1) + n + n + 2n = </a:t>
            </a:r>
            <a:pPr indent="0" marL="0">
              <a:buNone/>
            </a:pPr>
            <a:r>
              <a:rPr lang="en-US" sz="17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+ 5n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8920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caso  </a:t>
            </a:r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(nenhum valor é 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2 + 2 + (n+1) + n + n + n = </a:t>
            </a:r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+ 4n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OLHARES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 caso, caso médio e melhor caso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202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SEMPRE ESTE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 caso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54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máximo para qualquer entrada de tamanho n.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Trânsito na hora de ponta: é com este que planeamos.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9768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9202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ÚTIL, MAS DIFÍCIL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médio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154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sobre todas as entradas de tamanho n.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normal. Útil, mas exige saber como são os dados.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19202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ENGANADOR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 caso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1546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para a qual o algoritmo é mais rápido.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4389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às 7 da manhã: bonito, mas enganador.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Notação Big 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Ficar só com o que manda no crescimento.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BIG O (GRANDE 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n é grande, só o maior termo importa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600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taxa de crescimento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 número exato de operações.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60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o termo de maior grau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 ordem inferior desaparecem.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61188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Caem as constantes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fica a expressão mais simples.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5029200" cy="1463040"/>
          </a:xfrm>
          <a:prstGeom prst="roundRect">
            <a:avLst>
              <a:gd name="adj" fmla="val 75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5720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5 + 5n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⟶  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5 + 4n + 3n²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⟶   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1600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manda em T(n) = 5 + 4n + 3n² ?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4884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005840"/>
                <a:gridCol w="1463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de 3n²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98,7 %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D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0" y="4343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medida que n cresce, o termo quadrático "engole" os restantes. É por isso que os podemos ignorar.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COMPLEXIDADE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melhor para o pior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087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15087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5087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Aceder a v[5] num array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130552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305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21305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Logarítmica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13055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binária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2752344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7523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2788920" y="27523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75234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sequencial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374136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3741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2788920" y="33741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3741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ordenações (ex.: mergesort)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3995928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9959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2788920" y="39959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Quadrática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937760" y="39959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ciclos encadeados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617720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4617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O(n³)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2788920" y="46177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Cúbica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46177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ciclos encadeados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5239512"/>
            <a:ext cx="2011680" cy="512064"/>
          </a:xfrm>
          <a:prstGeom prst="roundRect">
            <a:avLst>
              <a:gd name="adj" fmla="val 17857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52395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O(2ⁿ)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2788920" y="52395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4937760" y="52395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todos os subconjuntos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235440" y="1600200"/>
            <a:ext cx="0" cy="420624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9418320" y="5394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lento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4183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418320" y="274320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555480" y="274320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vermelho: impraticável quando N chega às centenas ou milhares.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PARA CRER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cresce cada função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417320"/>
          <a:ext cx="82296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9052560" y="1417320"/>
            <a:ext cx="2560320" cy="4754880"/>
          </a:xfrm>
          <a:prstGeom prst="roundRect">
            <a:avLst>
              <a:gd name="adj" fmla="val 428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28116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n = 20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9281160" y="2258568"/>
            <a:ext cx="182880" cy="1828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555480" y="2103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424160" y="21031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281160" y="2862072"/>
            <a:ext cx="182880" cy="1828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555480" y="27066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424160" y="270662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281160" y="3465576"/>
            <a:ext cx="182880" cy="182880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55480" y="3310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424160" y="33101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281160" y="4069080"/>
            <a:ext cx="182880" cy="1828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55480" y="39136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0424160" y="3913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86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281160" y="4672584"/>
            <a:ext cx="182880" cy="182880"/>
          </a:xfrm>
          <a:prstGeom prst="ellipse">
            <a:avLst/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555480" y="45171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0424160" y="451713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9281160" y="5276088"/>
            <a:ext cx="182880" cy="182880"/>
          </a:xfrm>
          <a:prstGeom prst="ellipse">
            <a:avLst/>
          </a:prstGeom>
          <a:solidFill>
            <a:srgbClr val="E34948"/>
          </a:solidFill>
          <a:ln w="12700">
            <a:solidFill>
              <a:srgbClr val="E3494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55548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0424160" y="5120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1 048 576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VEZ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 (no pior caso)?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um elemento num array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o elemento no índice 5 de um array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74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de um ArrayList?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51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 de uma LinkedList?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4251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029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binária num array ordenado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5029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? )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2 minutos com o colega do lado antes de ver as respostas.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complexidade? As respostas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um elemento num array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394960" y="155448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1463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de ver todos os elementos.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212848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304288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2128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5 de um array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394960" y="2304288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94960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22128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direto: endereço = início + 5 × tamanho.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2962656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054096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29626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5 de um ArrayList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394960" y="3054096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94960" y="3054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296265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 é um array.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3712464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417320" y="37124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5 de uma LinkedList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394960" y="3803904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94960" y="38039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371246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de seguir as ligações nó a nó.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4462272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31520" y="4553712"/>
            <a:ext cx="457200" cy="4572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417320" y="44622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binária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5394960" y="4553712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94960" y="45537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7132320" y="44622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problema ao meio em cada passo.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algoritmos recursivos é preciso outra ferramenta — as equações de recorrência.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binária e tipos de problemas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em ação — e os limites do que é possível.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BINÁRIA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o 23 em três passos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279392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992624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705856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45552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558784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272016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985248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&gt; 16  →  fica a metade direita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3566160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66160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279392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79392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992624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92624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705856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705856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419088" y="1783080"/>
            <a:ext cx="713232" cy="658368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19088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132320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32320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845552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45552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8558784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58784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272016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272016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9985248" y="178308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985248" y="178308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474720" y="24780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327648" y="24780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893808" y="24780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188720" y="3063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&lt; 56  →  fica a metade esquerda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3566160" y="310896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566160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4279392" y="310896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279392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4992624" y="310896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992624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5705856" y="310896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705856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6419088" y="310896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19088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7132320" y="310896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132320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7845552" y="310896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845552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8558784" y="3108960"/>
            <a:ext cx="713232" cy="658368"/>
          </a:xfrm>
          <a:prstGeom prst="rect">
            <a:avLst/>
          </a:prstGeom>
          <a:solidFill>
            <a:srgbClr val="0B3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558784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9272016" y="310896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272016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9985248" y="310896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985248" y="31089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800" dirty="0"/>
          </a:p>
        </p:txBody>
      </p:sp>
      <p:sp>
        <p:nvSpPr>
          <p:cNvPr id="66" name="Text 63"/>
          <p:cNvSpPr txBox="1"/>
          <p:nvPr/>
        </p:nvSpPr>
        <p:spPr>
          <a:xfrm>
            <a:off x="7040880" y="38039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8467344" y="38039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9893808" y="38039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71" name="Text 68"/>
          <p:cNvSpPr txBox="1"/>
          <p:nvPr/>
        </p:nvSpPr>
        <p:spPr>
          <a:xfrm>
            <a:off x="1188720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Encontrado! Devolve o índice 5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3566160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566160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4279392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4279392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6" name="Shape 73"/>
          <p:cNvSpPr/>
          <p:nvPr/>
        </p:nvSpPr>
        <p:spPr>
          <a:xfrm>
            <a:off x="4992624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992624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5705856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705856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6419088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419088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82" name="Shape 79"/>
          <p:cNvSpPr/>
          <p:nvPr/>
        </p:nvSpPr>
        <p:spPr>
          <a:xfrm>
            <a:off x="7132320" y="4434840"/>
            <a:ext cx="713232" cy="658368"/>
          </a:xfrm>
          <a:prstGeom prst="rect">
            <a:avLst/>
          </a:prstGeom>
          <a:solidFill>
            <a:srgbClr val="E77A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132320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84" name="Shape 81"/>
          <p:cNvSpPr/>
          <p:nvPr/>
        </p:nvSpPr>
        <p:spPr>
          <a:xfrm>
            <a:off x="7845552" y="4434840"/>
            <a:ext cx="713232" cy="658368"/>
          </a:xfrm>
          <a:prstGeom prst="rect">
            <a:avLst/>
          </a:prstGeom>
          <a:solidFill>
            <a:srgbClr val="155E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845552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8558784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558784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9272016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9272016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9985248" y="4434840"/>
            <a:ext cx="713232" cy="658368"/>
          </a:xfrm>
          <a:prstGeom prst="rect">
            <a:avLst/>
          </a:prstGeom>
          <a:solidFill>
            <a:srgbClr val="E3E8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985248" y="44348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3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800" dirty="0"/>
          </a:p>
        </p:txBody>
      </p:sp>
      <p:sp>
        <p:nvSpPr>
          <p:cNvPr id="92" name="Text 89"/>
          <p:cNvSpPr txBox="1"/>
          <p:nvPr/>
        </p:nvSpPr>
        <p:spPr>
          <a:xfrm>
            <a:off x="7040880" y="512978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M</a:t>
            </a:r>
            <a:endParaRPr lang="en-US" sz="1100" dirty="0"/>
          </a:p>
        </p:txBody>
      </p:sp>
      <p:sp>
        <p:nvSpPr>
          <p:cNvPr id="93" name="Text 90"/>
          <p:cNvSpPr txBox="1"/>
          <p:nvPr/>
        </p:nvSpPr>
        <p:spPr>
          <a:xfrm>
            <a:off x="7754112" y="512978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94" name="Text 91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tem de estar ordenado.   </a:t>
            </a:r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= já descartado.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que a pesquisa binária é O(log n)?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comparação corta ao meio os elementos que ainda podem conter a resposta: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463040" y="1965960"/>
            <a:ext cx="658368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9293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463040" y="2240280"/>
            <a:ext cx="329184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2037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63040" y="2514600"/>
            <a:ext cx="164592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478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63040" y="2788920"/>
            <a:ext cx="82296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752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63040" y="3063240"/>
            <a:ext cx="41148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026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63040" y="3337560"/>
            <a:ext cx="205740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300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463040" y="3611880"/>
            <a:ext cx="109728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5753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463040" y="3886200"/>
            <a:ext cx="109728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49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463040" y="4160520"/>
            <a:ext cx="109728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1239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463040" y="4434840"/>
            <a:ext cx="109728" cy="201168"/>
          </a:xfrm>
          <a:prstGeom prst="rect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4398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463040" y="4709160"/>
            <a:ext cx="109728" cy="201168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6725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0" y="4480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passos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892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1024 até 1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412480" y="146304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1 000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passos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86868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1 000 000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passos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10⁹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8686800" y="4462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passos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868680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n por 1000 só acrescenta cerca de 10 passos.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PROBLEMAS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Tratáveis e intratáveis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tratáveis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soluções que escalam: o tempo não explode.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pior caso são O(Nᵏ), com k tipicamente 2 ou 3.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ordenar, pesquisar, caminho mais curto.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intratáveis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problemas NP-completos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6974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conhecem soluções com complexidade exponencial.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caixeiro-viajante, horários, mochila.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mais de N = 50 já pode ser inviável.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enfrentar um problema intratável?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54864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798064" y="54864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98064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Aleatorização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47488" y="54864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47488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296912" y="54864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96912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Parametrização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546336" y="54864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46336" y="5486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binária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algoritmo da pesquisa binária, com o protótipo: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33756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binarySearch(</a:t>
            </a:r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arr, </a:t>
            </a:r>
            <a:pPr indent="0" marL="0">
              <a:buNone/>
            </a:pPr>
            <a:r>
              <a:rPr lang="en-US" sz="140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índice de target, ou </a:t>
            </a:r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não existir.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o array do exemplo: 23 → 5; 40 → −1.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Máxima subsequência contígua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560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uma sequência de inteiros (possivelmente negativos), encontre a subsequência contígua com a maior soma. Se todos forem negativos, a soma é 0.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92240" y="384048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059168" y="384048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59168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626096" y="384048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26096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193024" y="384048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93024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759952" y="384048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59952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326880" y="384048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26880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01268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492240" y="457200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92240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059168" y="4572000"/>
            <a:ext cx="548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C9B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059168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626096" y="457200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26096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193024" y="457200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193024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8759952" y="457200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759952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9326880" y="4572000"/>
            <a:ext cx="548640" cy="502920"/>
          </a:xfrm>
          <a:prstGeom prst="rect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326880" y="4572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001268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7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49224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soluções O(N³), O(N²) e O(N). Consegue chegar à linear?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manda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melhor vale mais do que um computador mais rápido. N! e 2ᴺ explodem.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operações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conta operações em função de n. Analisamos sempre o pior caso.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simplifica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6576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o termo dominante, sem constantes: 5 + 4n + 3n² é O(n²).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analisar algoritmos recursivos com equações de recorrência.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Weiss, M. A. (2010). </a:t>
            </a:r>
            <a:pPr indent="0" marL="0">
              <a:buNone/>
            </a:pPr>
            <a:r>
              <a:rPr lang="en-US" sz="17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Problem Solving Using Java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(4.ª ed.). Pearson.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2: Complexidade Temporal de Algoritmos</dc:title>
  <dc:subject>PptxGenJS Presentation</dc:subject>
  <dc:creator>Luís Simões da Cunha</dc:creator>
  <cp:lastModifiedBy>Luís Simões da Cunha</cp:lastModifiedBy>
  <cp:revision>1</cp:revision>
  <dcterms:created xsi:type="dcterms:W3CDTF">2026-09-25T14:19:46Z</dcterms:created>
  <dcterms:modified xsi:type="dcterms:W3CDTF">2026-09-25T14:19:46Z</dcterms:modified>
</cp:coreProperties>
</file>