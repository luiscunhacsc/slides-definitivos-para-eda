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Aula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de recuperação (2 minutos, sem apontamentos). Respostas: (1) O(n!), (n−1)!/2 viagens; (2) dividir, conquistar (recursivamente), combinar; (3) Θ(n log n). Ponte: hoje vemos uma técnica que também parte o problema em subproblemas, mas estes repetem-se.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os alunos tentar antes de mostrar os cartões. O caso das moedas de euro (1, 2, 5, 10…) engana: aí a estratégia gulosa funciona, mas não com quaisquer moedas. Este problema volta na Parte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Organizador prévio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Definição (Levitin, 2011): técnica para problemas com subproblemas sobrepostos, que resultam de uma recorrência. Contraste com a Aula 4: na divisão e conquista os subproblemas são independentes (as duas metades do Merge Sort não partilham nada); aqui repetem-se.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Richard Bellman (1920–1984) criou a técnica nos anos 50 para otimizar processos de decisão em várias fases. O nome vem do sentido de "programa" como plano (como em "programar as férias"), não de programação de computadores.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número é a soma dos dois anteriores. A recorrência liga o problema F(n) a dois subproblemas mais pequenos, F(n−1) e F(n−2).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na árvore: F(3) é calculado 2 vezes, F(2) 3 vezes, F(1) 5 vezes. Para F(5) são 15 chamadas para apenas 6 valores diferentes. O número de chamadas cresce exponencialmente (como a própria sequência).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 de chamadas da recursão direta: 2·F(n+1) − 1. A 10^9 chamadas por segundo. Com programação dinâmica bastam n − 1 somas. A complexidade passa de exponencial para linear.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Abordagem clássica: começar pelos casos base F(0) e F(1) e preencher a tabela da esquerda para a direita. Cada entrada usa as duas anteriores, já calculadas. O último elemento contém F(n).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Variação top-down, com "funções de memória" (memoization): mantém-se a recursão natural, mas antes de calcular consulta-se a tabela. Vantagem: só resolve os subproblemas de que realmente precisa. Em Fibonacci precisa de todos, mas noutros problemas pode poupar muito.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Space-for-time trade-off: pioramos a complexidade espacial para melhorar a temporal. Mas às vezes dá para ter o melhor dos dois mundos: em Fibonacci só precisamos dos dois últimos valores.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respostas antes de revelar. Reforça a diferença entre exponencial e linear.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passo crucial é sempre derivar a recorrência. O princípio da optimalidade (Bellman) justifica-a nos problemas de otimização: se o caminho mais curto de Coimbra a Lisboa passa por Leiria, então o troço Coimbra–Leiria dessa viagem também tem de ser o mais curto — senão, trocávamo-lo e a viagem ficava mais curta. Há exceções (ex.: caminho simples mais longo).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Moedas d1 &lt; d2 &lt; … &lt; dm, com d1 = 1 (garante que há sempre solução) e quantidades ilimitadas. Ideia-chave: o montante n obtém-se juntando UMA moeda dj ao montante n − dj. Experimentamos todas as moedas possíveis para a última e ficamos com a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Levitin (2011, fig. 8.2). Para cada n, considera-se F(n−1), F(n−3) e F(n−4) (só os que existem), escolhe-se o menor e soma-se 1. A laranja, o candidato vencedor.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saber QUAIS moedas, percorre-se o caminho ao contrário: em n = 6 o mínimo veio da moeda 3 (F[3] = 1); em n = 3 veio outra vez da moeda 3 (F[0] = 0). Resultado: duas moedas de 3. Na implementação, basta guardar numa segunda tabela a moeda que deu o mínimo em cada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Pseudocódigo de Levitin (2011), traduzido. O ciclo exterior percorre os montantes 1..n; o interior experimenta as m moedas. Por isso o tempo é O(n·m); a tabela F ocupa O(n).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 1: pedir as três versões (recursão direta, bottom-up, top-down) e medir o tempo para n = 40 — a diferença é visível a olho. Ex. 2: devolver também as moedas usadas. Ex. 3: ligar ao mini-projeto 1 da 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Síntese. Pedir a cada aluno que escreva, sem ver os diapositivos, a recorrência do troco e o valor de F(6) para moedas 1, 3,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Levitin, capítulo 8 (Dynamic Programming).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3200400" cy="7594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letivo 2026/2027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498080" y="1097280"/>
            <a:ext cx="530352" cy="530352"/>
          </a:xfrm>
          <a:prstGeom prst="rect">
            <a:avLst/>
          </a:prstGeom>
          <a:solidFill>
            <a:srgbClr val="155E56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0" y="1097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7772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65008" y="1097280"/>
            <a:ext cx="530352" cy="530352"/>
          </a:xfrm>
          <a:prstGeom prst="rect">
            <a:avLst/>
          </a:prstGeom>
          <a:solidFill>
            <a:srgbClr val="155E56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65008" y="1097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065008" y="7772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31936" y="1097280"/>
            <a:ext cx="530352" cy="530352"/>
          </a:xfrm>
          <a:prstGeom prst="rect">
            <a:avLst/>
          </a:prstGeom>
          <a:solidFill>
            <a:srgbClr val="155E56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31936" y="1097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631936" y="7772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98864" y="1097280"/>
            <a:ext cx="530352" cy="530352"/>
          </a:xfrm>
          <a:prstGeom prst="rect">
            <a:avLst/>
          </a:prstGeom>
          <a:solidFill>
            <a:srgbClr val="155E56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98864" y="1097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98864" y="7772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765792" y="1097280"/>
            <a:ext cx="530352" cy="530352"/>
          </a:xfrm>
          <a:prstGeom prst="rect">
            <a:avLst/>
          </a:prstGeom>
          <a:solidFill>
            <a:srgbClr val="155E56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65792" y="1097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765792" y="7772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332720" y="1097280"/>
            <a:ext cx="530352" cy="530352"/>
          </a:xfrm>
          <a:prstGeom prst="rect">
            <a:avLst/>
          </a:prstGeom>
          <a:solidFill>
            <a:srgbClr val="155E56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332720" y="1097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0332720" y="7772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899648" y="1097280"/>
            <a:ext cx="530352" cy="530352"/>
          </a:xfrm>
          <a:prstGeom prst="rect">
            <a:avLst/>
          </a:prstGeom>
          <a:solidFill>
            <a:srgbClr val="E77A2D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899648" y="1097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0899648" y="7772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2651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30632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 de Programação Dinâmica</a:t>
            </a:r>
            <a:endParaRPr lang="en-US" sz="380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4526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 ·  resolver uma vez, guardar para sempre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4846320" y="5394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AS AULAS 3 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para aquecer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6916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a complexidade da pesquisa exaustiva no caixeiro-viajante?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2918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30632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Quais são os três passos da divisão e conquista?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8680" y="46634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4663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4348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a complexidade do Merge Sort?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sem olhar para os apontamentos: recordar é o que consolida a memória.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COMEÇAR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 moedas de 1, 3 e 4 cêntimos. Qual é a forma de dar 6 cêntimos de troco com o menor número de moedas?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880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"gulosa": a maior moeda primeiro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3474720"/>
            <a:ext cx="914400" cy="914400"/>
          </a:xfrm>
          <a:prstGeom prst="ellipse">
            <a:avLst/>
          </a:prstGeom>
          <a:solidFill>
            <a:srgbClr val="E6F0EE"/>
          </a:solidFill>
          <a:ln w="25400">
            <a:solidFill>
              <a:srgbClr val="155E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057400" y="3474720"/>
            <a:ext cx="914400" cy="914400"/>
          </a:xfrm>
          <a:prstGeom prst="ellipse">
            <a:avLst/>
          </a:prstGeom>
          <a:solidFill>
            <a:srgbClr val="E6F0EE"/>
          </a:solidFill>
          <a:ln w="25400">
            <a:solidFill>
              <a:srgbClr val="155E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00400" y="3474720"/>
            <a:ext cx="914400" cy="914400"/>
          </a:xfrm>
          <a:prstGeom prst="ellipse">
            <a:avLst/>
          </a:prstGeom>
          <a:solidFill>
            <a:srgbClr val="E6F0EE"/>
          </a:solidFill>
          <a:ln w="25400">
            <a:solidFill>
              <a:srgbClr val="155E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611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moedas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2880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melhor solução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83680" y="3474720"/>
            <a:ext cx="914400" cy="914400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726680" y="3474720"/>
            <a:ext cx="914400" cy="914400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2668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moedas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que parece melhor agora nem sempre dá o melhor resultado. Hoje vamos aprender a encontrar sempre o ótimo — sem experimentar tudo.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resolver duas vezes o mesmo problema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que se repetem: o caso de Fibonacci.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364992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39312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formas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3639312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e top-down (memorização).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81344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55664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55664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55664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princípio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princípio da optimalidade de Bellman.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997696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72016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72016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72016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troco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9272016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problema de otimização resolvido passo a passo.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Pergunta-guia: e se, em vez de recalcular, tomássemos nota das respostas?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que se repetem.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DINÂMICA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Resolver cada subproblema uma só vez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6002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 para problemas com </a:t>
            </a:r>
            <a:pPr indent="0" marL="0">
              <a:buNone/>
            </a:pPr>
            <a:r>
              <a:rPr lang="en-US" sz="22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subproblemas que se sobrepõem</a:t>
            </a:r>
            <a:pPr indent="0" marL="0">
              <a:buNone/>
            </a:pPr>
            <a:r>
              <a:rPr lang="en-US" sz="22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resolve cada um </a:t>
            </a:r>
            <a:pPr indent="0" marL="0">
              <a:buNone/>
            </a:pPr>
            <a:r>
              <a:rPr lang="en-US" sz="22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apenas uma vez</a:t>
            </a:r>
            <a:pPr indent="0" marL="0">
              <a:buNone/>
            </a:pPr>
            <a:r>
              <a:rPr lang="en-US" sz="22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pPr indent="0" marL="0">
              <a:buNone/>
            </a:pPr>
            <a:r>
              <a:rPr lang="en-US" sz="22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regista o resultado numa tabela</a:t>
            </a:r>
            <a:pPr indent="0" marL="0">
              <a:buNone/>
            </a:pPr>
            <a:r>
              <a:rPr lang="en-US" sz="22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3429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Divisão e conquista (Aula 4)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93192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</a:t>
            </a:r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independentes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é resolvido uma vez, naturalmente.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as duas metades do Merge Sort.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17920" y="324612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92240" y="3429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dinâmica (hoje)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393192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</a:t>
            </a:r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sobrepostos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os mesmos aparecem muitas vezes.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as respostas evita repetir trabalho.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os números de Fibonacci.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POUCO DE HISTÓRIA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"Programação" quer dizer planeamento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840480" cy="4434840"/>
          </a:xfrm>
          <a:prstGeom prst="roundRect">
            <a:avLst>
              <a:gd name="adj" fmla="val 2857"/>
            </a:avLst>
          </a:prstGeom>
          <a:solidFill>
            <a:srgbClr val="0B3F3C"/>
          </a:solidFill>
          <a:ln w="9525">
            <a:solidFill>
              <a:srgbClr val="0B3F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anos 50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Richard Bellman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matemático norte-americano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9319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otimizar processos de decisão em várias fases.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63440" y="1600200"/>
            <a:ext cx="6949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92040" y="1938528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17099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"Programação" = planeamento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1488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em "programar as férias" ou "o programa das festas". Nada a ver com escrever código.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3108960"/>
            <a:ext cx="6949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92040" y="3447288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92040" y="3447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760720" y="32186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ferramenta matemática a técnica geral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760720" y="36576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Nasceu na matemática aplicada; na informática tornou-se uma estratégia geral de conceção de algoritmos.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663440" y="4617720"/>
            <a:ext cx="6949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892040" y="4956048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92040" y="4956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760720" y="47274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só para otimização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760720" y="51663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Aplica-se a muitos problemas, não apenas a tipos especiais de problemas de otimização.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EXEMPLO CLÁSSICO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números de Fibonacci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801368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F(1)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779776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F(2)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58184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F(3)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736592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F(4)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F(5)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693408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F(6)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71816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F(7)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50224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F(8)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628632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F(9)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607040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F(10)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2960" y="1920240"/>
            <a:ext cx="978408" cy="685800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1920240"/>
            <a:ext cx="978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801368" y="1920240"/>
            <a:ext cx="978408" cy="685800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801368" y="1920240"/>
            <a:ext cx="978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2779776" y="1920240"/>
            <a:ext cx="978408" cy="6858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779776" y="1920240"/>
            <a:ext cx="978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3758184" y="1920240"/>
            <a:ext cx="978408" cy="6858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758184" y="1920240"/>
            <a:ext cx="978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4736592" y="1920240"/>
            <a:ext cx="978408" cy="6858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736592" y="1920240"/>
            <a:ext cx="978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715000" y="1920240"/>
            <a:ext cx="978408" cy="6858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715000" y="1920240"/>
            <a:ext cx="978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6693408" y="1920240"/>
            <a:ext cx="978408" cy="6858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693408" y="1920240"/>
            <a:ext cx="978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7671816" y="1920240"/>
            <a:ext cx="978408" cy="6858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71816" y="1920240"/>
            <a:ext cx="978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8650224" y="1920240"/>
            <a:ext cx="978408" cy="6858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50224" y="1920240"/>
            <a:ext cx="978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628632" y="1920240"/>
            <a:ext cx="978408" cy="6858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28632" y="1920240"/>
            <a:ext cx="978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10607040" y="1920240"/>
            <a:ext cx="978408" cy="6858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607040" y="1920240"/>
            <a:ext cx="978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4242816" y="2331720"/>
            <a:ext cx="1956816" cy="822960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E77A2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221224" y="2468880"/>
            <a:ext cx="978408" cy="548640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E77A2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56616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+ 3 = 5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48640" y="3840480"/>
            <a:ext cx="11064240" cy="2148840"/>
          </a:xfrm>
          <a:prstGeom prst="roundRect">
            <a:avLst>
              <a:gd name="adj" fmla="val 5106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14400" y="39319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 = F(n − 1) + F(n − 2)</a:t>
            </a:r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para n &gt; 1</a:t>
            </a:r>
            <a:endParaRPr lang="en-US" sz="30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F(0) = 0,   F(1) = 1</a:t>
            </a:r>
            <a:endParaRPr lang="en-US" sz="3000" dirty="0"/>
          </a:p>
        </p:txBody>
      </p:sp>
      <p:sp>
        <p:nvSpPr>
          <p:cNvPr id="45" name="Text 42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base a verde escuro; cada caso geral depende de dois subproblemas mais pequenos.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recursão direta repete trabalho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 flipH="1">
            <a:off x="960120" y="4663440"/>
            <a:ext cx="493776" cy="411480"/>
          </a:xfrm>
          <a:prstGeom prst="line">
            <a:avLst/>
          </a:prstGeom>
          <a:noFill/>
          <a:ln w="15875">
            <a:solidFill>
              <a:srgbClr val="B8C4C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53896" y="4663440"/>
            <a:ext cx="493776" cy="411480"/>
          </a:xfrm>
          <a:prstGeom prst="line">
            <a:avLst/>
          </a:prstGeom>
          <a:noFill/>
          <a:ln w="15875">
            <a:solidFill>
              <a:srgbClr val="B8C4C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H="1">
            <a:off x="1453896" y="3794760"/>
            <a:ext cx="740664" cy="411480"/>
          </a:xfrm>
          <a:prstGeom prst="line">
            <a:avLst/>
          </a:prstGeom>
          <a:noFill/>
          <a:ln w="15875">
            <a:solidFill>
              <a:srgbClr val="B8C4C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94560" y="3794760"/>
            <a:ext cx="740664" cy="411480"/>
          </a:xfrm>
          <a:prstGeom prst="line">
            <a:avLst/>
          </a:prstGeom>
          <a:noFill/>
          <a:ln w="15875">
            <a:solidFill>
              <a:srgbClr val="B8C4C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H="1">
            <a:off x="3922776" y="3794760"/>
            <a:ext cx="493776" cy="411480"/>
          </a:xfrm>
          <a:prstGeom prst="line">
            <a:avLst/>
          </a:prstGeom>
          <a:noFill/>
          <a:ln w="15875">
            <a:solidFill>
              <a:srgbClr val="B8C4C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6552" y="3794760"/>
            <a:ext cx="493776" cy="411480"/>
          </a:xfrm>
          <a:prstGeom prst="line">
            <a:avLst/>
          </a:prstGeom>
          <a:noFill/>
          <a:ln w="15875">
            <a:solidFill>
              <a:srgbClr val="B8C4C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2194560" y="2926080"/>
            <a:ext cx="1110996" cy="411480"/>
          </a:xfrm>
          <a:prstGeom prst="line">
            <a:avLst/>
          </a:prstGeom>
          <a:noFill/>
          <a:ln w="15875">
            <a:solidFill>
              <a:srgbClr val="B8C4C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05556" y="2926080"/>
            <a:ext cx="1110996" cy="411480"/>
          </a:xfrm>
          <a:prstGeom prst="line">
            <a:avLst/>
          </a:prstGeom>
          <a:noFill/>
          <a:ln w="15875">
            <a:solidFill>
              <a:srgbClr val="B8C4C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>
            <a:off x="5897880" y="3794760"/>
            <a:ext cx="493776" cy="411480"/>
          </a:xfrm>
          <a:prstGeom prst="line">
            <a:avLst/>
          </a:prstGeom>
          <a:noFill/>
          <a:ln w="15875">
            <a:solidFill>
              <a:srgbClr val="B8C4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91656" y="3794760"/>
            <a:ext cx="493776" cy="411480"/>
          </a:xfrm>
          <a:prstGeom prst="line">
            <a:avLst/>
          </a:prstGeom>
          <a:noFill/>
          <a:ln w="15875">
            <a:solidFill>
              <a:srgbClr val="B8C4C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6391656" y="2926080"/>
            <a:ext cx="740664" cy="411480"/>
          </a:xfrm>
          <a:prstGeom prst="line">
            <a:avLst/>
          </a:prstGeom>
          <a:noFill/>
          <a:ln w="15875">
            <a:solidFill>
              <a:srgbClr val="B8C4C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0" y="2926080"/>
            <a:ext cx="740664" cy="411480"/>
          </a:xfrm>
          <a:prstGeom prst="line">
            <a:avLst/>
          </a:prstGeom>
          <a:noFill/>
          <a:ln w="15875">
            <a:solidFill>
              <a:srgbClr val="B8C4C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3305556" y="2057400"/>
            <a:ext cx="1913382" cy="411480"/>
          </a:xfrm>
          <a:prstGeom prst="line">
            <a:avLst/>
          </a:prstGeom>
          <a:noFill/>
          <a:ln w="15875">
            <a:solidFill>
              <a:srgbClr val="B8C4C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18938" y="2057400"/>
            <a:ext cx="1913382" cy="411480"/>
          </a:xfrm>
          <a:prstGeom prst="line">
            <a:avLst/>
          </a:prstGeom>
          <a:noFill/>
          <a:ln w="15875">
            <a:solidFill>
              <a:srgbClr val="B8C4C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5780" y="507492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5780" y="5074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F(1)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513332" y="507492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513332" y="5074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019556" y="420624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F2C6A4"/>
          </a:solidFill>
          <a:ln w="12700">
            <a:solidFill>
              <a:srgbClr val="F2C6A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19556" y="4206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F(2)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500884" y="420624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500884" y="4206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F(1)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1760220" y="333756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760220" y="33375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F(3)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3488436" y="420624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488436" y="4206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F(1)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475988" y="420624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475988" y="4206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F(0)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3982212" y="333756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F2C6A4"/>
          </a:solidFill>
          <a:ln w="12700">
            <a:solidFill>
              <a:srgbClr val="F2C6A4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982212" y="33375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F(2)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2871216" y="246888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871216" y="24688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F(4)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463540" y="420624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63540" y="4206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F(1)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451092" y="420624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451092" y="4206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F(0)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957316" y="333756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F2C6A4"/>
          </a:solidFill>
          <a:ln w="12700">
            <a:solidFill>
              <a:srgbClr val="F2C6A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957316" y="33375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F(2)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7438644" y="333756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438644" y="33375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F(1)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6697980" y="246888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697980" y="24688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F(3)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4784598" y="160020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784598" y="16002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F(5)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8595360" y="1600200"/>
            <a:ext cx="3017520" cy="4434840"/>
          </a:xfrm>
          <a:prstGeom prst="roundRect">
            <a:avLst>
              <a:gd name="adj" fmla="val 3636"/>
            </a:avLst>
          </a:prstGeom>
          <a:solidFill>
            <a:srgbClr val="0B3F3C"/>
          </a:solidFill>
          <a:ln w="9525">
            <a:solidFill>
              <a:srgbClr val="0B3F3C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82396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calcular F(5)</a:t>
            </a:r>
            <a:endParaRPr lang="en-US" sz="1600" dirty="0"/>
          </a:p>
        </p:txBody>
      </p:sp>
      <p:sp>
        <p:nvSpPr>
          <p:cNvPr id="53" name="Text 50"/>
          <p:cNvSpPr txBox="1"/>
          <p:nvPr/>
        </p:nvSpPr>
        <p:spPr>
          <a:xfrm>
            <a:off x="882396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600" dirty="0"/>
          </a:p>
        </p:txBody>
      </p:sp>
      <p:sp>
        <p:nvSpPr>
          <p:cNvPr id="54" name="Text 51"/>
          <p:cNvSpPr txBox="1"/>
          <p:nvPr/>
        </p:nvSpPr>
        <p:spPr>
          <a:xfrm>
            <a:off x="882396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chamadas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8823960" y="3657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F(3)</a:t>
            </a:r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calculado 2 vezes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C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F(2)</a:t>
            </a:r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calculado 3 vezes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F(1)</a:t>
            </a:r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calculado 5 vezes</a:t>
            </a:r>
            <a:endParaRPr lang="en-US" sz="1500" dirty="0"/>
          </a:p>
        </p:txBody>
      </p:sp>
      <p:sp>
        <p:nvSpPr>
          <p:cNvPr id="56" name="Text 53"/>
          <p:cNvSpPr txBox="1"/>
          <p:nvPr/>
        </p:nvSpPr>
        <p:spPr>
          <a:xfrm>
            <a:off x="8823960" y="5120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6 valores diferentes!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NÃO TOMAR NOTAS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Recursão direta vs tabela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5895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2011680"/>
                <a:gridCol w="17373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Chamadas (recursão direta)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Somas (tabela)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µs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21 891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0,1 ms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 milhões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40,7 mil milhões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 × 10¹²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1,4 horas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412480" y="1554480"/>
            <a:ext cx="3200400" cy="3401568"/>
          </a:xfrm>
          <a:prstGeom prst="roundRect">
            <a:avLst>
              <a:gd name="adj" fmla="val 3429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4108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exponencial…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4108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…a linear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8641080" y="28346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por guardar resultados que já tínhamos calculado.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Tempos indicativos a 10⁹ chamadas por segundo, como na Aula 2.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formas de fazer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baixo para cima, ou de cima para baixo com memória.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Preencher a tabela do mais pequeno para o maior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F[0]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F[1]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65176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F[2]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F[3]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F[4]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F[5]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F[6]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F[7]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1828800"/>
            <a:ext cx="914400" cy="685800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1828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1737360" y="1828800"/>
            <a:ext cx="914400" cy="685800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737360" y="1828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2651760" y="1828800"/>
            <a:ext cx="914400" cy="6858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651760" y="1828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3566160" y="1828800"/>
            <a:ext cx="914400" cy="6858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66160" y="1828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4480560" y="1828800"/>
            <a:ext cx="914400" cy="6858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480560" y="1828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394960" y="1828800"/>
            <a:ext cx="914400" cy="6858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94960" y="1828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6309360" y="1828800"/>
            <a:ext cx="914400" cy="6858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09360" y="1828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7223760" y="1828800"/>
            <a:ext cx="914400" cy="685800"/>
          </a:xfrm>
          <a:prstGeom prst="rect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223760" y="1828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868680" y="2743200"/>
            <a:ext cx="7178040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82296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esquerda para a direita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F[7] = F[6] + F[5] = 8 + 5 = 13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548640" y="3886200"/>
            <a:ext cx="7589520" cy="2103120"/>
          </a:xfrm>
          <a:prstGeom prst="roundRect">
            <a:avLst>
              <a:gd name="adj" fmla="val 4348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4023360"/>
            <a:ext cx="7040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fib(n):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F[0] ← 0;  F[1] ←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i ← 2 até n: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F[i] ← F[i−1] + F[i−2]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devolver F[n]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503920" y="1508760"/>
            <a:ext cx="3108960" cy="4480560"/>
          </a:xfrm>
          <a:prstGeom prst="roundRect">
            <a:avLst>
              <a:gd name="adj" fmla="val 3529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73252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873252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8732520" y="2514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3600" dirty="0"/>
          </a:p>
        </p:txBody>
      </p:sp>
      <p:sp>
        <p:nvSpPr>
          <p:cNvPr id="40" name="Text 37"/>
          <p:cNvSpPr txBox="1"/>
          <p:nvPr/>
        </p:nvSpPr>
        <p:spPr>
          <a:xfrm>
            <a:off x="873252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8732520" y="3611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3600" dirty="0"/>
          </a:p>
        </p:txBody>
      </p:sp>
      <p:sp>
        <p:nvSpPr>
          <p:cNvPr id="42" name="Text 39"/>
          <p:cNvSpPr txBox="1"/>
          <p:nvPr/>
        </p:nvSpPr>
        <p:spPr>
          <a:xfrm>
            <a:off x="8732520" y="4297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tabela com n + 1 posições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COM MEMÓRIA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Recursão… mas com um caderno de notas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6675120" cy="2926080"/>
          </a:xfrm>
          <a:prstGeom prst="roundRect">
            <a:avLst>
              <a:gd name="adj" fmla="val 3125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45920"/>
            <a:ext cx="6126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fibMem(n):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 memo[n] já existe: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devolver memo[n]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 n &lt; 2: resultado ← 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senão: resultado ← fibMem(n−1) + fibMem(n−2)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memo[n] ← resultado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devolver resultado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720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de calcular;  </a:t>
            </a:r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depois de calcular.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50876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Bottom-up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pequeno → grande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 → pequeno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 + tabela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recursão + memória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Subproblemas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todos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os necessários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498080" y="3977640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2668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726680" y="44805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aluno que, antes de resolver um exercício, vai ver ao caderno se já o resolveu.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 ESPAÇO-TEMPO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Gastar memória para poupar tempo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troca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03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exponencial → O(n)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Espaço: 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→ O(n)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21792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Aperfeiçoamento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1031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calcular o próximo número só precisamos dos dois últimos. Basta guardar duas variáveis: espaço O(1).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"janela" de duas posições que desliza pela sequência: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2960" y="4343400"/>
            <a:ext cx="868680" cy="548640"/>
          </a:xfrm>
          <a:prstGeom prst="rect">
            <a:avLst/>
          </a:prstGeom>
          <a:solidFill>
            <a:srgbClr val="EEF2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3434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1691640" y="4343400"/>
            <a:ext cx="868680" cy="548640"/>
          </a:xfrm>
          <a:prstGeom prst="rect">
            <a:avLst/>
          </a:prstGeom>
          <a:solidFill>
            <a:srgbClr val="EEF2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691640" y="43434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2560320" y="4343400"/>
            <a:ext cx="868680" cy="54864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560320" y="43434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3429000" y="4343400"/>
            <a:ext cx="868680" cy="54864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29000" y="43434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4297680" y="4343400"/>
            <a:ext cx="868680" cy="548640"/>
          </a:xfrm>
          <a:prstGeom prst="rect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97680" y="43434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166360" y="4343400"/>
            <a:ext cx="868680" cy="548640"/>
          </a:xfrm>
          <a:prstGeom prst="rect">
            <a:avLst/>
          </a:prstGeom>
          <a:solidFill>
            <a:srgbClr val="EEF2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166360" y="43434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035040" y="4343400"/>
            <a:ext cx="868680" cy="548640"/>
          </a:xfrm>
          <a:prstGeom prst="rect">
            <a:avLst/>
          </a:prstGeom>
          <a:solidFill>
            <a:srgbClr val="EEF2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035040" y="43434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6903720" y="4343400"/>
            <a:ext cx="868680" cy="548640"/>
          </a:xfrm>
          <a:prstGeom prst="rect">
            <a:avLst/>
          </a:prstGeom>
          <a:solidFill>
            <a:srgbClr val="EEF2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03720" y="43434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822960" y="5166360"/>
            <a:ext cx="868680" cy="548640"/>
          </a:xfrm>
          <a:prstGeom prst="rect">
            <a:avLst/>
          </a:prstGeom>
          <a:solidFill>
            <a:srgbClr val="EEF2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2960" y="51663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1691640" y="5166360"/>
            <a:ext cx="868680" cy="548640"/>
          </a:xfrm>
          <a:prstGeom prst="rect">
            <a:avLst/>
          </a:prstGeom>
          <a:solidFill>
            <a:srgbClr val="EEF2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691640" y="51663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2560320" y="5166360"/>
            <a:ext cx="868680" cy="548640"/>
          </a:xfrm>
          <a:prstGeom prst="rect">
            <a:avLst/>
          </a:prstGeom>
          <a:solidFill>
            <a:srgbClr val="EEF2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560320" y="51663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3429000" y="5166360"/>
            <a:ext cx="868680" cy="548640"/>
          </a:xfrm>
          <a:prstGeom prst="rect">
            <a:avLst/>
          </a:prstGeom>
          <a:solidFill>
            <a:srgbClr val="EEF2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429000" y="51663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38" name="Shape 35"/>
          <p:cNvSpPr/>
          <p:nvPr/>
        </p:nvSpPr>
        <p:spPr>
          <a:xfrm>
            <a:off x="4297680" y="5166360"/>
            <a:ext cx="868680" cy="54864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297680" y="51663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5166360" y="5166360"/>
            <a:ext cx="868680" cy="54864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166360" y="51663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42" name="Shape 39"/>
          <p:cNvSpPr/>
          <p:nvPr/>
        </p:nvSpPr>
        <p:spPr>
          <a:xfrm>
            <a:off x="6035040" y="5166360"/>
            <a:ext cx="868680" cy="548640"/>
          </a:xfrm>
          <a:prstGeom prst="rect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035040" y="51663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44" name="Shape 41"/>
          <p:cNvSpPr/>
          <p:nvPr/>
        </p:nvSpPr>
        <p:spPr>
          <a:xfrm>
            <a:off x="6903720" y="5166360"/>
            <a:ext cx="868680" cy="548640"/>
          </a:xfrm>
          <a:prstGeom prst="rect">
            <a:avLst/>
          </a:prstGeom>
          <a:solidFill>
            <a:srgbClr val="EEF2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903720" y="51663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700" dirty="0"/>
          </a:p>
        </p:txBody>
      </p:sp>
      <p:sp>
        <p:nvSpPr>
          <p:cNvPr id="46" name="Text 43"/>
          <p:cNvSpPr txBox="1"/>
          <p:nvPr/>
        </p:nvSpPr>
        <p:spPr>
          <a:xfrm>
            <a:off x="804672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2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2000" dirty="0"/>
          </a:p>
        </p:txBody>
      </p:sp>
      <p:sp>
        <p:nvSpPr>
          <p:cNvPr id="47" name="Text 44"/>
          <p:cNvSpPr txBox="1"/>
          <p:nvPr/>
        </p:nvSpPr>
        <p:spPr>
          <a:xfrm>
            <a:off x="8046720" y="4937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depois: a ← b;  b ← próximo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8046720" y="5440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Espaço: O(1)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5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RÁPIDA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calcular F(50)…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somas faz a versão bottom-up?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por cada i de 2 a 50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103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valores guarda a versão com duas variáveis?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9718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51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recursão direta faria mais de 40 mil milhões de chamadas.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princípio da optimalidade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ótimas feitas de peças ótimas.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CONCEBER UM ALGORITMO DE PD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passo crucial e o princípio que o sustenta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PASSO CRUCIAL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057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Derivar uma recorrência que relacione a solução do problema com as soluções dos seus subproblemas mais pequenos.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0" y="155448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DA OPTIMALIDADE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057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solução ótima de um problema de otimização é composta por soluções ótimas das suas sub-instâncias.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931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o caminho mais curto de Coimbra a Lisboa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22960" y="4572000"/>
            <a:ext cx="2103120" cy="594360"/>
          </a:xfrm>
          <a:prstGeom prst="roundRect">
            <a:avLst>
              <a:gd name="adj" fmla="val 46154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572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Coimbra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29200" y="4572000"/>
            <a:ext cx="2103120" cy="594360"/>
          </a:xfrm>
          <a:prstGeom prst="roundRect">
            <a:avLst>
              <a:gd name="adj" fmla="val 46154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0" y="4572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Leiria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235440" y="4572000"/>
            <a:ext cx="2103120" cy="594360"/>
          </a:xfrm>
          <a:prstGeom prst="roundRect">
            <a:avLst>
              <a:gd name="adj" fmla="val 46154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35440" y="4572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Lisboa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926080" y="4864608"/>
            <a:ext cx="2103120" cy="914"/>
          </a:xfrm>
          <a:prstGeom prst="line">
            <a:avLst/>
          </a:prstGeom>
          <a:noFill/>
          <a:ln w="38100">
            <a:solidFill>
              <a:srgbClr val="155E5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32320" y="4864608"/>
            <a:ext cx="2103120" cy="914"/>
          </a:xfrm>
          <a:prstGeom prst="line">
            <a:avLst/>
          </a:prstGeom>
          <a:noFill/>
          <a:ln w="38100">
            <a:solidFill>
              <a:srgbClr val="155E5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926080" y="4297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é o mais curto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0" y="4297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é o mais curto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troço não fosse o mais curto, trocávamo-lo por outro e a viagem toda ficava mais curta. O princípio verifica-se muito frequentemente (mas há exceções).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do troco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dinâmica em ação.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DO TROCO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Pensar na última moeda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troco de </a:t>
            </a:r>
            <a:pPr indent="0" marL="0">
              <a:buNone/>
            </a:pPr>
            <a:r>
              <a:rPr lang="en-US" sz="17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o menor número de moedas de valores d</a:t>
            </a:r>
            <a:pPr indent="0" marL="0">
              <a:buNone/>
            </a:pPr>
            <a:r>
              <a:rPr lang="en-US" sz="1700" baseline="-4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 d</a:t>
            </a:r>
            <a:pPr indent="0" marL="0">
              <a:buNone/>
            </a:pPr>
            <a:r>
              <a:rPr lang="en-US" sz="1700" baseline="-4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 … &lt; d</a:t>
            </a:r>
            <a:pPr indent="0" marL="0">
              <a:buNone/>
            </a:pPr>
            <a:r>
              <a:rPr lang="en-US" sz="1700" baseline="-4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 d</a:t>
            </a:r>
            <a:pPr indent="0" marL="0">
              <a:buNone/>
            </a:pPr>
            <a:r>
              <a:rPr lang="en-US" sz="1700" baseline="-4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 e moedas ilimitadas).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057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ideia: qual foi a última moeda?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606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montante 5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606040" y="26060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017520" y="2587752"/>
            <a:ext cx="548640" cy="548640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17520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6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2606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32918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291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montante 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606040" y="32918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3017520" y="3273552"/>
            <a:ext cx="548640" cy="548640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017520" y="3273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6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3291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39776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977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montante 2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2606040" y="39776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3017520" y="3959352"/>
            <a:ext cx="548640" cy="548640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017520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60" dirty="0"/>
          </a:p>
        </p:txBody>
      </p:sp>
      <p:sp>
        <p:nvSpPr>
          <p:cNvPr id="26" name="Text 23"/>
          <p:cNvSpPr txBox="1"/>
          <p:nvPr/>
        </p:nvSpPr>
        <p:spPr>
          <a:xfrm>
            <a:off x="3657600" y="39776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46634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 = 6 com moedas 1, 3, 4: três hipóteses para a última moeda.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760720" y="2057400"/>
            <a:ext cx="5852160" cy="3291840"/>
          </a:xfrm>
          <a:prstGeom prst="roundRect">
            <a:avLst>
              <a:gd name="adj" fmla="val 3333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35040" y="2194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= número mínimo de moedas para n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035040" y="27432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 = min { F(n − d</a:t>
            </a:r>
            <a:pPr indent="0" marL="0">
              <a:buNone/>
            </a:pPr>
            <a:r>
              <a:rPr lang="en-US" sz="2800" b="1" baseline="-40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indent="0" marL="0">
              <a:buNone/>
            </a:pPr>
            <a:r>
              <a:rPr lang="en-US" sz="2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} + 1</a:t>
            </a:r>
            <a:endParaRPr lang="en-US" sz="2800" dirty="0"/>
          </a:p>
        </p:txBody>
      </p:sp>
      <p:sp>
        <p:nvSpPr>
          <p:cNvPr id="31" name="Text 28"/>
          <p:cNvSpPr txBox="1"/>
          <p:nvPr/>
        </p:nvSpPr>
        <p:spPr>
          <a:xfrm>
            <a:off x="6035040" y="3383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todas as moedas com d</a:t>
            </a:r>
            <a:pPr indent="0" marL="0">
              <a:buNone/>
            </a:pPr>
            <a:r>
              <a:rPr lang="en-US" sz="1500" i="1" baseline="-40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≤ n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035040" y="3840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F(0) = 0</a:t>
            </a:r>
            <a:endParaRPr lang="en-US" sz="2600" dirty="0"/>
          </a:p>
        </p:txBody>
      </p:sp>
      <p:sp>
        <p:nvSpPr>
          <p:cNvPr id="33" name="Text 30"/>
          <p:cNvSpPr txBox="1"/>
          <p:nvPr/>
        </p:nvSpPr>
        <p:spPr>
          <a:xfrm>
            <a:off x="6035040" y="44805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"+ 1" é a última moeda; o mínimo escolhe a melhor forma de fazer o resto.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Preencher a tabela para n = 6, moedas 1, 3, 4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498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737360"/>
                <a:gridCol w="1737360"/>
                <a:gridCol w="1737360"/>
                <a:gridCol w="15544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moeda 1: F[n−1]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moeda 3: F[n−3]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moeda 4: F[n−4]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F[n] = mín + 1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F[0]=0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8C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8C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F[1]=1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8C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8C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F[2]=2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F[0]=0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8C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F[3]=1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F[1]=1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F[0]=0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F[4]=1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F[2]=2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F[1]=1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F[5]=2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F[3]=1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F[2]=2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41248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final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41248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86968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932688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978408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024128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69848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115568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412480" y="2194560"/>
            <a:ext cx="457200" cy="457200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4124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869680" y="2194560"/>
            <a:ext cx="457200" cy="4572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8696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9326880" y="2194560"/>
            <a:ext cx="457200" cy="4572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3268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9784080" y="2194560"/>
            <a:ext cx="457200" cy="4572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784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10241280" y="2194560"/>
            <a:ext cx="457200" cy="4572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2412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10698480" y="2194560"/>
            <a:ext cx="457200" cy="457200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06984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11155680" y="2194560"/>
            <a:ext cx="457200" cy="457200"/>
          </a:xfrm>
          <a:prstGeom prst="rect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11556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8412480" y="301752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0B3F3C"/>
          </a:solidFill>
          <a:ln w="9525">
            <a:solidFill>
              <a:srgbClr val="0B3F3C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64108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864108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F[6] = 2</a:t>
            </a:r>
            <a:endParaRPr lang="en-US" sz="3400" dirty="0"/>
          </a:p>
        </p:txBody>
      </p:sp>
      <p:sp>
        <p:nvSpPr>
          <p:cNvPr id="33" name="Text 29"/>
          <p:cNvSpPr txBox="1"/>
          <p:nvPr/>
        </p:nvSpPr>
        <p:spPr>
          <a:xfrm>
            <a:off x="8641080" y="43434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bastam 2 moedas para 6 cêntimos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QUAIS SÃO AS MOEDAS?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Seguir o rasto dos mínimos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Voltamos para trás, vendo em cada passo que moeda produziu o mínimo: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31520" y="21945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F[6] = 2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37560" y="2926080"/>
            <a:ext cx="1280160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657600" y="2148840"/>
            <a:ext cx="640080" cy="640080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576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2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3017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− 3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663440" y="21945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66344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3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F[3] = 1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269480" y="2926080"/>
            <a:ext cx="1280160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589520" y="2148840"/>
            <a:ext cx="640080" cy="640080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895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2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3017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− 3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595360" y="21945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9536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0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F[0] = 0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48640" y="411480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ótima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22960" y="4754880"/>
            <a:ext cx="868680" cy="868680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4754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70" dirty="0"/>
          </a:p>
        </p:txBody>
      </p:sp>
      <p:sp>
        <p:nvSpPr>
          <p:cNvPr id="29" name="Shape 26"/>
          <p:cNvSpPr/>
          <p:nvPr/>
        </p:nvSpPr>
        <p:spPr>
          <a:xfrm>
            <a:off x="1828800" y="4754880"/>
            <a:ext cx="868680" cy="868680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828800" y="4754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70" dirty="0"/>
          </a:p>
        </p:txBody>
      </p:sp>
      <p:sp>
        <p:nvSpPr>
          <p:cNvPr id="31" name="Text 28"/>
          <p:cNvSpPr txBox="1"/>
          <p:nvPr/>
        </p:nvSpPr>
        <p:spPr>
          <a:xfrm>
            <a:off x="2926080" y="4846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6 com 2 moedas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6309360" y="411480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83680" y="4251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implementação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6583680" y="46634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numa segunda tabela, para cada n, a moeda que deu o mínimo. No fim, basta seguir essa tabela de n até 0.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ChangeMaking(D[1..m], n)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6675120" cy="3840480"/>
          </a:xfrm>
          <a:prstGeom prst="roundRect">
            <a:avLst>
              <a:gd name="adj" fmla="val 2381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45920"/>
            <a:ext cx="6126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ChangeMaking(D[1..m], 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F[0] ←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← 1 até n: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 ← ∞;  j ←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enquanto j ≤ m e i ≥ D[j]: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 ← min(F[i − D[j]], temp)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← j + 1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F[i] ← temp + 1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devolver F[n]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4864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D[1..m] em ordem crescente, com D[1] = 1.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98080" y="1508760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2057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· m)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montantes × m moedas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98080" y="3840480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0" y="3977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4389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38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5212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F[0..n]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APLICAÇÃO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é consigo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70992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1992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43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em Java a solução de programação dinâmica para a sequência de Fibonacci.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1148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Extra: compare o tempo da recursão direta com o da tabela para n = 40.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97680" y="160020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do troco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545896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15000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71032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0" y="2743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em Java a solução de programação dinâmica para o problema do troco.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0" y="41148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Extra: devolva também quais as moedas usadas. Teste: n = 6, moedas 1, 3, 4 → 3 + 3.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046720" y="160020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321040" y="18288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210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18972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Mini-projeto 1</a:t>
            </a:r>
            <a:endParaRPr lang="en-US" sz="1900" dirty="0"/>
          </a:p>
        </p:txBody>
      </p:sp>
      <p:sp>
        <p:nvSpPr>
          <p:cNvPr id="29" name="Shape 26"/>
          <p:cNvSpPr/>
          <p:nvPr/>
        </p:nvSpPr>
        <p:spPr>
          <a:xfrm>
            <a:off x="920800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464040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720072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21040" y="2743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em Java a solução de programação dinâmica para o problema do mini-projeto 1.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41148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por escrever a recorrência: é o passo crucial.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PARA CASA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ideias a reter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Resolver uma vez, guardar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sobrepostos resolvem-se uma só vez e ficam numa tabela.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08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Bottom-up ou top-down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9319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preenchida do mais pequeno para o maior, ou recursão com memória.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recorrência é tudo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9319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Escreva-a primeiro. No troco: F(n) = min F(n − dⱼ) + 1, em O(n·m).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bruta experimenta tudo; programação dinâmica lembra-se do que já fez.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737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Levitin, A. (2011). </a:t>
            </a:r>
            <a:pPr indent="0" marL="0">
              <a:buNone/>
            </a:pPr>
            <a:r>
              <a:rPr lang="en-US" sz="17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Design and Analysis of Algorithms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(3.ª ed.). Pearson. Capítulo 8: Dynamic Programming.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  ·  </a:t>
            </a:r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– Aula 5: Algoritmos de Programação Dinâmica</dc:title>
  <dc:subject>PptxGenJS Presentation</dc:subject>
  <dc:creator>Luís Simões da Cunha</dc:creator>
  <cp:lastModifiedBy>Luís Simões da Cunha</cp:lastModifiedBy>
  <cp:revision>1</cp:revision>
  <dcterms:created xsi:type="dcterms:W3CDTF">2026-09-25T15:13:06Z</dcterms:created>
  <dcterms:modified xsi:type="dcterms:W3CDTF">2026-09-25T15:13:06Z</dcterms:modified>
</cp:coreProperties>
</file>